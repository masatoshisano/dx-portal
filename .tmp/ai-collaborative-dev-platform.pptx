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8" y="1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3546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046425" y="2206526"/>
            <a:ext cx="505114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200"/>
              </a:spcAft>
              <a:buNone/>
            </a:pPr>
            <a:r>
              <a:rPr lang="en-US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全員にAI秘書がつく開発と働き方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046425" y="2854226"/>
            <a:ext cx="505114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ja-JP" altLang="en-US" sz="15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ソ企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046425" y="3216176"/>
            <a:ext cx="50511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個人の知恵をチームの力に変える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2000" y="4368850"/>
            <a:ext cx="7620000" cy="12650"/>
          </a:xfrm>
          <a:prstGeom prst="rect">
            <a:avLst/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-91440" y="4629150"/>
            <a:ext cx="93268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82F919F6-D528-4EC3-B341-0887577F631E}"/>
              </a:ext>
            </a:extLst>
          </p:cNvPr>
          <p:cNvSpPr/>
          <p:nvPr/>
        </p:nvSpPr>
        <p:spPr>
          <a:xfrm>
            <a:off x="2046425" y="1635026"/>
            <a:ext cx="505114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J.A.R.V.I.S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98302"/>
          </a:xfrm>
          <a:prstGeom prst="rect">
            <a:avLst/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この資料で伝えたいこと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7950" y="952202"/>
            <a:ext cx="1396752" cy="266700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990302"/>
            <a:ext cx="11657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今、困っていること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7950" y="1320403"/>
            <a:ext cx="8128099" cy="477441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31763" y="1320403"/>
            <a:ext cx="0" cy="477441"/>
          </a:xfrm>
          <a:prstGeom prst="line">
            <a:avLst/>
          </a:prstGeom>
          <a:noFill/>
          <a:ln w="47625">
            <a:solidFill>
              <a:srgbClr val="CC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3276" y="1447354"/>
            <a:ext cx="7879574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バイブコーディングはしているが、やり方がバラバラ。ノウハウが共有されず、同じ失敗を繰り返している。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7950" y="1950244"/>
            <a:ext cx="888802" cy="266700"/>
          </a:xfrm>
          <a:prstGeom prst="rect">
            <a:avLst/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34901" y="1988344"/>
            <a:ext cx="6475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こうしたい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7950" y="2318445"/>
            <a:ext cx="8128099" cy="477441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31763" y="2318445"/>
            <a:ext cx="0" cy="477441"/>
          </a:xfrm>
          <a:prstGeom prst="line">
            <a:avLst/>
          </a:prstGeom>
          <a:noFill/>
          <a:ln w="47625">
            <a:solidFill>
              <a:srgbClr val="0033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3276" y="2445395"/>
            <a:ext cx="7879574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1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全員にAI秘書がつき、秘書どうしが知識を共有する。開発だけでなく、組織の働き方も変える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950" y="2948285"/>
            <a:ext cx="1142702" cy="266700"/>
          </a:xfrm>
          <a:prstGeom prst="rect">
            <a:avLst/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4901" y="2986385"/>
            <a:ext cx="9065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何が助かるのか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7950" y="3316486"/>
            <a:ext cx="8128099" cy="1008459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31763" y="3316486"/>
            <a:ext cx="0" cy="1008459"/>
          </a:xfrm>
          <a:prstGeom prst="line">
            <a:avLst/>
          </a:prstGeom>
          <a:noFill/>
          <a:ln w="47625">
            <a:solidFill>
              <a:srgbClr val="0033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3276" y="3443436"/>
            <a:ext cx="7725073" cy="754559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600" indent="-101600" algn="l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誰が使っても一定の品質でアウトプットが出る</a:t>
            </a:r>
            <a:endParaRPr lang="en-US" sz="1100" dirty="0"/>
          </a:p>
          <a:p>
            <a:pPr marL="101600" indent="-101600" algn="l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個人の経験やノウハウがチームに残り、同じ失敗を繰り返さない</a:t>
            </a:r>
            <a:endParaRPr lang="en-US" sz="1100" dirty="0"/>
          </a:p>
          <a:p>
            <a:pPr marL="101600" indent="-101600" algn="l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会議や情報共有のムダが減る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202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今、困っていること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7950" y="888802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52463" y="979289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66651" y="888802"/>
            <a:ext cx="7569398" cy="710952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085701" y="888802"/>
            <a:ext cx="0" cy="710952"/>
          </a:xfrm>
          <a:prstGeom prst="line">
            <a:avLst/>
          </a:prstGeom>
          <a:noFill/>
          <a:ln w="38100">
            <a:solidFill>
              <a:srgbClr val="CC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2452" y="1015752"/>
            <a:ext cx="7319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ツール開発が属人化している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2452" y="1282452"/>
            <a:ext cx="731941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バイブコーディングはしているが、各自が自己流。壁打ちや設計のルールがなく、いきなりコードを書かせる人もいる。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950" y="1726704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2463" y="1817191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66651" y="1726704"/>
            <a:ext cx="7569398" cy="710952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1085701" y="1726704"/>
            <a:ext cx="0" cy="710952"/>
          </a:xfrm>
          <a:prstGeom prst="line">
            <a:avLst/>
          </a:prstGeom>
          <a:noFill/>
          <a:ln w="38100">
            <a:solidFill>
              <a:srgbClr val="CC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2452" y="1853654"/>
            <a:ext cx="7319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人によってアウトプットのレベルに差がある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2452" y="2120354"/>
            <a:ext cx="731941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AIへの指示の出し方や進め方に差があり、同じような機能でも品質がまちまち。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7950" y="2564606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52463" y="2655094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66651" y="2564606"/>
            <a:ext cx="7569398" cy="710952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1085701" y="2564606"/>
            <a:ext cx="0" cy="710952"/>
          </a:xfrm>
          <a:prstGeom prst="line">
            <a:avLst/>
          </a:prstGeom>
          <a:noFill/>
          <a:ln w="38100">
            <a:solidFill>
              <a:srgbClr val="CC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2452" y="2691557"/>
            <a:ext cx="7319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開発ノウハウが共有できていない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2452" y="2958257"/>
            <a:ext cx="731941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「こう指示したらうまくいった」「こうしたら失敗した」が個人の頭の中だけ。他の人は知らない。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7950" y="3402509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52463" y="3492996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66651" y="3402509"/>
            <a:ext cx="7569398" cy="710952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1085701" y="3402509"/>
            <a:ext cx="0" cy="710952"/>
          </a:xfrm>
          <a:prstGeom prst="line">
            <a:avLst/>
          </a:prstGeom>
          <a:noFill/>
          <a:ln w="38100">
            <a:solidFill>
              <a:srgbClr val="CC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82452" y="3529459"/>
            <a:ext cx="7319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GitHubが完成コードの置き場になっている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82452" y="3796159"/>
            <a:ext cx="731941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開発プロセス（Issue・PR・レビュー）には使っていない。コードの変更理由も追えない。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202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このままだと、こうなるリスク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7950" y="888802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52463" y="979289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66651" y="888802"/>
            <a:ext cx="7569398" cy="710952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085701" y="888802"/>
            <a:ext cx="0" cy="710952"/>
          </a:xfrm>
          <a:prstGeom prst="line">
            <a:avLst/>
          </a:prstGeom>
          <a:noFill/>
          <a:ln w="38100">
            <a:solidFill>
              <a:srgbClr val="CC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2452" y="1015752"/>
            <a:ext cx="7319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誰かが失敗したことを、他の人がまた繰り返す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2452" y="1282452"/>
            <a:ext cx="731941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Aさんが3時間ハマった問題に、Bさんも同じようにハマる。失敗の教訓が共有されていない。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950" y="1726704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2463" y="1817191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66651" y="1726704"/>
            <a:ext cx="7569398" cy="710952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1085701" y="1726704"/>
            <a:ext cx="0" cy="710952"/>
          </a:xfrm>
          <a:prstGeom prst="line">
            <a:avLst/>
          </a:prstGeom>
          <a:noFill/>
          <a:ln w="38100">
            <a:solidFill>
              <a:srgbClr val="CC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2452" y="1853654"/>
            <a:ext cx="7319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うまくいくプロンプトも、失敗パターンも共有されない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2452" y="2120354"/>
            <a:ext cx="731941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AIへの良い指示の出し方を見つけても、それを知っているのは本人だけ。チーム全体のレベルが上がらない。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7950" y="2564606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52463" y="2655094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66651" y="2564606"/>
            <a:ext cx="7569398" cy="710952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1085701" y="2564606"/>
            <a:ext cx="0" cy="710952"/>
          </a:xfrm>
          <a:prstGeom prst="line">
            <a:avLst/>
          </a:prstGeom>
          <a:noFill/>
          <a:ln w="38100">
            <a:solidFill>
              <a:srgbClr val="CC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2452" y="2691557"/>
            <a:ext cx="7319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他の人がAIにどう指示しているか、誰も知らない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2452" y="2958257"/>
            <a:ext cx="731941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隣の人がどんなやり方でバイブコーディングしているか見えない。良いやり方を学ぶ機会がない。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7950" y="3402509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52463" y="3492996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66651" y="3402509"/>
            <a:ext cx="7569398" cy="710952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1085701" y="3402509"/>
            <a:ext cx="0" cy="710952"/>
          </a:xfrm>
          <a:prstGeom prst="line">
            <a:avLst/>
          </a:prstGeom>
          <a:noFill/>
          <a:ln w="38100">
            <a:solidFill>
              <a:srgbClr val="CC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82452" y="3529459"/>
            <a:ext cx="7319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「なぜこう作ったか」が残っていない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82452" y="3796159"/>
            <a:ext cx="731941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過去の判断理由が記録されていない。後から見ても「なぜこうなっているか」が分からない。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202"/>
          </a:xfrm>
          <a:prstGeom prst="rect">
            <a:avLst/>
          </a:prstGeom>
          <a:solidFill>
            <a:srgbClr val="0066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解決策：全員にAI秘書がつく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621334" y="964853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E8F0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10333" y="1055340"/>
            <a:ext cx="2846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31318" y="1472803"/>
            <a:ext cx="2418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Aさん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837283" y="1656904"/>
            <a:ext cx="25301" cy="152400"/>
          </a:xfrm>
          <a:prstGeom prst="rect">
            <a:avLst/>
          </a:prstGeom>
          <a:solidFill>
            <a:srgbClr val="0066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659434" y="1860054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0066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760934" y="1983879"/>
            <a:ext cx="1814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秘書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459534" y="964853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EF0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548533" y="1055340"/>
            <a:ext cx="2846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69518" y="1472803"/>
            <a:ext cx="2418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Bさん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675483" y="1656904"/>
            <a:ext cx="25301" cy="152400"/>
          </a:xfrm>
          <a:prstGeom prst="rect">
            <a:avLst/>
          </a:prstGeom>
          <a:solidFill>
            <a:srgbClr val="0066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497634" y="1860054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0066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599134" y="1983879"/>
            <a:ext cx="1814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秘書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297734" y="964853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E8FE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386733" y="1055340"/>
            <a:ext cx="2846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05336" y="1472803"/>
            <a:ext cx="2468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Cさん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513683" y="1656904"/>
            <a:ext cx="25301" cy="152400"/>
          </a:xfrm>
          <a:prstGeom prst="rect">
            <a:avLst/>
          </a:prstGeom>
          <a:solidFill>
            <a:srgbClr val="0066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35834" y="1860054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0066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37334" y="1983879"/>
            <a:ext cx="1814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秘書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135934" y="964853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0E8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224933" y="1055340"/>
            <a:ext cx="2846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243536" y="1472803"/>
            <a:ext cx="2468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Dさん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351883" y="1656904"/>
            <a:ext cx="25301" cy="152400"/>
          </a:xfrm>
          <a:prstGeom prst="rect">
            <a:avLst/>
          </a:prstGeom>
          <a:solidFill>
            <a:srgbClr val="0066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174034" y="1860054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0066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275534" y="1983879"/>
            <a:ext cx="1814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秘書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938933" y="2291804"/>
            <a:ext cx="25301" cy="126950"/>
          </a:xfrm>
          <a:prstGeom prst="rect">
            <a:avLst/>
          </a:prstGeom>
          <a:solidFill>
            <a:srgbClr val="0066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964234" y="2342555"/>
            <a:ext cx="2286000" cy="25301"/>
          </a:xfrm>
          <a:prstGeom prst="rect">
            <a:avLst/>
          </a:prstGeom>
          <a:solidFill>
            <a:srgbClr val="0066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250234" y="2291804"/>
            <a:ext cx="25301" cy="126950"/>
          </a:xfrm>
          <a:prstGeom prst="rect">
            <a:avLst/>
          </a:prstGeom>
          <a:solidFill>
            <a:srgbClr val="0066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161133" y="2444055"/>
            <a:ext cx="193019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006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⇅ 秘書どうしが知識を自動で共有 ⇅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7132" y="2742307"/>
            <a:ext cx="4000351" cy="666601"/>
          </a:xfrm>
          <a:prstGeom prst="roundRect">
            <a:avLst>
              <a:gd name="adj" fmla="val 22862"/>
            </a:avLst>
          </a:prstGeom>
          <a:solidFill>
            <a:srgbClr val="F0F4FF"/>
          </a:solidFill>
          <a:ln w="19050">
            <a:solidFill>
              <a:srgbClr val="00336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293773" y="2888307"/>
            <a:ext cx="36270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チームの共有知識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293773" y="3110508"/>
            <a:ext cx="36270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ルール ・ 失敗事例 ・ ノウハウ ・ レビュー結果 ・ 議事録 ・ 壁打ちログ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117378" y="3485108"/>
            <a:ext cx="20194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7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個人のメモ・途中経過は本人の秘書だけが持つ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036766" y="964853"/>
            <a:ext cx="2726234" cy="717352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6055816" y="964853"/>
            <a:ext cx="0" cy="717352"/>
          </a:xfrm>
          <a:prstGeom prst="line">
            <a:avLst/>
          </a:prstGeom>
          <a:noFill/>
          <a:ln w="38100">
            <a:solidFill>
              <a:srgbClr val="0033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01817" y="1066354"/>
            <a:ext cx="24829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品質が揃う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01817" y="1275904"/>
            <a:ext cx="248291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秘書がチームのルールを知っているから、誰が使っても一定の品質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036766" y="1783705"/>
            <a:ext cx="2726234" cy="564952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6055816" y="1783705"/>
            <a:ext cx="0" cy="564952"/>
          </a:xfrm>
          <a:prstGeom prst="line">
            <a:avLst/>
          </a:prstGeom>
          <a:noFill/>
          <a:ln w="38100">
            <a:solidFill>
              <a:srgbClr val="0033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01817" y="1885206"/>
            <a:ext cx="24829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失敗を繰り返さない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01817" y="2094756"/>
            <a:ext cx="24829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誰かの失敗が全員の秘書に伝わる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036766" y="2450157"/>
            <a:ext cx="2726234" cy="717352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6055816" y="2450157"/>
            <a:ext cx="0" cy="717352"/>
          </a:xfrm>
          <a:prstGeom prst="line">
            <a:avLst/>
          </a:prstGeom>
          <a:noFill/>
          <a:ln w="38100">
            <a:solidFill>
              <a:srgbClr val="00336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01817" y="2551658"/>
            <a:ext cx="24829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やり方が統一される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01817" y="2761208"/>
            <a:ext cx="248291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壁打ち→設計→実装の流れが秘書に組み込まれている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036766" y="3269010"/>
            <a:ext cx="2726234" cy="564952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6055816" y="3269010"/>
            <a:ext cx="0" cy="564952"/>
          </a:xfrm>
          <a:prstGeom prst="line">
            <a:avLst/>
          </a:prstGeom>
          <a:noFill/>
          <a:ln w="38100">
            <a:solidFill>
              <a:srgbClr val="00336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01817" y="3370511"/>
            <a:ext cx="24829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開発以外にも使える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201817" y="3580061"/>
            <a:ext cx="24829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議事録・進捗確認・ナレッジ共有にも秘書が対応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202"/>
          </a:xfrm>
          <a:prstGeom prst="rect">
            <a:avLst/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秘書がいると、開発がこう変わる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37902"/>
            <a:ext cx="3898999" cy="361950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1499" y="914102"/>
            <a:ext cx="3718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今：バラバラの個人戦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1000" y="1199852"/>
            <a:ext cx="3898999" cy="2183755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478905" y="1428304"/>
            <a:ext cx="466130" cy="710803"/>
          </a:xfrm>
          <a:prstGeom prst="roundRect">
            <a:avLst>
              <a:gd name="adj" fmla="val 16347"/>
            </a:avLst>
          </a:prstGeom>
          <a:solidFill>
            <a:srgbClr val="FFFFFF"/>
          </a:solidFill>
          <a:ln w="9525">
            <a:solidFill>
              <a:srgbClr val="CC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589931" y="1514029"/>
            <a:ext cx="24896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99754" y="1777454"/>
            <a:ext cx="224433" cy="136327"/>
          </a:xfrm>
          <a:prstGeom prst="roundRect">
            <a:avLst>
              <a:gd name="adj" fmla="val 37263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675954" y="1802755"/>
            <a:ext cx="7347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1597670" y="1939082"/>
            <a:ext cx="2331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自己流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2097435" y="1428304"/>
            <a:ext cx="466130" cy="710803"/>
          </a:xfrm>
          <a:prstGeom prst="roundRect">
            <a:avLst>
              <a:gd name="adj" fmla="val 16347"/>
            </a:avLst>
          </a:prstGeom>
          <a:solidFill>
            <a:srgbClr val="FFFFFF"/>
          </a:solidFill>
          <a:ln w="9525">
            <a:solidFill>
              <a:srgbClr val="CC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208461" y="1514029"/>
            <a:ext cx="24896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18283" y="1777454"/>
            <a:ext cx="224433" cy="136327"/>
          </a:xfrm>
          <a:prstGeom prst="roundRect">
            <a:avLst>
              <a:gd name="adj" fmla="val 37263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294483" y="1802755"/>
            <a:ext cx="7347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216200" y="1939082"/>
            <a:ext cx="2331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自己流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2715964" y="1428304"/>
            <a:ext cx="466130" cy="710803"/>
          </a:xfrm>
          <a:prstGeom prst="roundRect">
            <a:avLst>
              <a:gd name="adj" fmla="val 16347"/>
            </a:avLst>
          </a:prstGeom>
          <a:solidFill>
            <a:srgbClr val="FFFFFF"/>
          </a:solidFill>
          <a:ln w="9525">
            <a:solidFill>
              <a:srgbClr val="CC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826990" y="1514029"/>
            <a:ext cx="24896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836813" y="1777454"/>
            <a:ext cx="224433" cy="136327"/>
          </a:xfrm>
          <a:prstGeom prst="roundRect">
            <a:avLst>
              <a:gd name="adj" fmla="val 37263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913013" y="1802755"/>
            <a:ext cx="7347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2834729" y="1939082"/>
            <a:ext cx="2331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自己流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584002" y="2291358"/>
            <a:ext cx="3492996" cy="914549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marL="63500" indent="-63500" algn="l">
              <a:lnSpc>
                <a:spcPts val="1440"/>
              </a:lnSpc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各自がAIと1対1</a:t>
            </a:r>
            <a:endParaRPr lang="en-US" sz="800" dirty="0"/>
          </a:p>
          <a:p>
            <a:pPr marL="63500" indent="-63500" algn="l">
              <a:lnSpc>
                <a:spcPts val="1440"/>
              </a:lnSpc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ルールなし、いきなりコード</a:t>
            </a:r>
            <a:endParaRPr lang="en-US" sz="800" dirty="0"/>
          </a:p>
          <a:p>
            <a:pPr marL="63500" indent="-63500" algn="l">
              <a:lnSpc>
                <a:spcPts val="1440"/>
              </a:lnSpc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ノウハウは頭の中だけ</a:t>
            </a:r>
            <a:endParaRPr lang="en-US" sz="800" dirty="0"/>
          </a:p>
          <a:p>
            <a:pPr marL="63500" indent="-63500" algn="l">
              <a:lnSpc>
                <a:spcPts val="1440"/>
              </a:lnSpc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完成したらGitHubに置くだけ</a:t>
            </a:r>
            <a:endParaRPr lang="en-US" sz="800" dirty="0"/>
          </a:p>
          <a:p>
            <a:pPr marL="63500" indent="-63500" algn="l">
              <a:lnSpc>
                <a:spcPts val="1440"/>
              </a:lnSpc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他の人のやり方を知らない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06801" y="1853803"/>
            <a:ext cx="33685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864001" y="837902"/>
            <a:ext cx="3898999" cy="361950"/>
          </a:xfrm>
          <a:prstGeom prst="rect">
            <a:avLst/>
          </a:prstGeom>
          <a:solidFill>
            <a:srgbClr val="0066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54500" y="914102"/>
            <a:ext cx="3718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後：秘書でつながるチーム戦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64001" y="1199852"/>
            <a:ext cx="3898999" cy="2441079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353473" y="1403003"/>
            <a:ext cx="2134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31148" y="1615678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66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394549" y="1695004"/>
            <a:ext cx="1294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秘書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6708874" y="1403003"/>
            <a:ext cx="2134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86550" y="1615678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66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749951" y="1695004"/>
            <a:ext cx="1294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秘書</a:t>
            </a:r>
            <a:endParaRPr lang="en-US" sz="500" dirty="0"/>
          </a:p>
        </p:txBody>
      </p:sp>
      <p:sp>
        <p:nvSpPr>
          <p:cNvPr id="33" name="Text 31"/>
          <p:cNvSpPr/>
          <p:nvPr/>
        </p:nvSpPr>
        <p:spPr>
          <a:xfrm>
            <a:off x="7064276" y="1403003"/>
            <a:ext cx="2134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041952" y="1615678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66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105352" y="1695004"/>
            <a:ext cx="1294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秘書</a:t>
            </a:r>
            <a:endParaRPr lang="en-US" sz="500" dirty="0"/>
          </a:p>
        </p:txBody>
      </p:sp>
      <p:sp>
        <p:nvSpPr>
          <p:cNvPr id="36" name="Text 34"/>
          <p:cNvSpPr/>
          <p:nvPr/>
        </p:nvSpPr>
        <p:spPr>
          <a:xfrm>
            <a:off x="5242768" y="1894880"/>
            <a:ext cx="3141464" cy="25301"/>
          </a:xfrm>
          <a:prstGeom prst="rect">
            <a:avLst/>
          </a:prstGeom>
          <a:solidFill>
            <a:srgbClr val="0066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041702" y="1970931"/>
            <a:ext cx="3543598" cy="450800"/>
          </a:xfrm>
          <a:prstGeom prst="roundRect">
            <a:avLst>
              <a:gd name="adj" fmla="val 22538"/>
            </a:avLst>
          </a:prstGeom>
          <a:solidFill>
            <a:srgbClr val="F0F4FF"/>
          </a:solidFill>
          <a:ln w="19050">
            <a:solidFill>
              <a:srgbClr val="00336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129227" y="2066181"/>
            <a:ext cx="33685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共有知識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129227" y="2212181"/>
            <a:ext cx="336854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ルール・失敗事例・ノウハウ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5067002" y="2548682"/>
            <a:ext cx="3492996" cy="914549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marL="63500" indent="-63500" algn="l">
              <a:lnSpc>
                <a:spcPts val="1440"/>
              </a:lnSpc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秘書がルールを知っている</a:t>
            </a:r>
            <a:endParaRPr lang="en-US" sz="800" dirty="0"/>
          </a:p>
          <a:p>
            <a:pPr marL="63500" indent="-63500" algn="l">
              <a:lnSpc>
                <a:spcPts val="1440"/>
              </a:lnSpc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壁打ち→設計→実装の流れ</a:t>
            </a:r>
            <a:endParaRPr lang="en-US" sz="800" dirty="0"/>
          </a:p>
          <a:p>
            <a:pPr marL="63500" indent="-63500" algn="l">
              <a:lnSpc>
                <a:spcPts val="1440"/>
              </a:lnSpc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ノウハウが秘書を通じて共有</a:t>
            </a:r>
            <a:endParaRPr lang="en-US" sz="800" dirty="0"/>
          </a:p>
          <a:p>
            <a:pPr marL="63500" indent="-63500" algn="l">
              <a:lnSpc>
                <a:spcPts val="1440"/>
              </a:lnSpc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GitHubでIssue・PR・レビュー</a:t>
            </a:r>
            <a:endParaRPr lang="en-US" sz="800" dirty="0"/>
          </a:p>
          <a:p>
            <a:pPr marL="63500" indent="-63500" algn="l">
              <a:lnSpc>
                <a:spcPts val="1440"/>
              </a:lnSpc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失敗を全員の秘書が覚えている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41152"/>
          </a:xfrm>
          <a:prstGeom prst="rect">
            <a:avLst/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これを実現するために、23のことをやる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06301" y="768102"/>
            <a:ext cx="4102150" cy="253901"/>
          </a:xfrm>
          <a:prstGeom prst="rect">
            <a:avLst/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802" y="818852"/>
            <a:ext cx="39771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開発の流れをつくる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06301" y="1072753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0268" y="1125141"/>
            <a:ext cx="4326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660202" y="1072753"/>
            <a:ext cx="39252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「こうしたい」をIssueに書く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06301" y="1301353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0268" y="1353741"/>
            <a:ext cx="4326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660202" y="1301353"/>
            <a:ext cx="39252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秘書と壁打ちしてIssueの中身を詰める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06301" y="1529953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0268" y="1582341"/>
            <a:ext cx="4326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660202" y="1529953"/>
            <a:ext cx="39252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秘書が設計書を自動で作る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06301" y="1758553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0268" y="1810941"/>
            <a:ext cx="4326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660202" y="1758553"/>
            <a:ext cx="39252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秘書がテストとコードを自動で書く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06301" y="1987153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0268" y="2039541"/>
            <a:ext cx="4326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660202" y="1987153"/>
            <a:ext cx="39252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秘書がPR（変更提案）を自動で出す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06301" y="2215753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0268" y="2268141"/>
            <a:ext cx="4326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660202" y="2215753"/>
            <a:ext cx="39252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チームで見て、採用するか決める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06301" y="2469654"/>
            <a:ext cx="4102150" cy="253901"/>
          </a:xfrm>
          <a:prstGeom prst="rect">
            <a:avLst/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07802" y="2520404"/>
            <a:ext cx="39771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チームの土台をつくる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06301" y="2774305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0268" y="2826693"/>
            <a:ext cx="4326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660202" y="2774305"/>
            <a:ext cx="39252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タスク管理アプリとIssueを連動させる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06301" y="3002905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0268" y="3055293"/>
            <a:ext cx="4326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660202" y="3002905"/>
            <a:ext cx="39252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メンバー全員にAI秘書をつける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06301" y="3231505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0268" y="3283893"/>
            <a:ext cx="4326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660202" y="3231505"/>
            <a:ext cx="39252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チーム共通のルール（CLAUDE.md）を共有する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06301" y="3460105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59135" y="3512493"/>
            <a:ext cx="865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660202" y="3460105"/>
            <a:ext cx="39252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秘書どうしで知識を共有する（3層構造）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635401" y="831503"/>
            <a:ext cx="4102298" cy="253901"/>
          </a:xfrm>
          <a:prstGeom prst="rect">
            <a:avLst/>
          </a:prstGeom>
          <a:solidFill>
            <a:srgbClr val="0066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736902" y="882253"/>
            <a:ext cx="39772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秘書が自分から動く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635401" y="1136154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0066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691063" y="1188541"/>
            <a:ext cx="807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4889302" y="1136154"/>
            <a:ext cx="39253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毎朝秘書が「こうしたらどう？」と提案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635401" y="1364754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0066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688235" y="1417141"/>
            <a:ext cx="865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4889302" y="1364754"/>
            <a:ext cx="39253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秘書に話しかけるだけで全部始まる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635401" y="1593354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0066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688235" y="1645741"/>
            <a:ext cx="865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4889302" y="1593354"/>
            <a:ext cx="39253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ラベルを1つ貼るだけで自動修正+PR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635401" y="1821954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0066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4688235" y="1874341"/>
            <a:ext cx="865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4889302" y="1821954"/>
            <a:ext cx="39253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危険な操作は自動でブロック（安全装置）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635401" y="2075855"/>
            <a:ext cx="4102298" cy="253901"/>
          </a:xfrm>
          <a:prstGeom prst="rect">
            <a:avLst/>
          </a:prstGeom>
          <a:solidFill>
            <a:srgbClr val="0066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736902" y="2126605"/>
            <a:ext cx="39772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経験を次に活かす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635401" y="2380506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0066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688235" y="2432893"/>
            <a:ext cx="865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4889302" y="2380506"/>
            <a:ext cx="39253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レビュー結果を秘書に覚えさせる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635401" y="2609106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0066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4688235" y="2661493"/>
            <a:ext cx="865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4889302" y="2609106"/>
            <a:ext cx="39253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過去の壁打ち内容を自動で参照する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635401" y="2837706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0066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4688235" y="2890093"/>
            <a:ext cx="865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4889302" y="2837706"/>
            <a:ext cx="39253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失敗事例をチームで共有する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4635401" y="3066306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0066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4688235" y="3118693"/>
            <a:ext cx="865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4889302" y="3066306"/>
            <a:ext cx="39253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テックブログで開発ノウハウを共有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4635401" y="3320207"/>
            <a:ext cx="4102298" cy="253901"/>
          </a:xfrm>
          <a:prstGeom prst="rect">
            <a:avLst/>
          </a:prstGeom>
          <a:solidFill>
            <a:srgbClr val="CC66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4736902" y="3370957"/>
            <a:ext cx="39772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組織の働き方を変える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635401" y="3624858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CC66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4688235" y="3677245"/>
            <a:ext cx="865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4889302" y="3624858"/>
            <a:ext cx="39253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会議の議事録を自動で記録・共有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4635401" y="3853458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CC66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4688235" y="3905845"/>
            <a:ext cx="865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4889302" y="3853458"/>
            <a:ext cx="39253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決定事項をタスクに自動反映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4635401" y="4082058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CC66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4688235" y="4134445"/>
            <a:ext cx="865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600" dirty="0"/>
          </a:p>
        </p:txBody>
      </p:sp>
      <p:sp>
        <p:nvSpPr>
          <p:cNvPr id="76" name="Text 74"/>
          <p:cNvSpPr/>
          <p:nvPr/>
        </p:nvSpPr>
        <p:spPr>
          <a:xfrm>
            <a:off x="4889302" y="4082058"/>
            <a:ext cx="39253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秘書に聞けば進捗・経緯がすぐ分かる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4635401" y="4310658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CC66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4688235" y="4363045"/>
            <a:ext cx="865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4889302" y="4310658"/>
            <a:ext cx="39253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新メンバーの秘書が自動でキャッチアップ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4635401" y="4539258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CC66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4688235" y="4591645"/>
            <a:ext cx="865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600" dirty="0"/>
          </a:p>
        </p:txBody>
      </p:sp>
      <p:sp>
        <p:nvSpPr>
          <p:cNvPr id="82" name="Text 80"/>
          <p:cNvSpPr/>
          <p:nvPr/>
        </p:nvSpPr>
        <p:spPr>
          <a:xfrm>
            <a:off x="4889302" y="4539258"/>
            <a:ext cx="39253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課内ナレッジの蓄積・検索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41152"/>
          </a:xfrm>
          <a:prstGeom prst="rect">
            <a:avLst/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秘書の知識は3層で管理する ー 共有するもの、しないもの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7950" y="818852"/>
            <a:ext cx="1650802" cy="945059"/>
          </a:xfrm>
          <a:prstGeom prst="rect">
            <a:avLst/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351" y="1116806"/>
            <a:ext cx="7770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チーム共有層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33301" y="1332607"/>
            <a:ext cx="8159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全秘書が自動で同期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158752" y="818852"/>
            <a:ext cx="6477298" cy="945059"/>
          </a:xfrm>
          <a:prstGeom prst="rect">
            <a:avLst/>
          </a:prstGeom>
          <a:solidFill>
            <a:srgbClr val="F0F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177802" y="818852"/>
            <a:ext cx="0" cy="945059"/>
          </a:xfrm>
          <a:prstGeom prst="line">
            <a:avLst/>
          </a:prstGeom>
          <a:noFill/>
          <a:ln w="38100">
            <a:solidFill>
              <a:srgbClr val="0033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4553" y="945803"/>
            <a:ext cx="6083796" cy="691158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360"/>
              </a:lnSpc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チームルール（壁打ち→設計→実装の流れ）</a:t>
            </a:r>
            <a:endParaRPr lang="en-US" sz="800" dirty="0"/>
          </a:p>
          <a:p>
            <a:pPr marL="76200" indent="-76200" algn="l">
              <a:lnSpc>
                <a:spcPts val="1360"/>
              </a:lnSpc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レビュー結果・うまくいったやり方の蓄積</a:t>
            </a:r>
            <a:endParaRPr lang="en-US" sz="800" dirty="0"/>
          </a:p>
          <a:p>
            <a:pPr marL="76200" indent="-76200" algn="l">
              <a:lnSpc>
                <a:spcPts val="1360"/>
              </a:lnSpc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AI失敗事例 / テックブログ / 開発状況</a:t>
            </a:r>
            <a:endParaRPr lang="en-US" sz="800" dirty="0"/>
          </a:p>
          <a:p>
            <a:pPr marL="76200" indent="-76200" algn="l">
              <a:lnSpc>
                <a:spcPts val="1360"/>
              </a:lnSpc>
              <a:buSzPct val="100000"/>
              <a:buChar char="•"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会議の議事録</a:t>
            </a: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（決定事項・背景・アクション）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68266" y="1865412"/>
            <a:ext cx="26594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06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秘書が「これ共有しませんか？」と提案 ▲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7950" y="2157413"/>
            <a:ext cx="1650802" cy="952202"/>
          </a:xfrm>
          <a:prstGeom prst="rect">
            <a:avLst/>
          </a:prstGeom>
          <a:solidFill>
            <a:srgbClr val="0066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5401" y="2458938"/>
            <a:ext cx="10360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匿名化ナレッジ層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77801" y="2674739"/>
            <a:ext cx="7251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誰かは伏せて共有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158752" y="2157413"/>
            <a:ext cx="6477298" cy="952202"/>
          </a:xfrm>
          <a:prstGeom prst="rect">
            <a:avLst/>
          </a:prstGeom>
          <a:solidFill>
            <a:srgbClr val="F0FF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177802" y="2157413"/>
            <a:ext cx="0" cy="952202"/>
          </a:xfrm>
          <a:prstGeom prst="line">
            <a:avLst/>
          </a:prstGeom>
          <a:noFill/>
          <a:ln w="38100">
            <a:solidFill>
              <a:srgbClr val="0066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4553" y="2284363"/>
            <a:ext cx="62054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個人の経験から「誰が」を消して、教訓だけを共有する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374553" y="2487513"/>
            <a:ext cx="62054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例: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374553" y="2665214"/>
            <a:ext cx="62054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Aさん:「DBのタイムアウトで3時間ハマった」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374553" y="2830264"/>
            <a:ext cx="62054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006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共有されるのは「DBタイムアウト設定に注意」だけ。Aさんの名前は出ない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31815" y="3211116"/>
            <a:ext cx="25299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本人が「共有して」と言った場合のみ ▲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7950" y="3503116"/>
            <a:ext cx="1650802" cy="1129159"/>
          </a:xfrm>
          <a:prstGeom prst="rect">
            <a:avLst/>
          </a:prstGeom>
          <a:solidFill>
            <a:srgbClr val="6666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42851" y="3893046"/>
            <a:ext cx="3886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個人層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77801" y="4108847"/>
            <a:ext cx="7251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その人の秘書だけ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158752" y="3503116"/>
            <a:ext cx="6477298" cy="1129159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2177802" y="3503116"/>
            <a:ext cx="0" cy="1129159"/>
          </a:xfrm>
          <a:prstGeom prst="line">
            <a:avLst/>
          </a:prstGeom>
          <a:noFill/>
          <a:ln w="38100">
            <a:solidFill>
              <a:srgbClr val="6666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74553" y="3630067"/>
            <a:ext cx="6083796" cy="691158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360"/>
              </a:lnSpc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個人のメモ・思考の下書き</a:t>
            </a:r>
            <a:endParaRPr lang="en-US" sz="800" dirty="0"/>
          </a:p>
          <a:p>
            <a:pPr marL="76200" indent="-76200" algn="l">
              <a:lnSpc>
                <a:spcPts val="1360"/>
              </a:lnSpc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作業の途中経過</a:t>
            </a:r>
            <a:endParaRPr lang="en-US" sz="800" dirty="0"/>
          </a:p>
          <a:p>
            <a:pPr marL="76200" indent="-76200" algn="l">
              <a:lnSpc>
                <a:spcPts val="1360"/>
              </a:lnSpc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個人の好みや作業スタイル</a:t>
            </a:r>
            <a:endParaRPr lang="en-US" sz="800" dirty="0"/>
          </a:p>
          <a:p>
            <a:pPr marL="76200" indent="-76200" algn="l">
              <a:lnSpc>
                <a:spcPts val="1360"/>
              </a:lnSpc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まだ共有したくないアイデア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374553" y="4371975"/>
            <a:ext cx="62054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本人が許可しない限り、他の秘書には一切見えない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0198" y="1181249"/>
            <a:ext cx="7403604" cy="1993553"/>
          </a:xfrm>
          <a:prstGeom prst="roundRect">
            <a:avLst>
              <a:gd name="adj" fmla="val 10193"/>
            </a:avLst>
          </a:prstGeom>
          <a:noFill/>
          <a:ln w="19050">
            <a:solidFill>
              <a:srgbClr val="00663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94048" y="1403449"/>
            <a:ext cx="2819400" cy="1549152"/>
          </a:xfrm>
          <a:prstGeom prst="roundRect">
            <a:avLst>
              <a:gd name="adj" fmla="val 8198"/>
            </a:avLst>
          </a:prstGeom>
          <a:solidFill>
            <a:srgbClr val="F0F4FF"/>
          </a:solidFill>
          <a:ln w="38100">
            <a:solidFill>
              <a:srgbClr val="00336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437888" y="1695450"/>
            <a:ext cx="23317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37888" y="1962150"/>
            <a:ext cx="23317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👨‍💻 ↔ 🤖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37888" y="2355800"/>
            <a:ext cx="2331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壁打ち・設計・実装</a:t>
            </a:r>
            <a:endParaRPr lang="en-US" sz="8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レビュー・ノウハウ共有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419600" y="1900238"/>
            <a:ext cx="3108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6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267349" y="2303413"/>
            <a:ext cx="6214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6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同じ仕組みで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130552" y="1403449"/>
            <a:ext cx="2819400" cy="1549152"/>
          </a:xfrm>
          <a:prstGeom prst="roundRect">
            <a:avLst>
              <a:gd name="adj" fmla="val 8198"/>
            </a:avLst>
          </a:prstGeom>
          <a:solidFill>
            <a:srgbClr val="FFF8F0"/>
          </a:solidFill>
          <a:ln w="38100">
            <a:solidFill>
              <a:srgbClr val="CC66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74392" y="1695450"/>
            <a:ext cx="23317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CC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組織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74392" y="1962150"/>
            <a:ext cx="23317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↔ 🤖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74392" y="2355800"/>
            <a:ext cx="2331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議事録・進捗確認</a:t>
            </a:r>
            <a:endParaRPr lang="en-US" sz="8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ナレッジ共有・引き継ぎ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24455" y="3428702"/>
            <a:ext cx="48949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秘書が知識をつなぐ仕組みは、開発以外にもそのまま使える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24455" y="3771602"/>
            <a:ext cx="48949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ここからは、組織での活用について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202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組織でも、同じような困りごとがある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7950" y="86335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3235" y="955328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1202" y="863352"/>
            <a:ext cx="7594848" cy="634901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060252" y="863352"/>
            <a:ext cx="0" cy="634901"/>
          </a:xfrm>
          <a:prstGeom prst="line">
            <a:avLst/>
          </a:prstGeom>
          <a:noFill/>
          <a:ln w="38100">
            <a:solidFill>
              <a:srgbClr val="CC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57002" y="977652"/>
            <a:ext cx="73453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会議に全員参加するのがムダ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57002" y="1212503"/>
            <a:ext cx="73453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自分に関係ない議題のために1時間拘束される。でも出ないと情報が入らない。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950" y="161255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3235" y="1704529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41202" y="1612553"/>
            <a:ext cx="7594848" cy="634901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1060252" y="1612553"/>
            <a:ext cx="0" cy="634901"/>
          </a:xfrm>
          <a:prstGeom prst="line">
            <a:avLst/>
          </a:prstGeom>
          <a:noFill/>
          <a:ln w="38100">
            <a:solidFill>
              <a:srgbClr val="CC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57002" y="1726853"/>
            <a:ext cx="73453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会議で決めたことが流れる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57002" y="1961704"/>
            <a:ext cx="73453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決定事項が議事録に埋もれて、実行されないまま次の会議を迎える。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7950" y="2361754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3235" y="2453729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41202" y="2361754"/>
            <a:ext cx="7594848" cy="634901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1060252" y="2361754"/>
            <a:ext cx="0" cy="634901"/>
          </a:xfrm>
          <a:prstGeom prst="line">
            <a:avLst/>
          </a:prstGeom>
          <a:noFill/>
          <a:ln w="38100">
            <a:solidFill>
              <a:srgbClr val="CC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57002" y="2476054"/>
            <a:ext cx="73453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「あれどうなった？」の確認に時間がかかる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57002" y="2710904"/>
            <a:ext cx="73453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進捗や経緯を知りたいとき、毎回誰かに聞かないといけない。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7950" y="3110954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3235" y="3202930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41202" y="3110954"/>
            <a:ext cx="7594848" cy="634901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1060252" y="3110954"/>
            <a:ext cx="0" cy="634901"/>
          </a:xfrm>
          <a:prstGeom prst="line">
            <a:avLst/>
          </a:prstGeom>
          <a:noFill/>
          <a:ln w="38100">
            <a:solidFill>
              <a:srgbClr val="CC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57002" y="3225254"/>
            <a:ext cx="73453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新しい人に背景を説明する余裕がない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57002" y="3460105"/>
            <a:ext cx="73453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経緯が頭の中にしかないので、引き継ぎや説明が大変。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7950" y="386015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43235" y="3952131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41202" y="3860155"/>
            <a:ext cx="7594848" cy="634901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1060252" y="3860155"/>
            <a:ext cx="0" cy="634901"/>
          </a:xfrm>
          <a:prstGeom prst="line">
            <a:avLst/>
          </a:prstGeom>
          <a:noFill/>
          <a:ln w="38100">
            <a:solidFill>
              <a:srgbClr val="CC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57002" y="3974455"/>
            <a:ext cx="73453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同じ質問を何度もされる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257002" y="4209306"/>
            <a:ext cx="73453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一度答えたことが記録に残らず、別の人からまた同じ質問が来る。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202"/>
          </a:xfrm>
          <a:prstGeom prst="rect">
            <a:avLst/>
          </a:prstGeom>
          <a:solidFill>
            <a:srgbClr val="0066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秘書がいると、組織の働き方もこう変わる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7950" y="837902"/>
            <a:ext cx="4000500" cy="768251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27000" y="837902"/>
            <a:ext cx="0" cy="768251"/>
          </a:xfrm>
          <a:prstGeom prst="line">
            <a:avLst/>
          </a:prstGeom>
          <a:noFill/>
          <a:ln w="38100">
            <a:solidFill>
              <a:srgbClr val="CC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8450" y="964853"/>
            <a:ext cx="37307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会議に全員参加がムダ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35401" y="837902"/>
            <a:ext cx="4000649" cy="768251"/>
          </a:xfrm>
          <a:prstGeom prst="rect">
            <a:avLst/>
          </a:prstGeom>
          <a:solidFill>
            <a:srgbClr val="F0FF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654451" y="837902"/>
            <a:ext cx="0" cy="768251"/>
          </a:xfrm>
          <a:prstGeom prst="line">
            <a:avLst/>
          </a:prstGeom>
          <a:noFill/>
          <a:ln w="38100">
            <a:solidFill>
              <a:srgbClr val="0066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5901" y="964853"/>
            <a:ext cx="37309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6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秘書が議事録を残す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25901" y="1174403"/>
            <a:ext cx="373090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関係ない人は出なくていい。秘書が「あなたに関係ある決定はこれ」と教えてくれる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7950" y="1707654"/>
            <a:ext cx="4000500" cy="615851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27000" y="1707654"/>
            <a:ext cx="0" cy="615851"/>
          </a:xfrm>
          <a:prstGeom prst="line">
            <a:avLst/>
          </a:prstGeom>
          <a:noFill/>
          <a:ln w="38100">
            <a:solidFill>
              <a:srgbClr val="CC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8450" y="1834604"/>
            <a:ext cx="37307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決めたことが流れる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35401" y="1707654"/>
            <a:ext cx="4000649" cy="615851"/>
          </a:xfrm>
          <a:prstGeom prst="rect">
            <a:avLst/>
          </a:prstGeom>
          <a:solidFill>
            <a:srgbClr val="F0FF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54451" y="1707654"/>
            <a:ext cx="0" cy="615851"/>
          </a:xfrm>
          <a:prstGeom prst="line">
            <a:avLst/>
          </a:prstGeom>
          <a:noFill/>
          <a:ln w="38100">
            <a:solidFill>
              <a:srgbClr val="0066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5901" y="1834604"/>
            <a:ext cx="37309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6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秘書が決定事項をタスクに自動反映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25901" y="2044154"/>
            <a:ext cx="37309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「誰が」「いつまでに」「何をする」を自動でIssueやタスクに変換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7950" y="2425005"/>
            <a:ext cx="4000500" cy="615851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27000" y="2425005"/>
            <a:ext cx="0" cy="615851"/>
          </a:xfrm>
          <a:prstGeom prst="line">
            <a:avLst/>
          </a:prstGeom>
          <a:noFill/>
          <a:ln w="38100">
            <a:solidFill>
              <a:srgbClr val="CC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8450" y="2551956"/>
            <a:ext cx="37307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「あれどうなった？」が手間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35401" y="2425005"/>
            <a:ext cx="4000649" cy="615851"/>
          </a:xfrm>
          <a:prstGeom prst="rect">
            <a:avLst/>
          </a:prstGeom>
          <a:solidFill>
            <a:srgbClr val="F0FF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654451" y="2425005"/>
            <a:ext cx="0" cy="615851"/>
          </a:xfrm>
          <a:prstGeom prst="line">
            <a:avLst/>
          </a:prstGeom>
          <a:noFill/>
          <a:ln w="38100">
            <a:solidFill>
              <a:srgbClr val="0066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5901" y="2551956"/>
            <a:ext cx="37309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6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秘書に聞けばすぐ分かる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25901" y="2761506"/>
            <a:ext cx="37309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進捗・経緯・決定の背景を、秘書がまとめて教えてくれる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7950" y="3142357"/>
            <a:ext cx="4000500" cy="615851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27000" y="3142357"/>
            <a:ext cx="0" cy="615851"/>
          </a:xfrm>
          <a:prstGeom prst="line">
            <a:avLst/>
          </a:prstGeom>
          <a:noFill/>
          <a:ln w="38100">
            <a:solidFill>
              <a:srgbClr val="CC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8450" y="3269307"/>
            <a:ext cx="37307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新メンバーへの説明が大変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35401" y="3142357"/>
            <a:ext cx="4000649" cy="615851"/>
          </a:xfrm>
          <a:prstGeom prst="rect">
            <a:avLst/>
          </a:prstGeom>
          <a:solidFill>
            <a:srgbClr val="F0FF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654451" y="3142357"/>
            <a:ext cx="0" cy="615851"/>
          </a:xfrm>
          <a:prstGeom prst="line">
            <a:avLst/>
          </a:prstGeom>
          <a:noFill/>
          <a:ln w="38100">
            <a:solidFill>
              <a:srgbClr val="0066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5901" y="3269307"/>
            <a:ext cx="37309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6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新メンバーの秘書が自動でキャッチアップ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25901" y="3478857"/>
            <a:ext cx="37309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過去の経緯や決定事項を、秘書が本人に合わせて説明してくれる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7950" y="3859709"/>
            <a:ext cx="4000500" cy="615851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527000" y="3859709"/>
            <a:ext cx="0" cy="615851"/>
          </a:xfrm>
          <a:prstGeom prst="line">
            <a:avLst/>
          </a:prstGeom>
          <a:noFill/>
          <a:ln w="38100">
            <a:solidFill>
              <a:srgbClr val="CC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8450" y="3986659"/>
            <a:ext cx="37307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同じ質問を何度もされる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35401" y="3859709"/>
            <a:ext cx="4000649" cy="615851"/>
          </a:xfrm>
          <a:prstGeom prst="rect">
            <a:avLst/>
          </a:prstGeom>
          <a:solidFill>
            <a:srgbClr val="F0FF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4654451" y="3859709"/>
            <a:ext cx="0" cy="615851"/>
          </a:xfrm>
          <a:prstGeom prst="line">
            <a:avLst/>
          </a:prstGeom>
          <a:noFill/>
          <a:ln w="38100">
            <a:solidFill>
              <a:srgbClr val="0066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5901" y="3986659"/>
            <a:ext cx="37309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6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秘書が課内のナレッジを蓄積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25901" y="4196209"/>
            <a:ext cx="37309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一度答えた内容が秘書の知識になり、次からは秘書が代わりに答える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202"/>
          </a:xfrm>
          <a:prstGeom prst="rect">
            <a:avLst/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ステップを踏んで、少しずつ進める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7950" y="812602"/>
            <a:ext cx="1320552" cy="785664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77652" y="1060996"/>
            <a:ext cx="3887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01601" y="1216521"/>
            <a:ext cx="5439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土台をつくる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828502" y="812602"/>
            <a:ext cx="6807547" cy="785664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847552" y="812602"/>
            <a:ext cx="0" cy="785664"/>
          </a:xfrm>
          <a:prstGeom prst="line">
            <a:avLst/>
          </a:prstGeom>
          <a:noFill/>
          <a:ln w="38100">
            <a:solidFill>
              <a:srgbClr val="CC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44303" y="914102"/>
            <a:ext cx="6414046" cy="58266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530"/>
              </a:lnSpc>
              <a:buSzPct val="100000"/>
              <a:buChar char="•"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GitHubを開発プロセスに使い始める</a:t>
            </a: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（Issue・PR・レビュー）</a:t>
            </a:r>
            <a:endParaRPr lang="en-US" sz="900" dirty="0"/>
          </a:p>
          <a:p>
            <a:pPr marL="88900" indent="-88900" algn="l">
              <a:lnSpc>
                <a:spcPts val="153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チーム共通のAI設定ファイル（CLAUDE.md）を用意する</a:t>
            </a:r>
            <a:endParaRPr lang="en-US" sz="900" dirty="0"/>
          </a:p>
          <a:p>
            <a:pPr marL="88900" indent="-88900" algn="l">
              <a:lnSpc>
                <a:spcPts val="153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各メンバーにAI秘書をセットアップする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950" y="1687116"/>
            <a:ext cx="1320552" cy="785664"/>
          </a:xfrm>
          <a:prstGeom prst="rect">
            <a:avLst/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77652" y="1935510"/>
            <a:ext cx="3887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01601" y="2091035"/>
            <a:ext cx="5439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開発を変える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828502" y="1687116"/>
            <a:ext cx="6807547" cy="785664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1847552" y="1687116"/>
            <a:ext cx="0" cy="785664"/>
          </a:xfrm>
          <a:prstGeom prst="line">
            <a:avLst/>
          </a:prstGeom>
          <a:noFill/>
          <a:ln w="38100">
            <a:solidFill>
              <a:srgbClr val="0033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44303" y="1788616"/>
            <a:ext cx="6414046" cy="58266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53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壁打ち→設計→実装の流れを秘書に組み込む</a:t>
            </a:r>
            <a:endParaRPr lang="en-US" sz="900" dirty="0"/>
          </a:p>
          <a:p>
            <a:pPr marL="88900" indent="-88900" algn="l">
              <a:lnSpc>
                <a:spcPts val="153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失敗事例・ノウハウの共有を始める</a:t>
            </a:r>
            <a:endParaRPr lang="en-US" sz="900" dirty="0"/>
          </a:p>
          <a:p>
            <a:pPr marL="88900" indent="-88900" algn="l">
              <a:lnSpc>
                <a:spcPts val="153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テックブログを開設する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7950" y="2561630"/>
            <a:ext cx="1320552" cy="785664"/>
          </a:xfrm>
          <a:prstGeom prst="rect">
            <a:avLst/>
          </a:prstGeom>
          <a:solidFill>
            <a:srgbClr val="004D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77652" y="2810024"/>
            <a:ext cx="3887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7101" y="2965549"/>
            <a:ext cx="6345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知識をつなげる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828502" y="2561630"/>
            <a:ext cx="6807547" cy="785664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1847552" y="2561630"/>
            <a:ext cx="0" cy="785664"/>
          </a:xfrm>
          <a:prstGeom prst="line">
            <a:avLst/>
          </a:prstGeom>
          <a:noFill/>
          <a:ln w="38100">
            <a:solidFill>
              <a:srgbClr val="0033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44303" y="2663130"/>
            <a:ext cx="6414046" cy="58266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53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秘書どうしの知識共有を本格化（3層構造）</a:t>
            </a:r>
            <a:endParaRPr lang="en-US" sz="900" dirty="0"/>
          </a:p>
          <a:p>
            <a:pPr marL="88900" indent="-88900" algn="l">
              <a:lnSpc>
                <a:spcPts val="153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レビュー結果・壁打ちログの自動蓄積</a:t>
            </a:r>
            <a:endParaRPr lang="en-US" sz="900" dirty="0"/>
          </a:p>
          <a:p>
            <a:pPr marL="88900" indent="-88900" algn="l">
              <a:lnSpc>
                <a:spcPts val="153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タスク管理アプリとの連動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7950" y="3436144"/>
            <a:ext cx="1320552" cy="785664"/>
          </a:xfrm>
          <a:prstGeom prst="rect">
            <a:avLst/>
          </a:prstGeom>
          <a:solidFill>
            <a:srgbClr val="0066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77652" y="3684538"/>
            <a:ext cx="3887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01601" y="3840063"/>
            <a:ext cx="5439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組織に広げる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828502" y="3436144"/>
            <a:ext cx="6807547" cy="785664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1847552" y="3436144"/>
            <a:ext cx="0" cy="785664"/>
          </a:xfrm>
          <a:prstGeom prst="line">
            <a:avLst/>
          </a:prstGeom>
          <a:noFill/>
          <a:ln w="38100">
            <a:solidFill>
              <a:srgbClr val="0066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44303" y="3537645"/>
            <a:ext cx="6414046" cy="58266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53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会議の議事録自動化・決定事項のタスク反映</a:t>
            </a:r>
            <a:endParaRPr lang="en-US" sz="900" dirty="0"/>
          </a:p>
          <a:p>
            <a:pPr marL="88900" indent="-88900" algn="l">
              <a:lnSpc>
                <a:spcPts val="153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課内ナレッジの蓄積と検索</a:t>
            </a:r>
            <a:endParaRPr lang="en-US" sz="900" dirty="0"/>
          </a:p>
          <a:p>
            <a:pPr marL="88900" indent="-88900" algn="l">
              <a:lnSpc>
                <a:spcPts val="153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新メンバーの秘書が自動キャッチアップ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7950" y="4431209"/>
            <a:ext cx="2031950" cy="0"/>
          </a:xfrm>
          <a:prstGeom prst="line">
            <a:avLst/>
          </a:prstGeom>
          <a:noFill/>
          <a:ln w="38100">
            <a:solidFill>
              <a:srgbClr val="CC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7631" y="4501009"/>
            <a:ext cx="20725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1-2ヶ月目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539901" y="4431209"/>
            <a:ext cx="2032099" cy="0"/>
          </a:xfrm>
          <a:prstGeom prst="line">
            <a:avLst/>
          </a:prstGeom>
          <a:noFill/>
          <a:ln w="38100">
            <a:solidFill>
              <a:srgbClr val="0033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19580" y="4501009"/>
            <a:ext cx="20727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3-4ヶ月目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72000" y="4431209"/>
            <a:ext cx="2031950" cy="0"/>
          </a:xfrm>
          <a:prstGeom prst="line">
            <a:avLst/>
          </a:prstGeom>
          <a:noFill/>
          <a:ln w="38100">
            <a:solidFill>
              <a:srgbClr val="004D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51680" y="4501009"/>
            <a:ext cx="20725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4D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5-6ヶ月目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603950" y="4431209"/>
            <a:ext cx="2032099" cy="0"/>
          </a:xfrm>
          <a:prstGeom prst="line">
            <a:avLst/>
          </a:prstGeom>
          <a:noFill/>
          <a:ln w="38100">
            <a:solidFill>
              <a:srgbClr val="0066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29" y="4501009"/>
            <a:ext cx="20727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7-8ヶ月目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98302"/>
          </a:xfrm>
          <a:prstGeom prst="rect">
            <a:avLst/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まず、やること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7950" y="952202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9996" y="1061740"/>
            <a:ext cx="115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7550" y="977503"/>
            <a:ext cx="766886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この資料でチームと話す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17550" y="1263253"/>
            <a:ext cx="7518499" cy="34290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69950" y="1339453"/>
            <a:ext cx="73579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「やってみたい」「ここが心配」など、率直な意見を集める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7950" y="1745754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9996" y="1855291"/>
            <a:ext cx="115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7550" y="1771055"/>
            <a:ext cx="766886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チーム標準のAI開発環境を整備する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7550" y="2056805"/>
            <a:ext cx="7518499" cy="34290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269950" y="2133005"/>
            <a:ext cx="73579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+ GitHubを軸に、全員が同じ環境で開発できるようにする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7950" y="2539305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79996" y="2648843"/>
            <a:ext cx="115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7550" y="2564606"/>
            <a:ext cx="766886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サンプルアプリで</a:t>
            </a:r>
            <a:r>
              <a:rPr lang="en-US" sz="1300" b="1" dirty="0" err="1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GitHubで開発プロセスを回してみる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17550" y="2850356"/>
            <a:ext cx="7518499" cy="34290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269950" y="2926556"/>
            <a:ext cx="73579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1プロジェクトで「Issue → 壁打ち → PR → レビュー」を体験する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7950" y="3332857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79996" y="3442395"/>
            <a:ext cx="115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17550" y="3358158"/>
            <a:ext cx="766886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チーム共通のAIルールをつくる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17550" y="3643908"/>
            <a:ext cx="7518499" cy="34290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269950" y="3720108"/>
            <a:ext cx="73579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CLAUDE.mdに壁打ち→設計→実装の流れを書き、全員の秘書に共有する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7950" y="4126409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79996" y="4235946"/>
            <a:ext cx="115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17550" y="4151709"/>
            <a:ext cx="766886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失敗やノウハウの共有を始める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17550" y="4437459"/>
            <a:ext cx="7518499" cy="34290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269950" y="4513659"/>
            <a:ext cx="73579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「こうしたらうまくいった」「こうしたら失敗した」をチームで共有する場をつくる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708</Words>
  <Application>Microsoft Office PowerPoint</Application>
  <PresentationFormat>画面に合わせる (16:9)</PresentationFormat>
  <Paragraphs>268</Paragraphs>
  <Slides>13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7" baseType="lpstr">
      <vt:lpstr>游ゴシック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全員にAI秘書がつく開発と働き方</dc:title>
  <dc:subject>PptxGenJS Presentation</dc:subject>
  <dc:creator>DX Solutions Group</dc:creator>
  <cp:lastModifiedBy>Sano Masatoshi/佐野 雅俊(MELCO/姫事 ソ企)</cp:lastModifiedBy>
  <cp:revision>3</cp:revision>
  <dcterms:created xsi:type="dcterms:W3CDTF">2026-04-02T06:04:42Z</dcterms:created>
  <dcterms:modified xsi:type="dcterms:W3CDTF">2026-04-02T06:16:06Z</dcterms:modified>
</cp:coreProperties>
</file>