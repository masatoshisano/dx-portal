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1" d="100"/>
          <a:sy n="141" d="100"/>
        </p:scale>
        <p:origin x="74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700000"/>
            <a:ext cx="822960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4A90E2"/>
                </a:solidFill>
                <a:latin typeface="Meiryo UI"/>
              </a:rPr>
              <a:t>DX PORTAL TEAM  | 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50000"/>
            <a:ext cx="8229600" cy="6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3200" b="1">
                <a:solidFill>
                  <a:srgbClr val="1A2B4C"/>
                </a:solidFill>
                <a:latin typeface="Meiryo UI"/>
              </a:rPr>
              <a:t>チームで集合知化を目指す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5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Meiryo UI"/>
              </a:rPr>
              <a:t>Claude Code × Gitea で、個人の知恵をチームの力に変える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50000"/>
            <a:ext cx="8229600" cy="4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100" b="0">
                <a:solidFill>
                  <a:srgbClr val="8A94A6"/>
                </a:solidFill>
                <a:latin typeface="Meiryo UI"/>
              </a:rPr>
              <a:t>~ 方向性の共有と、一緒に進めたいことの相談 ~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600000"/>
            <a:ext cx="1500000" cy="0"/>
          </a:xfrm>
          <a:prstGeom prst="line">
            <a:avLst/>
          </a:prstGeom>
          <a:ln w="2540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650000"/>
            <a:ext cx="82296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0">
                <a:solidFill>
                  <a:srgbClr val="8A94A6"/>
                </a:solidFill>
                <a:latin typeface="Meiryo UI"/>
              </a:rPr>
              <a:t>DX ポータル開発チーム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個人のノウハウがチームの力に変わる仕組みを、3名×3ヶ月のパイロットで立ち上げる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1605920" cy="7000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20000"/>
            <a:ext cx="1605920" cy="3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200" y="1300000"/>
            <a:ext cx="140592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100" b="1">
                <a:solidFill>
                  <a:srgbClr val="C03030"/>
                </a:solidFill>
                <a:latin typeface="Meiryo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200" y="1580000"/>
            <a:ext cx="1405920" cy="2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8A94A6"/>
                </a:solidFill>
                <a:latin typeface="Meiryo UI"/>
              </a:rPr>
              <a:t>現状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200" y="1880000"/>
            <a:ext cx="1405920" cy="1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優秀な人材のノウハウが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個人の頭の中に留まり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消えていく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7200" y="3150000"/>
            <a:ext cx="1305920" cy="0"/>
          </a:xfrm>
          <a:prstGeom prst="line">
            <a:avLst/>
          </a:prstGeom>
          <a:ln w="9525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57200" y="3250000"/>
            <a:ext cx="1405920" cy="11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8A94A6"/>
                </a:solidFill>
                <a:latin typeface="Meiryo UI"/>
              </a:rPr>
              <a:t>属人化・同じ失敗の反復・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8A94A6"/>
                </a:solidFill>
                <a:latin typeface="Meiryo UI"/>
              </a:rPr>
              <a:t>新人の立ち上がり遅延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13120" y="1150000"/>
            <a:ext cx="1605920" cy="7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113120" y="1220000"/>
            <a:ext cx="1605920" cy="3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13120" y="1300000"/>
            <a:ext cx="140592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100" b="1">
                <a:solidFill>
                  <a:srgbClr val="1A2B4C"/>
                </a:solidFill>
                <a:latin typeface="Meiryo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3120" y="1580000"/>
            <a:ext cx="1405920" cy="2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8A94A6"/>
                </a:solidFill>
                <a:latin typeface="Meiryo UI"/>
              </a:rPr>
              <a:t>目指す姿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3120" y="1880000"/>
            <a:ext cx="1405920" cy="1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個人の知恵が消えず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チームの力になる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「集合知化」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63120" y="3150000"/>
            <a:ext cx="1305920" cy="0"/>
          </a:xfrm>
          <a:prstGeom prst="line">
            <a:avLst/>
          </a:prstGeom>
          <a:ln w="9525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13120" y="3250000"/>
            <a:ext cx="1405920" cy="11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8A94A6"/>
                </a:solidFill>
                <a:latin typeface="Meiryo UI"/>
              </a:rPr>
              <a:t>残す・揃える・掛け合わせる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8A94A6"/>
                </a:solidFill>
                <a:latin typeface="Meiryo UI"/>
              </a:rPr>
              <a:t>3つの方向で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69040" y="1150000"/>
            <a:ext cx="1605920" cy="7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769040" y="1220000"/>
            <a:ext cx="1605920" cy="3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69040" y="1300000"/>
            <a:ext cx="140592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100" b="1">
                <a:solidFill>
                  <a:srgbClr val="4A90E2"/>
                </a:solidFill>
                <a:latin typeface="Meiryo U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69040" y="1580000"/>
            <a:ext cx="1405920" cy="2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8A94A6"/>
                </a:solidFill>
                <a:latin typeface="Meiryo UI"/>
              </a:rPr>
              <a:t>手段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69040" y="1880000"/>
            <a:ext cx="1405920" cy="1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既存の Gitea を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作業場所と脳に変える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（+ Claude Code）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919040" y="3150000"/>
            <a:ext cx="1305920" cy="0"/>
          </a:xfrm>
          <a:prstGeom prst="line">
            <a:avLst/>
          </a:prstGeom>
          <a:ln w="9525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869040" y="3250000"/>
            <a:ext cx="1405920" cy="11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8A94A6"/>
                </a:solidFill>
                <a:latin typeface="Meiryo UI"/>
              </a:rPr>
              <a:t>Issue → 壁打ち → PR →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8A94A6"/>
                </a:solidFill>
                <a:latin typeface="Meiryo UI"/>
              </a:rPr>
              <a:t>レビュー → 学習定着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24960" y="1150000"/>
            <a:ext cx="1605920" cy="7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24960" y="1220000"/>
            <a:ext cx="1605920" cy="3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524960" y="1300000"/>
            <a:ext cx="140592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100" b="1">
                <a:solidFill>
                  <a:srgbClr val="4A90E2"/>
                </a:solidFill>
                <a:latin typeface="Meiryo U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24960" y="1580000"/>
            <a:ext cx="1405920" cy="2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8A94A6"/>
                </a:solidFill>
                <a:latin typeface="Meiryo UI"/>
              </a:rPr>
              <a:t>仕組み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24960" y="1880000"/>
            <a:ext cx="1405920" cy="1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team-standards に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CLAUDE.md・Skills を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集約し育てる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574960" y="3150000"/>
            <a:ext cx="1305920" cy="0"/>
          </a:xfrm>
          <a:prstGeom prst="line">
            <a:avLst/>
          </a:prstGeom>
          <a:ln w="9525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524960" y="3250000"/>
            <a:ext cx="1405920" cy="11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8A94A6"/>
                </a:solidFill>
                <a:latin typeface="Meiryo UI"/>
              </a:rPr>
              <a:t>共通層 + プロジェクト層で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8A94A6"/>
                </a:solidFill>
                <a:latin typeface="Meiryo UI"/>
              </a:rPr>
              <a:t>階層管理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0880" y="1150000"/>
            <a:ext cx="1605920" cy="7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080880" y="1220000"/>
            <a:ext cx="1605920" cy="3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80880" y="1300000"/>
            <a:ext cx="140592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Meiryo UI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80880" y="1580000"/>
            <a:ext cx="1405920" cy="2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8A94A6"/>
                </a:solidFill>
                <a:latin typeface="Meiryo UI"/>
              </a:rPr>
              <a:t>進め方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80880" y="1880000"/>
            <a:ext cx="1405920" cy="1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3名×3ヶ月で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パイロット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→ 成功したら7名に展開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230880" y="3150000"/>
            <a:ext cx="1305920" cy="0"/>
          </a:xfrm>
          <a:prstGeom prst="line">
            <a:avLst/>
          </a:prstGeom>
          <a:ln w="9525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180880" y="3250000"/>
            <a:ext cx="1405920" cy="11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8A94A6"/>
                </a:solidFill>
                <a:latin typeface="Meiryo UI"/>
              </a:rPr>
              <a:t>撤退条件・属人化対策を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8A94A6"/>
                </a:solidFill>
                <a:latin typeface="Meiryo UI"/>
              </a:rPr>
              <a:t>最初から組み込む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現状認識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優秀な人材がいるのに、ノウハウが個人に留まり消えている — もったいない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050000"/>
            <a:ext cx="8229600" cy="50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7200" y="1130000"/>
            <a:ext cx="7829600" cy="3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222222"/>
                </a:solidFill>
                <a:latin typeface="Meiryo UI"/>
              </a:rPr>
              <a:t>バイブコーディングはしている。各自それなりに使いこなしている。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1A2B4C"/>
                </a:solidFill>
                <a:latin typeface="Meiryo UI"/>
              </a:rPr>
              <a:t>でも、やり方がバラバラで、ノウハウが個人の頭の中だけ。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00000"/>
            <a:ext cx="4014800" cy="26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700000"/>
            <a:ext cx="4014800" cy="32000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7200" y="1750000"/>
            <a:ext cx="37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ケース ①  Aさんのノウハウは、Aさんと一緒に消える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7200" y="2100000"/>
            <a:ext cx="3714800" cy="217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7200" y="2100000"/>
            <a:ext cx="18000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8A94A6"/>
                </a:solidFill>
                <a:latin typeface="Meiryo UI"/>
              </a:rPr>
              <a:t>Aさんの頭の中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7200" y="2380000"/>
            <a:ext cx="1800000" cy="1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● DBタイムアウト対処法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● 認証トークンの落とし穴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● 失敗した設計3つ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● 効いたプロンプト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● レビューでの指摘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7200" y="2800000"/>
            <a:ext cx="40000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900" b="1">
                <a:solidFill>
                  <a:srgbClr val="C03030"/>
                </a:solidFill>
                <a:latin typeface="Meiryo UI"/>
              </a:rPr>
              <a:t>異動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7200" y="3050000"/>
            <a:ext cx="40000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1600" b="1">
                <a:solidFill>
                  <a:srgbClr val="C03030"/>
                </a:solidFill>
                <a:latin typeface="Meiryo U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7200" y="2100000"/>
            <a:ext cx="15000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8A94A6"/>
                </a:solidFill>
                <a:latin typeface="Meiryo UI"/>
              </a:rPr>
              <a:t>残ったもの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7200" y="2380000"/>
            <a:ext cx="1500000" cy="7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3600" b="1">
                <a:solidFill>
                  <a:srgbClr val="C03030"/>
                </a:solidFill>
                <a:latin typeface="Meiryo UI"/>
              </a:rPr>
              <a:t>???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7200" y="3100000"/>
            <a:ext cx="1500000" cy="6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800" b="0">
                <a:solidFill>
                  <a:srgbClr val="8A94A6"/>
                </a:solidFill>
                <a:latin typeface="Meiryo UI"/>
              </a:rPr>
              <a:t>コードは残るが
「なぜこう作ったか」は
誰も知らない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72000" y="1700000"/>
            <a:ext cx="4014800" cy="26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72000" y="1700000"/>
            <a:ext cx="4014800" cy="32000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22000" y="1750000"/>
            <a:ext cx="37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ケース ②  同じ DB タイムアウト問題で2人が3時間ハマる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2000" y="2100000"/>
            <a:ext cx="3714800" cy="217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22000" y="2100000"/>
            <a:ext cx="5000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8A94A6"/>
                </a:solidFill>
                <a:latin typeface="Meiryo UI"/>
              </a:rPr>
              <a:t>2月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2000" y="2100000"/>
            <a:ext cx="32148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Meiryo UI"/>
              </a:rPr>
              <a:t>Aさんが3時間ハマる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2000" y="2360000"/>
            <a:ext cx="3214800" cy="6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タイムアウト値変更 → 効果なし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ドライバ調査 → 関係なし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2E7D32"/>
                </a:solidFill>
                <a:latin typeface="Meiryo UI"/>
              </a:rPr>
              <a:t>プール設定で解決、記録せず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2000" y="3050000"/>
            <a:ext cx="3714800" cy="0"/>
          </a:xfrm>
          <a:prstGeom prst="line">
            <a:avLst/>
          </a:prstGeom>
          <a:ln w="9525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822000" y="3100000"/>
            <a:ext cx="5000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8A94A6"/>
                </a:solidFill>
                <a:latin typeface="Meiryo UI"/>
              </a:rPr>
              <a:t>5月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2000" y="3100000"/>
            <a:ext cx="32148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C03030"/>
                </a:solidFill>
                <a:latin typeface="Meiryo UI"/>
              </a:rPr>
              <a:t>Bさんが同じ問題で3時間ハマる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22000" y="3360000"/>
            <a:ext cx="3214800" cy="7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同じ順序で同じ失敗を辿る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2E7D32"/>
                </a:solidFill>
                <a:latin typeface="Meiryo UI"/>
              </a:rPr>
              <a:t>結局プール設定で解決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C03030"/>
                </a:solidFill>
                <a:latin typeface="Meiryo UI"/>
              </a:rPr>
              <a:t>Aさんも同じことを経験済みと後で知る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3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放置した場合のリスク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このまま進むと、個人成長はあってもチームは賢くならない — 5つのリスク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230000"/>
            <a:ext cx="400000" cy="40000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30000"/>
            <a:ext cx="400000" cy="4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200" y="1200000"/>
            <a:ext cx="7529600" cy="3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200" b="1">
                <a:solidFill>
                  <a:srgbClr val="C03030"/>
                </a:solidFill>
                <a:latin typeface="Meiryo UI"/>
              </a:rPr>
              <a:t>同じ失敗を繰り返す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200" y="1510000"/>
            <a:ext cx="7529600" cy="2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Aさんの3時間 → Bさんの3時間 → Cさんの3時間。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年間で数十時間の損失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80000"/>
            <a:ext cx="400000" cy="40000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880000"/>
            <a:ext cx="400000" cy="4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7200" y="1850000"/>
            <a:ext cx="7529600" cy="3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200" b="1">
                <a:solidFill>
                  <a:srgbClr val="C03030"/>
                </a:solidFill>
                <a:latin typeface="Meiryo UI"/>
              </a:rPr>
              <a:t>人が抜けた瞬間、知識が消える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7200" y="2160000"/>
            <a:ext cx="7529600" cy="2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「あれどうなってるの？」が誰にも答えられない状態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30000"/>
            <a:ext cx="400000" cy="400000"/>
          </a:xfrm>
          <a:prstGeom prst="rect">
            <a:avLst/>
          </a:prstGeom>
          <a:solidFill>
            <a:srgbClr val="D67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530000"/>
            <a:ext cx="400000" cy="4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7200" y="2500000"/>
            <a:ext cx="7529600" cy="3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200" b="1">
                <a:solidFill>
                  <a:srgbClr val="D67E1E"/>
                </a:solidFill>
                <a:latin typeface="Meiryo UI"/>
              </a:rPr>
              <a:t>新メンバーの立ち上がりに時間がかかる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7200" y="2810000"/>
            <a:ext cx="7529600" cy="2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「先輩に聞いて覚える」しかない。先輩も新人も疲弊する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80000"/>
            <a:ext cx="400000" cy="400000"/>
          </a:xfrm>
          <a:prstGeom prst="rect">
            <a:avLst/>
          </a:prstGeom>
          <a:solidFill>
            <a:srgbClr val="D67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180000"/>
            <a:ext cx="400000" cy="4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7200" y="3150000"/>
            <a:ext cx="7529600" cy="3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200" b="1">
                <a:solidFill>
                  <a:srgbClr val="D67E1E"/>
                </a:solidFill>
                <a:latin typeface="Meiryo UI"/>
              </a:rPr>
              <a:t>AIを使っても、チーム全体は賢くならない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7200" y="3460000"/>
            <a:ext cx="7529600" cy="2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個人は熟達する。でもチームとしての成長がない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30000"/>
            <a:ext cx="400000" cy="400000"/>
          </a:xfrm>
          <a:prstGeom prst="rect">
            <a:avLst/>
          </a:prstGeom>
          <a:solidFill>
            <a:srgbClr val="D67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830000"/>
            <a:ext cx="400000" cy="40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7200" y="3800000"/>
            <a:ext cx="7529600" cy="3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200" b="1">
                <a:solidFill>
                  <a:srgbClr val="D67E1E"/>
                </a:solidFill>
                <a:latin typeface="Meiryo UI"/>
              </a:rPr>
              <a:t>DX推進側なのに、自分たちの開発は旧態依然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7200" y="4110000"/>
            <a:ext cx="7529600" cy="2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「DXを語る資格があるのか」と見られるリスク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目指す姿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目指すのは集合知化 — 個人の知恵が3つの軸でチームの力に変わる状態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8229600" cy="50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30000"/>
            <a:ext cx="8229600" cy="3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1300" b="1">
                <a:solidFill>
                  <a:srgbClr val="D0E1F5"/>
                </a:solidFill>
                <a:latin typeface="Meiryo UI"/>
              </a:rPr>
              <a:t>集合知化 (Collective Intelligence)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00000"/>
            <a:ext cx="82296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個人の知恵が、消えずに、チームの力になる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50000"/>
            <a:ext cx="2609866" cy="26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850000"/>
            <a:ext cx="2609866" cy="7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7200" y="1980000"/>
            <a:ext cx="2409866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時間軸で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200" y="2220000"/>
            <a:ext cx="2409866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2000" b="1">
                <a:solidFill>
                  <a:srgbClr val="1A2B4C"/>
                </a:solidFill>
                <a:latin typeface="Meiryo UI"/>
              </a:rPr>
              <a:t>残す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200" y="2750000"/>
            <a:ext cx="2409866" cy="7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222222"/>
                </a:solidFill>
                <a:latin typeface="Meiryo UI"/>
              </a:rPr>
              <a:t>優秀な人の知恵が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222222"/>
                </a:solidFill>
                <a:latin typeface="Meiryo UI"/>
              </a:rPr>
              <a:t>異動・退職後も残る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7200" y="3600000"/>
            <a:ext cx="2409866" cy="0"/>
          </a:xfrm>
          <a:prstGeom prst="line">
            <a:avLst/>
          </a:prstGeom>
          <a:ln w="9525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57200" y="3670000"/>
            <a:ext cx="2409866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具体例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200" y="3870000"/>
            <a:ext cx="2409866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Aさんが見つけた「DBタイムアウトはプール設定」が、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Aさんが抜けた後も全員の秘書が知っている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67066" y="1850000"/>
            <a:ext cx="2609866" cy="26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67066" y="1850000"/>
            <a:ext cx="2609866" cy="7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67066" y="1980000"/>
            <a:ext cx="2409866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横軸で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7066" y="2220000"/>
            <a:ext cx="2409866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2000" b="1">
                <a:solidFill>
                  <a:srgbClr val="4A90E2"/>
                </a:solidFill>
                <a:latin typeface="Meiryo UI"/>
              </a:rPr>
              <a:t>揃える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7066" y="2750000"/>
            <a:ext cx="2409866" cy="7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222222"/>
                </a:solidFill>
                <a:latin typeface="Meiryo UI"/>
              </a:rPr>
              <a:t>誰がやっても同じレベル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222222"/>
                </a:solidFill>
                <a:latin typeface="Meiryo UI"/>
              </a:rPr>
              <a:t>でアウトプットが出せる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67066" y="3600000"/>
            <a:ext cx="2409866" cy="0"/>
          </a:xfrm>
          <a:prstGeom prst="line">
            <a:avLst/>
          </a:prstGeom>
          <a:ln w="9525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367066" y="3670000"/>
            <a:ext cx="2409866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具体例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7066" y="3870000"/>
            <a:ext cx="2409866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新人でもベテランでも、秘書が同じ設計手順・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同じ規約・同じチェックで作業する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76932" y="1850000"/>
            <a:ext cx="2609866" cy="26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76932" y="1850000"/>
            <a:ext cx="2609866" cy="7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76932" y="1980000"/>
            <a:ext cx="2409866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化学反応で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6932" y="2220000"/>
            <a:ext cx="2409866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  <a:latin typeface="Meiryo UI"/>
              </a:rPr>
              <a:t>掛け合わせる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6932" y="2750000"/>
            <a:ext cx="2409866" cy="7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222222"/>
                </a:solidFill>
                <a:latin typeface="Meiryo UI"/>
              </a:rPr>
              <a:t>1+1が3になる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176932" y="3600000"/>
            <a:ext cx="2409866" cy="0"/>
          </a:xfrm>
          <a:prstGeom prst="line">
            <a:avLst/>
          </a:prstGeom>
          <a:ln w="9525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176932" y="3670000"/>
            <a:ext cx="2409866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具体例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6932" y="3870000"/>
            <a:ext cx="2409866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Aさんの知恵 + Bさんの知恵 + Cさんの知恵が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組み合わさって、一人では届かない品質に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5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アプローチの原型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ベガパンクのサテライトと同じ仕組みを、既存のGiteaで実現できる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3613320" cy="34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50000"/>
            <a:ext cx="3613320" cy="32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7200" y="1200000"/>
            <a:ext cx="331332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たとえ話：ベガパンクのサテライト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7200" y="1550000"/>
            <a:ext cx="3313320" cy="29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1人の天才が6体のサテライト（分身）に分かれ、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それぞれ独立して動く。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>
                <a:latin typeface="Meiryo UI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全員が『パンクレコーズ』という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共有の知識ベースでつながっている。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>
                <a:latin typeface="Meiryo UI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1A2B4C"/>
                </a:solidFill>
                <a:latin typeface="Meiryo UI"/>
              </a:rPr>
              <a:t>→ 1体が学んだことは、全員の知識になる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>
                <a:latin typeface="Meiryo UI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E6E9EF"/>
                </a:solidFill>
                <a:latin typeface="Meiryo UI"/>
              </a:rPr>
              <a:t>━━━━━━━━━━━━━━━━━━━━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>
                <a:latin typeface="Meiryo UI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私たちの場合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● サテライト = 各自の AI 秘書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● パンクレコーズ = team-standards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● 共有知識 = CLAUDE.md /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70520" y="1150000"/>
            <a:ext cx="441628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100" b="1">
                <a:solidFill>
                  <a:srgbClr val="1A2B4C"/>
                </a:solidFill>
                <a:latin typeface="Meiryo UI"/>
              </a:rPr>
              <a:t>なぜ GitHub ではなく Gitea 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520" y="1500000"/>
            <a:ext cx="4416280" cy="9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70520" y="1500000"/>
            <a:ext cx="50000" cy="95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20520" y="1600000"/>
            <a:ext cx="40000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1A2B4C"/>
                </a:solidFill>
                <a:latin typeface="Meiryo U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0520" y="1600000"/>
            <a:ext cx="371628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Meiryo UI"/>
              </a:rPr>
              <a:t>すでに社内にある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0520" y="1930000"/>
            <a:ext cx="371628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Meiryo UI"/>
              </a:rPr>
              <a:t>サーバー・アカウント完備。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Meiryo UI"/>
              </a:rPr>
              <a:t>追加投資ゼロ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520" y="2500000"/>
            <a:ext cx="4416280" cy="9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70520" y="2500000"/>
            <a:ext cx="50000" cy="95000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20520" y="2600000"/>
            <a:ext cx="40000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C03030"/>
                </a:solidFill>
                <a:latin typeface="Meiryo U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0520" y="2600000"/>
            <a:ext cx="371628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Meiryo UI"/>
              </a:rPr>
              <a:t>コードを社外に出せない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0520" y="2930000"/>
            <a:ext cx="371628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Meiryo UI"/>
              </a:rPr>
              <a:t>セキュリティ・ポリシー上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Meiryo UI"/>
              </a:rPr>
              <a:t>GitHub Cloud は使えない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0520" y="3500000"/>
            <a:ext cx="4416280" cy="9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70520" y="3500000"/>
            <a:ext cx="50000" cy="950000"/>
          </a:xfrm>
          <a:prstGeom prst="rect">
            <a:avLst/>
          </a:prstGeom>
          <a:solidFill>
            <a:srgbClr val="D67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20520" y="3600000"/>
            <a:ext cx="40000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D67E1E"/>
                </a:solidFill>
                <a:latin typeface="Meiryo U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0520" y="3600000"/>
            <a:ext cx="371628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100" b="1" dirty="0" err="1">
                <a:solidFill>
                  <a:srgbClr val="222222"/>
                </a:solidFill>
                <a:latin typeface="Meiryo UI"/>
              </a:rPr>
              <a:t>コストを最小化できる</a:t>
            </a:r>
            <a:endParaRPr sz="1100" b="1" dirty="0">
              <a:solidFill>
                <a:srgbClr val="222222"/>
              </a:solidFill>
              <a:latin typeface="Meiryo U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70520" y="3930000"/>
            <a:ext cx="371628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Meiryo UI"/>
              </a:rPr>
              <a:t>GitHub Team の月額でも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Meiryo UI"/>
              </a:rPr>
              <a:t>予算化が難しい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6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方向性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方向性：Gitea を『完成コードの墓場』から『チームの脳と作業場所』に変える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00000"/>
            <a:ext cx="8229600" cy="55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00000"/>
            <a:ext cx="822960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1200" b="1">
                <a:solidFill>
                  <a:srgbClr val="D0E1F5"/>
                </a:solidFill>
                <a:latin typeface="Meiryo UI"/>
              </a:rPr>
              <a:t>書く・考える・決める・学ぶ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0000"/>
            <a:ext cx="82296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その全部がチームの資産として溜まる仕組みを作る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50000"/>
            <a:ext cx="3414800" cy="2600000"/>
          </a:xfrm>
          <a:prstGeom prst="rect">
            <a:avLst/>
          </a:prstGeom>
          <a:solidFill>
            <a:srgbClr val="F6F8FB"/>
          </a:solidFill>
          <a:ln w="1905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850000"/>
            <a:ext cx="3414800" cy="32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200" y="1900000"/>
            <a:ext cx="3114800" cy="194279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 dirty="0" err="1">
                <a:solidFill>
                  <a:srgbClr val="FFFFFF"/>
                </a:solidFill>
                <a:latin typeface="Meiryo UI"/>
              </a:rPr>
              <a:t>職人の作業台：手元のPC</a:t>
            </a:r>
            <a:r>
              <a:rPr lang="ja-JP" altLang="en-US" sz="1000" b="1" dirty="0">
                <a:solidFill>
                  <a:srgbClr val="FFFFFF"/>
                </a:solidFill>
                <a:latin typeface="Meiryo UI"/>
              </a:rPr>
              <a:t>（今まで通り）</a:t>
            </a:r>
            <a:endParaRPr sz="1000" b="1" dirty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7200" y="2250000"/>
            <a:ext cx="311480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300" b="1">
                <a:solidFill>
                  <a:srgbClr val="1A2B4C"/>
                </a:solidFill>
                <a:latin typeface="Meiryo UI"/>
              </a:rPr>
              <a:t>VS Code + Claude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7200" y="2580000"/>
            <a:ext cx="31148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8A94A6"/>
                </a:solidFill>
                <a:latin typeface="Meiryo UI"/>
              </a:rPr>
              <a:t>変わらない。むしろ強化する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7200" y="2850000"/>
            <a:ext cx="3114800" cy="1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● コードを書く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● 秘書と壁打ち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● テスト・デバッグ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222222"/>
                </a:solidFill>
                <a:latin typeface="Meiryo UI"/>
              </a:rPr>
              <a:t>● 設計の試行錯誤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2000" y="2650000"/>
            <a:ext cx="120000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900" b="0">
                <a:solidFill>
                  <a:srgbClr val="8A94A6"/>
                </a:solidFill>
                <a:latin typeface="Meiryo UI"/>
              </a:rPr>
              <a:t>push / PR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2000" y="2900000"/>
            <a:ext cx="1200000" cy="4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2200" b="1">
                <a:solidFill>
                  <a:srgbClr val="4A90E2"/>
                </a:solidFill>
                <a:latin typeface="Meiryo UI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2000" y="3350000"/>
            <a:ext cx="1200000" cy="4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2200" b="1">
                <a:solidFill>
                  <a:srgbClr val="4A90E2"/>
                </a:solidFill>
                <a:latin typeface="Meiryo UI"/>
              </a:rPr>
              <a:t>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2000" y="3750000"/>
            <a:ext cx="120000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900" b="0">
                <a:solidFill>
                  <a:srgbClr val="8A94A6"/>
                </a:solidFill>
                <a:latin typeface="Meiryo UI"/>
              </a:rPr>
              <a:t>pull / review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72000" y="1850000"/>
            <a:ext cx="3414800" cy="2600000"/>
          </a:xfrm>
          <a:prstGeom prst="rect">
            <a:avLst/>
          </a:prstGeom>
          <a:solidFill>
            <a:srgbClr val="F6F8FB"/>
          </a:solidFill>
          <a:ln w="19050"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272000" y="1850000"/>
            <a:ext cx="3414800" cy="32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22000" y="1900000"/>
            <a:ext cx="31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共同作業場：Gitea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2000" y="2250000"/>
            <a:ext cx="311480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300" b="1">
                <a:solidFill>
                  <a:srgbClr val="1A2B4C"/>
                </a:solidFill>
                <a:latin typeface="Meiryo UI"/>
              </a:rPr>
              <a:t>チームの脳と記憶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2000" y="2580000"/>
            <a:ext cx="31148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8A94A6"/>
                </a:solidFill>
                <a:latin typeface="Meiryo UI"/>
              </a:rPr>
              <a:t>使い方を変えるだけ。追加投資ゼロ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2000" y="2850000"/>
            <a:ext cx="3114800" cy="931468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 dirty="0">
                <a:solidFill>
                  <a:srgbClr val="222222"/>
                </a:solidFill>
                <a:latin typeface="Meiryo UI"/>
              </a:rPr>
              <a:t>● </a:t>
            </a:r>
            <a:r>
              <a:rPr sz="1000" b="0" dirty="0" err="1">
                <a:solidFill>
                  <a:srgbClr val="222222"/>
                </a:solidFill>
                <a:latin typeface="Meiryo UI"/>
              </a:rPr>
              <a:t>Issue（何を・なぜ</a:t>
            </a:r>
            <a:r>
              <a:rPr sz="1000" b="0" dirty="0">
                <a:solidFill>
                  <a:srgbClr val="222222"/>
                </a:solidFill>
                <a:latin typeface="Meiryo UI"/>
              </a:rPr>
              <a:t>）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 dirty="0">
                <a:solidFill>
                  <a:srgbClr val="222222"/>
                </a:solidFill>
                <a:latin typeface="Meiryo UI"/>
              </a:rPr>
              <a:t>● </a:t>
            </a:r>
            <a:r>
              <a:rPr sz="1000" b="0" dirty="0" err="1">
                <a:solidFill>
                  <a:srgbClr val="222222"/>
                </a:solidFill>
                <a:latin typeface="Meiryo UI"/>
              </a:rPr>
              <a:t>壁打ちログの要約</a:t>
            </a:r>
            <a:endParaRPr sz="1000" b="0" dirty="0">
              <a:solidFill>
                <a:srgbClr val="222222"/>
              </a:solidFill>
              <a:latin typeface="Meiryo UI"/>
            </a:endParaRP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 dirty="0">
                <a:solidFill>
                  <a:srgbClr val="222222"/>
                </a:solidFill>
                <a:latin typeface="Meiryo UI"/>
              </a:rPr>
              <a:t>● PR / </a:t>
            </a:r>
            <a:r>
              <a:rPr sz="1000" b="0" dirty="0" err="1">
                <a:solidFill>
                  <a:srgbClr val="222222"/>
                </a:solidFill>
                <a:latin typeface="Meiryo UI"/>
              </a:rPr>
              <a:t>レビュ</a:t>
            </a:r>
            <a:r>
              <a:rPr sz="1000" b="0" dirty="0">
                <a:solidFill>
                  <a:srgbClr val="222222"/>
                </a:solidFill>
                <a:latin typeface="Meiryo UI"/>
              </a:rPr>
              <a:t>ー（</a:t>
            </a:r>
            <a:r>
              <a:rPr sz="1000" b="0" dirty="0" err="1">
                <a:solidFill>
                  <a:srgbClr val="222222"/>
                </a:solidFill>
                <a:latin typeface="Meiryo UI"/>
              </a:rPr>
              <a:t>判断</a:t>
            </a:r>
            <a:r>
              <a:rPr sz="1000" b="0" dirty="0">
                <a:solidFill>
                  <a:srgbClr val="222222"/>
                </a:solidFill>
                <a:latin typeface="Meiryo UI"/>
              </a:rPr>
              <a:t>）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 dirty="0">
                <a:solidFill>
                  <a:srgbClr val="222222"/>
                </a:solidFill>
                <a:latin typeface="Meiryo UI"/>
              </a:rPr>
              <a:t>● </a:t>
            </a:r>
            <a:r>
              <a:rPr sz="1000" b="0" dirty="0" err="1">
                <a:solidFill>
                  <a:srgbClr val="222222"/>
                </a:solidFill>
                <a:latin typeface="Meiryo UI"/>
              </a:rPr>
              <a:t>CLAUDE.md（チームの脳</a:t>
            </a:r>
            <a:r>
              <a:rPr sz="1000" b="0" dirty="0">
                <a:solidFill>
                  <a:srgbClr val="222222"/>
                </a:solidFill>
                <a:latin typeface="Meiryo UI"/>
              </a:rPr>
              <a:t>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7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日々の動き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1日の開発は、Gitea と手元ツールの行き来で進む — 8ステップ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96550" y="1250000"/>
            <a:ext cx="280000" cy="28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6550" y="1250000"/>
            <a:ext cx="280000" cy="28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0000"/>
            <a:ext cx="9587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900" b="0">
                <a:solidFill>
                  <a:srgbClr val="8A94A6"/>
                </a:solidFill>
                <a:latin typeface="Meiryo UI"/>
              </a:rPr>
              <a:t>朝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00000"/>
            <a:ext cx="9587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7200" y="1900000"/>
            <a:ext cx="918700" cy="6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dirty="0">
                <a:solidFill>
                  <a:srgbClr val="1A2B4C"/>
                </a:solidFill>
                <a:latin typeface="Meiryo UI"/>
              </a:rPr>
              <a:t>Issue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dirty="0" err="1">
                <a:solidFill>
                  <a:srgbClr val="1A2B4C"/>
                </a:solidFill>
                <a:latin typeface="Meiryo UI"/>
              </a:rPr>
              <a:t>選定</a:t>
            </a:r>
            <a:endParaRPr sz="1000" b="1" dirty="0">
              <a:solidFill>
                <a:srgbClr val="1A2B4C"/>
              </a:solidFill>
              <a:latin typeface="Meiryo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2450000"/>
            <a:ext cx="9587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800" b="0">
                <a:solidFill>
                  <a:srgbClr val="8A94A6"/>
                </a:solidFill>
                <a:latin typeface="Meiryo UI"/>
              </a:rPr>
              <a:t>Gitea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35250" y="1250000"/>
            <a:ext cx="280000" cy="28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35250" y="1250000"/>
            <a:ext cx="280000" cy="28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5900" y="1570000"/>
            <a:ext cx="9587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900" b="0">
                <a:solidFill>
                  <a:srgbClr val="8A94A6"/>
                </a:solidFill>
                <a:latin typeface="Meiryo UI"/>
              </a:rPr>
              <a:t>開始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95900" y="1800000"/>
            <a:ext cx="9587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15900" y="1900000"/>
            <a:ext cx="918700" cy="6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4A90E2"/>
                </a:solidFill>
                <a:latin typeface="Meiryo UI"/>
              </a:rPr>
              <a:t>壁打ち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5900" y="2450000"/>
            <a:ext cx="9587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800" b="0">
                <a:solidFill>
                  <a:srgbClr val="8A94A6"/>
                </a:solidFill>
                <a:latin typeface="Meiryo UI"/>
              </a:rPr>
              <a:t>手元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73950" y="1250000"/>
            <a:ext cx="280000" cy="28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73950" y="1250000"/>
            <a:ext cx="280000" cy="28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34600" y="1570000"/>
            <a:ext cx="9587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900" b="0">
                <a:solidFill>
                  <a:srgbClr val="8A94A6"/>
                </a:solidFill>
                <a:latin typeface="Meiryo UI"/>
              </a:rPr>
              <a:t>整理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34600" y="1800000"/>
            <a:ext cx="9587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54600" y="1900000"/>
            <a:ext cx="918700" cy="6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要約を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Issueへ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34600" y="2450000"/>
            <a:ext cx="9587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800" b="0">
                <a:solidFill>
                  <a:srgbClr val="8A94A6"/>
                </a:solidFill>
                <a:latin typeface="Meiryo UI"/>
              </a:rPr>
              <a:t>Gitea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12650" y="1250000"/>
            <a:ext cx="280000" cy="28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12650" y="1250000"/>
            <a:ext cx="280000" cy="28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73300" y="1570000"/>
            <a:ext cx="9587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900" b="0">
                <a:solidFill>
                  <a:srgbClr val="8A94A6"/>
                </a:solidFill>
                <a:latin typeface="Meiryo UI"/>
              </a:rPr>
              <a:t>実装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73300" y="1800000"/>
            <a:ext cx="9587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93300" y="1900000"/>
            <a:ext cx="918700" cy="6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4A90E2"/>
                </a:solidFill>
                <a:latin typeface="Meiryo UI"/>
              </a:rPr>
              <a:t>コード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4A90E2"/>
                </a:solidFill>
                <a:latin typeface="Meiryo UI"/>
              </a:rPr>
              <a:t>作成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73300" y="2450000"/>
            <a:ext cx="9587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800" b="0">
                <a:solidFill>
                  <a:srgbClr val="8A94A6"/>
                </a:solidFill>
                <a:latin typeface="Meiryo UI"/>
              </a:rPr>
              <a:t>手元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51350" y="1250000"/>
            <a:ext cx="280000" cy="28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51350" y="1250000"/>
            <a:ext cx="280000" cy="28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2000" y="1570000"/>
            <a:ext cx="9587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900" b="0">
                <a:solidFill>
                  <a:srgbClr val="8A94A6"/>
                </a:solidFill>
                <a:latin typeface="Meiryo UI"/>
              </a:rPr>
              <a:t>途中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2000" y="1800000"/>
            <a:ext cx="9587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32000" y="1900000"/>
            <a:ext cx="918700" cy="6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dirty="0">
                <a:solidFill>
                  <a:srgbClr val="1A2B4C"/>
                </a:solidFill>
                <a:latin typeface="Meiryo UI"/>
              </a:rPr>
              <a:t>Draft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dirty="0">
                <a:solidFill>
                  <a:srgbClr val="1A2B4C"/>
                </a:solidFill>
                <a:latin typeface="Meiryo UI"/>
              </a:rPr>
              <a:t>PR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2000" y="2450000"/>
            <a:ext cx="9587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800" b="0">
                <a:solidFill>
                  <a:srgbClr val="8A94A6"/>
                </a:solidFill>
                <a:latin typeface="Meiryo UI"/>
              </a:rPr>
              <a:t>Gitea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90050" y="1250000"/>
            <a:ext cx="280000" cy="28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90050" y="1250000"/>
            <a:ext cx="280000" cy="28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50700" y="1570000"/>
            <a:ext cx="9587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900" b="0">
                <a:solidFill>
                  <a:srgbClr val="8A94A6"/>
                </a:solidFill>
                <a:latin typeface="Meiryo UI"/>
              </a:rPr>
              <a:t>確認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50700" y="1800000"/>
            <a:ext cx="9587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70700" y="1900000"/>
            <a:ext cx="918700" cy="6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4A90E2"/>
                </a:solidFill>
                <a:latin typeface="Meiryo UI"/>
              </a:rPr>
              <a:t>セルフ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4A90E2"/>
                </a:solidFill>
                <a:latin typeface="Meiryo UI"/>
              </a:rPr>
              <a:t>レビュー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50700" y="2450000"/>
            <a:ext cx="9587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800" b="0">
                <a:solidFill>
                  <a:srgbClr val="8A94A6"/>
                </a:solidFill>
                <a:latin typeface="Meiryo UI"/>
              </a:rPr>
              <a:t>手元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28750" y="1250000"/>
            <a:ext cx="280000" cy="28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028750" y="1250000"/>
            <a:ext cx="280000" cy="28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89400" y="1570000"/>
            <a:ext cx="9587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900" b="0">
                <a:solidFill>
                  <a:srgbClr val="8A94A6"/>
                </a:solidFill>
                <a:latin typeface="Meiryo UI"/>
              </a:rPr>
              <a:t>完了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89400" y="1800000"/>
            <a:ext cx="9587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709400" y="1900000"/>
            <a:ext cx="918700" cy="6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人間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A2B4C"/>
                </a:solidFill>
                <a:latin typeface="Meiryo UI"/>
              </a:rPr>
              <a:t>レビュー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89400" y="2450000"/>
            <a:ext cx="9587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800" b="0">
                <a:solidFill>
                  <a:srgbClr val="8A94A6"/>
                </a:solidFill>
                <a:latin typeface="Meiryo UI"/>
              </a:rPr>
              <a:t>Gitea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67450" y="1250000"/>
            <a:ext cx="280000" cy="28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67450" y="1250000"/>
            <a:ext cx="280000" cy="28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28100" y="1570000"/>
            <a:ext cx="9587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900" b="0">
                <a:solidFill>
                  <a:srgbClr val="8A94A6"/>
                </a:solidFill>
                <a:latin typeface="Meiryo UI"/>
              </a:rPr>
              <a:t>学び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28100" y="1800000"/>
            <a:ext cx="9587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748100" y="1900000"/>
            <a:ext cx="918700" cy="6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2E7D32"/>
                </a:solidFill>
                <a:latin typeface="Meiryo UI"/>
              </a:rPr>
              <a:t>CLAUDE.md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2E7D32"/>
                </a:solidFill>
                <a:latin typeface="Meiryo UI"/>
              </a:rPr>
              <a:t>更新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28100" y="2450000"/>
            <a:ext cx="9587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800" b="0">
                <a:solidFill>
                  <a:srgbClr val="8A94A6"/>
                </a:solidFill>
                <a:latin typeface="Meiryo UI"/>
              </a:rPr>
              <a:t>Gitea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2950000"/>
            <a:ext cx="8229600" cy="28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7200" y="3000000"/>
            <a:ext cx="78296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Meiryo UI"/>
              </a:rPr>
              <a:t>■ 紺色＝Gitea（チームの場所）      ■ 青＝手元（VS Code + Claude Code）      ■ 緑＝学びの定着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3400000"/>
            <a:ext cx="8229600" cy="3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1200" b="1">
                <a:solidFill>
                  <a:srgbClr val="1A2B4C"/>
                </a:solidFill>
                <a:latin typeface="Meiryo UI"/>
              </a:rPr>
              <a:t>書く場所は変わらない。変わるのは「流れ」と「記憶」の置き場所だけ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8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具体的な会話イメージ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チャット例①：朝の壁打ちから、方針決定・Issue ポストまで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2643200" cy="28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200" y="1200000"/>
            <a:ext cx="24432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eiryo UI"/>
              </a:rPr>
              <a:t>STEP 1  Issue を選んで壁打ち開始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70000"/>
            <a:ext cx="2643200" cy="18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7200" y="1470000"/>
            <a:ext cx="6000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1A2B4C"/>
                </a:solidFill>
                <a:latin typeface="Meiryo UI"/>
              </a:rP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200" y="1470000"/>
            <a:ext cx="23832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1A2B4C"/>
                </a:solidFill>
                <a:latin typeface="Meiryo UI"/>
              </a:rPr>
              <a:t>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7200" y="1650000"/>
            <a:ext cx="2523200" cy="61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Issue #42 『申請フォーム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リニューアル』を担当する。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全体の設計から相談したい。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60000"/>
            <a:ext cx="2643200" cy="180000"/>
          </a:xfrm>
          <a:prstGeom prst="rect">
            <a:avLst/>
          </a:prstGeom>
          <a:solidFill>
            <a:srgbClr val="D0E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7200" y="2360000"/>
            <a:ext cx="6000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1A2B4C"/>
                </a:solidFill>
                <a:latin typeface="Meiryo UI"/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200" y="2360000"/>
            <a:ext cx="23832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1A2B4C"/>
                </a:solidFill>
                <a:latin typeface="Meiryo UI"/>
              </a:rPr>
              <a:t>Claude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200" y="2540000"/>
            <a:ext cx="2523200" cy="187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Issue と CLAUDE.md を確認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しました。理解：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・入力15項目→8項目に削減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・紙申請廃止、オンライン化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・期限 4/15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latin typeface="Meiryo UI"/>
              </a:rPr>
              <a:t> 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確認したいこと：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① 削減項目は決まってる？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② 既存データの移行は？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③ 承認フローは変わる？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0400" y="1150000"/>
            <a:ext cx="2643200" cy="28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50400" y="1200000"/>
            <a:ext cx="24432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eiryo UI"/>
              </a:rPr>
              <a:t>STEP 2  方針を決める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50400" y="1470000"/>
            <a:ext cx="2643200" cy="18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10400" y="1470000"/>
            <a:ext cx="6000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1A2B4C"/>
                </a:solidFill>
                <a:latin typeface="Meiryo UI"/>
              </a:rPr>
              <a:t>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0400" y="1470000"/>
            <a:ext cx="23832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1A2B4C"/>
                </a:solidFill>
                <a:latin typeface="Meiryo UI"/>
              </a:rPr>
              <a:t>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400" y="1650000"/>
            <a:ext cx="2523200" cy="61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① 未定（現場ヒアリング）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② 移行必要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③ 変わらない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50400" y="2360000"/>
            <a:ext cx="2643200" cy="180000"/>
          </a:xfrm>
          <a:prstGeom prst="rect">
            <a:avLst/>
          </a:prstGeom>
          <a:solidFill>
            <a:srgbClr val="D0E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10400" y="2360000"/>
            <a:ext cx="6000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1A2B4C"/>
                </a:solidFill>
                <a:latin typeface="Meiryo UI"/>
              </a:rPr>
              <a:t>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10400" y="2360000"/>
            <a:ext cx="23832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1A2B4C"/>
                </a:solidFill>
                <a:latin typeface="Meiryo UI"/>
              </a:rPr>
              <a:t>Claude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400" y="2540000"/>
            <a:ext cx="2523200" cy="20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2つの案があります：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latin typeface="Meiryo UI"/>
              </a:rPr>
              <a:t> 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案A：段階的改修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 → リスク小、中途半端期間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latin typeface="Meiryo UI"/>
              </a:rPr>
              <a:t> 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案B：新画面を作って切替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 → リスク大、クリーン移行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latin typeface="Meiryo UI"/>
              </a:rPr>
              <a:t> 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過去事例を見ると『Aは2回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作業になる』記録があります。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今回の期間なら案B推奨。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43600" y="1150000"/>
            <a:ext cx="2643200" cy="28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43600" y="1200000"/>
            <a:ext cx="24432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eiryo UI"/>
              </a:rPr>
              <a:t>STEP 3  結論を Issue にポスト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43600" y="1470000"/>
            <a:ext cx="2643200" cy="18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03600" y="1470000"/>
            <a:ext cx="6000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1A2B4C"/>
                </a:solidFill>
                <a:latin typeface="Meiryo UI"/>
              </a:rPr>
              <a:t>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3600" y="1470000"/>
            <a:ext cx="23832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1A2B4C"/>
                </a:solidFill>
                <a:latin typeface="Meiryo UI"/>
              </a:rPr>
              <a:t>You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03600" y="1650000"/>
            <a:ext cx="2523200" cy="61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案Bでいこう。今の議論を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Issue #42 にコメント投稿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しておいて。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43600" y="2360000"/>
            <a:ext cx="2643200" cy="180000"/>
          </a:xfrm>
          <a:prstGeom prst="rect">
            <a:avLst/>
          </a:prstGeom>
          <a:solidFill>
            <a:srgbClr val="D0E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03600" y="2360000"/>
            <a:ext cx="6000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1A2B4C"/>
                </a:solidFill>
                <a:latin typeface="Meiryo UI"/>
              </a:rPr>
              <a:t>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3600" y="2360000"/>
            <a:ext cx="23832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1A2B4C"/>
                </a:solidFill>
                <a:latin typeface="Meiryo UI"/>
              </a:rPr>
              <a:t>Claude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03600" y="2540000"/>
            <a:ext cx="2523200" cy="187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4項目テンプレで投稿します：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latin typeface="Meiryo UI"/>
              </a:rPr>
              <a:t> 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【前提】4/15期限で全面刷新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【選択肢】A段階改修/B新設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【結論】案B採用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【却下理由】Aは過去2回作業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latin typeface="Meiryo UI"/>
              </a:rPr>
              <a:t> 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Issue #42 にコメント完了。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Draft PR の雛形も用意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しましょうか？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9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具体的な会話イメージ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チャット例②：実装・セルフレビュー・CLAUDE.md 更新まで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2643200" cy="28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200" y="1200000"/>
            <a:ext cx="24432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eiryo UI"/>
              </a:rPr>
              <a:t>STEP 4  実装を始める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70000"/>
            <a:ext cx="2643200" cy="18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7200" y="1470000"/>
            <a:ext cx="6000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1A2B4C"/>
                </a:solidFill>
                <a:latin typeface="Meiryo UI"/>
              </a:rP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200" y="1470000"/>
            <a:ext cx="23832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1A2B4C"/>
                </a:solidFill>
                <a:latin typeface="Meiryo UI"/>
              </a:rPr>
              <a:t>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7200" y="1650000"/>
            <a:ext cx="2523200" cy="43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では実装へ。フォームの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画面から作りたい。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80000"/>
            <a:ext cx="2643200" cy="180000"/>
          </a:xfrm>
          <a:prstGeom prst="rect">
            <a:avLst/>
          </a:prstGeom>
          <a:solidFill>
            <a:srgbClr val="D0E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7200" y="2180000"/>
            <a:ext cx="6000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1A2B4C"/>
                </a:solidFill>
                <a:latin typeface="Meiryo UI"/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200" y="2180000"/>
            <a:ext cx="23832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1A2B4C"/>
                </a:solidFill>
                <a:latin typeface="Meiryo UI"/>
              </a:rPr>
              <a:t>Claude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200" y="2360000"/>
            <a:ext cx="2523200" cy="223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CLAUDE.md を再確認：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・Serendie を使う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・any 禁止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・テストファースト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latin typeface="Meiryo UI"/>
              </a:rPr>
              <a:t> 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この順で進めます：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1. 型定義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2. バリデーションのテスト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3. フォーム実装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4. 確認画面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latin typeface="Meiryo UI"/>
              </a:rPr>
              <a:t> 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型定義から始めます...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0400" y="1150000"/>
            <a:ext cx="2643200" cy="28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50400" y="1200000"/>
            <a:ext cx="24432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eiryo UI"/>
              </a:rPr>
              <a:t>STEP 5  push 前にセルフレビュー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50400" y="1470000"/>
            <a:ext cx="2643200" cy="18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10400" y="1470000"/>
            <a:ext cx="6000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1A2B4C"/>
                </a:solidFill>
                <a:latin typeface="Meiryo UI"/>
              </a:rPr>
              <a:t>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0400" y="1470000"/>
            <a:ext cx="23832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1A2B4C"/>
                </a:solidFill>
                <a:latin typeface="Meiryo UI"/>
              </a:rPr>
              <a:t>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400" y="1650000"/>
            <a:ext cx="25232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/review-my-changes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50400" y="2000000"/>
            <a:ext cx="2643200" cy="180000"/>
          </a:xfrm>
          <a:prstGeom prst="rect">
            <a:avLst/>
          </a:prstGeom>
          <a:solidFill>
            <a:srgbClr val="D0E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10400" y="2000000"/>
            <a:ext cx="6000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1A2B4C"/>
                </a:solidFill>
                <a:latin typeface="Meiryo UI"/>
              </a:rPr>
              <a:t>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10400" y="2000000"/>
            <a:ext cx="23832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1A2B4C"/>
                </a:solidFill>
                <a:latin typeface="Meiryo UI"/>
              </a:rPr>
              <a:t>Claude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400" y="2180000"/>
            <a:ext cx="2523200" cy="241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✓ OK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・Serendie 使用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・any なし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・テスト3件追加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latin typeface="Meiryo UI"/>
              </a:rPr>
              <a:t> 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⚠ 気になる点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・validateZipCode にテスト無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・console.log が残っている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latin typeface="Meiryo UI"/>
              </a:rPr>
              <a:t> 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❌ CLAUDE.md 違反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・コミット prefix 抜け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latin typeface="Meiryo UI"/>
              </a:rPr>
              <a:t> 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修正しますか？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43600" y="1150000"/>
            <a:ext cx="2643200" cy="28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43600" y="1200000"/>
            <a:ext cx="24432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eiryo UI"/>
              </a:rPr>
              <a:t>STEP 6  学びを CLAUDE.md に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43600" y="1470000"/>
            <a:ext cx="2643200" cy="18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03600" y="1470000"/>
            <a:ext cx="6000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1A2B4C"/>
                </a:solidFill>
                <a:latin typeface="Meiryo UI"/>
              </a:rPr>
              <a:t>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3600" y="1470000"/>
            <a:ext cx="23832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1A2B4C"/>
                </a:solidFill>
                <a:latin typeface="Meiryo UI"/>
              </a:rPr>
              <a:t>You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03600" y="1650000"/>
            <a:ext cx="2523200" cy="79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郵便番号のバリデーションで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ハマった。ハイフン両対応が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大事と分かった。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CLAUDE.md に追記したい。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43600" y="2540000"/>
            <a:ext cx="2643200" cy="180000"/>
          </a:xfrm>
          <a:prstGeom prst="rect">
            <a:avLst/>
          </a:prstGeom>
          <a:solidFill>
            <a:srgbClr val="D0E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03600" y="2540000"/>
            <a:ext cx="6000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1A2B4C"/>
                </a:solidFill>
                <a:latin typeface="Meiryo UI"/>
              </a:rPr>
              <a:t>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3600" y="2540000"/>
            <a:ext cx="23832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1A2B4C"/>
                </a:solidFill>
                <a:latin typeface="Meiryo UI"/>
              </a:rPr>
              <a:t>Claude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03600" y="2720000"/>
            <a:ext cx="2523200" cy="169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team-standards への追記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PR を作成します：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latin typeface="Meiryo UI"/>
              </a:rPr>
              <a:t> 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## 郵便番号のバリデーション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- ハイフン あり/なし 両対応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- DB 保存は正規化後に統一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>
                <a:latin typeface="Meiryo UI"/>
              </a:rPr>
              <a:t> 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この内容で PR を作成して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よろしいですか？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仕組みの中心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team-standards リポジトリに全員の共通資産を集約し、@import で各プロジェクトから読み込む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4014800" cy="340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7200" y="1270000"/>
            <a:ext cx="3714800" cy="2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 UI"/>
              </a:rPr>
              <a:t>📦  team-standards  /  Gitea 上の1リポジトリ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200" y="1700000"/>
            <a:ext cx="36148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 dirty="0">
                <a:solidFill>
                  <a:srgbClr val="FFDC64"/>
                </a:solidFill>
                <a:latin typeface="Meiryo UI"/>
              </a:rPr>
              <a:t>CLAUDE.md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57200" y="1700000"/>
            <a:ext cx="20148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Meiryo UI"/>
              </a:rPr>
              <a:t>常に読まれる基本ルール・規約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7200" y="1920000"/>
            <a:ext cx="20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D0E1F5"/>
                </a:solidFill>
                <a:latin typeface="Meiryo UI"/>
              </a:rPr>
              <a:t>例: any禁止、Serendie使用、規約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00" y="2220000"/>
            <a:ext cx="36148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 dirty="0">
                <a:solidFill>
                  <a:srgbClr val="FFDC64"/>
                </a:solidFill>
                <a:latin typeface="Meiryo UI"/>
              </a:rPr>
              <a:t>skills/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7200" y="2220000"/>
            <a:ext cx="20148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Meiryo UI"/>
              </a:rPr>
              <a:t>呼び出し式の手順書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7200" y="2440000"/>
            <a:ext cx="20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 dirty="0">
                <a:solidFill>
                  <a:srgbClr val="D0E1F5"/>
                </a:solidFill>
                <a:latin typeface="Meiryo UI"/>
              </a:rPr>
              <a:t>例: /implement-feature, /review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200" y="2740000"/>
            <a:ext cx="36148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 dirty="0">
                <a:solidFill>
                  <a:srgbClr val="FFDC64"/>
                </a:solidFill>
                <a:latin typeface="Meiryo UI"/>
              </a:rPr>
              <a:t>agents/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7200" y="2740000"/>
            <a:ext cx="20148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 dirty="0" err="1">
                <a:solidFill>
                  <a:srgbClr val="FFFFFF"/>
                </a:solidFill>
                <a:latin typeface="Meiryo UI"/>
              </a:rPr>
              <a:t>専門秘書（分野ごと</a:t>
            </a:r>
            <a:r>
              <a:rPr sz="900" b="0" dirty="0">
                <a:solidFill>
                  <a:srgbClr val="FFFFFF"/>
                </a:solidFill>
                <a:latin typeface="Meiryo UI"/>
              </a:rPr>
              <a:t>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7200" y="2960000"/>
            <a:ext cx="20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D0E1F5"/>
                </a:solidFill>
                <a:latin typeface="Meiryo UI"/>
              </a:rPr>
              <a:t>例: security / architecture /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200" y="3260000"/>
            <a:ext cx="36148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 dirty="0">
                <a:solidFill>
                  <a:srgbClr val="FFDC64"/>
                </a:solidFill>
                <a:latin typeface="Meiryo UI"/>
              </a:rPr>
              <a:t>hooks/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57200" y="3260000"/>
            <a:ext cx="20148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 dirty="0" err="1">
                <a:solidFill>
                  <a:srgbClr val="FFFFFF"/>
                </a:solidFill>
                <a:latin typeface="Meiryo UI"/>
              </a:rPr>
              <a:t>自動化スクリプト</a:t>
            </a:r>
            <a:endParaRPr sz="900" b="0" dirty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57200" y="3480000"/>
            <a:ext cx="20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D0E1F5"/>
                </a:solidFill>
                <a:latin typeface="Meiryo UI"/>
              </a:rPr>
              <a:t>例: pre-commit, session-end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00" y="3780000"/>
            <a:ext cx="36148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 dirty="0" err="1">
                <a:solidFill>
                  <a:srgbClr val="FFDC64"/>
                </a:solidFill>
                <a:latin typeface="Meiryo UI"/>
              </a:rPr>
              <a:t>mcp</a:t>
            </a:r>
            <a:r>
              <a:rPr sz="1000" b="1" dirty="0">
                <a:solidFill>
                  <a:srgbClr val="FFDC64"/>
                </a:solidFill>
                <a:latin typeface="Meiryo UI"/>
              </a:rPr>
              <a:t>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57200" y="3780000"/>
            <a:ext cx="20148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Meiryo UI"/>
              </a:rPr>
              <a:t>外部ツール連携設定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57200" y="4000000"/>
            <a:ext cx="20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 dirty="0">
                <a:solidFill>
                  <a:srgbClr val="D0E1F5"/>
                </a:solidFill>
                <a:latin typeface="Meiryo UI"/>
              </a:rPr>
              <a:t>例: </a:t>
            </a:r>
            <a:r>
              <a:rPr sz="800" b="0" dirty="0" err="1">
                <a:solidFill>
                  <a:srgbClr val="D0E1F5"/>
                </a:solidFill>
                <a:latin typeface="Meiryo UI"/>
              </a:rPr>
              <a:t>Gitea</a:t>
            </a:r>
            <a:r>
              <a:rPr sz="800" b="0" dirty="0">
                <a:solidFill>
                  <a:srgbClr val="D0E1F5"/>
                </a:solidFill>
                <a:latin typeface="Meiryo UI"/>
              </a:rPr>
              <a:t> MCP, Slack MCP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000" y="1150000"/>
            <a:ext cx="40148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100" b="1">
                <a:solidFill>
                  <a:srgbClr val="1A2B4C"/>
                </a:solidFill>
                <a:latin typeface="Meiryo UI"/>
              </a:rPr>
              <a:t>2階層で管理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72000" y="1500000"/>
            <a:ext cx="4014800" cy="1100000"/>
          </a:xfrm>
          <a:prstGeom prst="rect">
            <a:avLst/>
          </a:prstGeom>
          <a:solidFill>
            <a:srgbClr val="D0E1F5"/>
          </a:solidFill>
          <a:ln w="19050"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72000" y="1580000"/>
            <a:ext cx="38148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1A2B4C"/>
                </a:solidFill>
                <a:latin typeface="Meiryo UI"/>
              </a:rPr>
              <a:t>共通（team-standards）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2000" y="1850000"/>
            <a:ext cx="3814800" cy="7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Serendie を使う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TypeScript で any 禁止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壁打ち→設計→実装のフロー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72000" y="2650000"/>
            <a:ext cx="40148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900" b="0">
                <a:solidFill>
                  <a:srgbClr val="8A94A6"/>
                </a:solidFill>
                <a:latin typeface="Meiryo UI"/>
              </a:rPr>
              <a:t>↑ @import で読み込む 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2000" y="2950000"/>
            <a:ext cx="4014800" cy="15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72000" y="3030000"/>
            <a:ext cx="38148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4A90E2"/>
                </a:solidFill>
                <a:latin typeface="Meiryo UI"/>
              </a:rPr>
              <a:t>プロジェクト個別（各リポジトリ）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2000" y="3300000"/>
            <a:ext cx="3814800" cy="11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プロジェクトの目的・背景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使っている技術スタック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ディレクトリ構造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プロジェクト固有の注意点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デプロイ手順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11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構成要素の具体例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CLAUDE.md は常識・Skills は手順・Subagents は専門秘書 — 役割で使い分ける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2643200" cy="30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200" y="1200000"/>
            <a:ext cx="24432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CLAUDE.md  （常識）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200" y="1480000"/>
            <a:ext cx="24432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常に読まれる。短く（200行以内）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50000"/>
            <a:ext cx="2643200" cy="290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7200" y="1830000"/>
            <a:ext cx="2443200" cy="27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dirty="0">
                <a:solidFill>
                  <a:srgbClr val="222222"/>
                </a:solidFill>
                <a:latin typeface="Consolas"/>
              </a:rPr>
              <a:t># team-standards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dirty="0">
                <a:latin typeface="Consolas"/>
              </a:rPr>
              <a:t>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dirty="0">
                <a:solidFill>
                  <a:srgbClr val="222222"/>
                </a:solidFill>
                <a:latin typeface="Consolas"/>
              </a:rPr>
              <a:t>## </a:t>
            </a:r>
            <a:r>
              <a:rPr sz="800" b="0" dirty="0" err="1">
                <a:solidFill>
                  <a:srgbClr val="222222"/>
                </a:solidFill>
                <a:latin typeface="Consolas"/>
              </a:rPr>
              <a:t>開発の流れ</a:t>
            </a:r>
            <a:endParaRPr sz="800" b="0" dirty="0">
              <a:solidFill>
                <a:srgbClr val="222222"/>
              </a:solidFill>
              <a:latin typeface="Consolas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dirty="0">
                <a:solidFill>
                  <a:srgbClr val="222222"/>
                </a:solidFill>
                <a:latin typeface="Consolas"/>
              </a:rPr>
              <a:t>1. 15分以上→Issue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dirty="0">
                <a:solidFill>
                  <a:srgbClr val="222222"/>
                </a:solidFill>
                <a:latin typeface="Consolas"/>
              </a:rPr>
              <a:t>2. 壁打ち→4項目テンプレ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dirty="0">
                <a:solidFill>
                  <a:srgbClr val="222222"/>
                </a:solidFill>
                <a:latin typeface="Consolas"/>
              </a:rPr>
              <a:t>3. Draft PR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dirty="0">
                <a:solidFill>
                  <a:srgbClr val="222222"/>
                </a:solidFill>
                <a:latin typeface="Consolas"/>
              </a:rPr>
              <a:t>4. </a:t>
            </a:r>
            <a:r>
              <a:rPr sz="800" b="0" dirty="0" err="1">
                <a:solidFill>
                  <a:srgbClr val="222222"/>
                </a:solidFill>
                <a:latin typeface="Consolas"/>
              </a:rPr>
              <a:t>セルフ</a:t>
            </a:r>
            <a:r>
              <a:rPr sz="800" b="0" dirty="0">
                <a:solidFill>
                  <a:srgbClr val="222222"/>
                </a:solidFill>
                <a:latin typeface="Consolas"/>
              </a:rPr>
              <a:t>/</a:t>
            </a:r>
            <a:r>
              <a:rPr sz="800" b="0" dirty="0" err="1">
                <a:solidFill>
                  <a:srgbClr val="222222"/>
                </a:solidFill>
                <a:latin typeface="Consolas"/>
              </a:rPr>
              <a:t>人間レビュ</a:t>
            </a:r>
            <a:r>
              <a:rPr sz="800" b="0" dirty="0">
                <a:solidFill>
                  <a:srgbClr val="222222"/>
                </a:solidFill>
                <a:latin typeface="Consolas"/>
              </a:rPr>
              <a:t>ー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dirty="0">
                <a:solidFill>
                  <a:srgbClr val="222222"/>
                </a:solidFill>
                <a:latin typeface="Consolas"/>
              </a:rPr>
              <a:t>5. </a:t>
            </a:r>
            <a:r>
              <a:rPr sz="800" b="0" dirty="0" err="1">
                <a:solidFill>
                  <a:srgbClr val="222222"/>
                </a:solidFill>
                <a:latin typeface="Consolas"/>
              </a:rPr>
              <a:t>学びは追記PR</a:t>
            </a:r>
            <a:endParaRPr sz="800" b="0" dirty="0">
              <a:solidFill>
                <a:srgbClr val="222222"/>
              </a:solidFill>
              <a:latin typeface="Consolas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dirty="0">
                <a:latin typeface="Consolas"/>
              </a:rPr>
              <a:t>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dirty="0">
                <a:solidFill>
                  <a:srgbClr val="222222"/>
                </a:solidFill>
                <a:latin typeface="Consolas"/>
              </a:rPr>
              <a:t>## </a:t>
            </a:r>
            <a:r>
              <a:rPr sz="800" b="0" dirty="0" err="1">
                <a:solidFill>
                  <a:srgbClr val="222222"/>
                </a:solidFill>
                <a:latin typeface="Consolas"/>
              </a:rPr>
              <a:t>規約</a:t>
            </a:r>
            <a:endParaRPr sz="800" b="0" dirty="0">
              <a:solidFill>
                <a:srgbClr val="222222"/>
              </a:solidFill>
              <a:latin typeface="Consolas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dirty="0">
                <a:solidFill>
                  <a:srgbClr val="222222"/>
                </a:solidFill>
                <a:latin typeface="Consolas"/>
              </a:rPr>
              <a:t>- any </a:t>
            </a:r>
            <a:r>
              <a:rPr sz="800" b="0" dirty="0" err="1">
                <a:solidFill>
                  <a:srgbClr val="222222"/>
                </a:solidFill>
                <a:latin typeface="Consolas"/>
              </a:rPr>
              <a:t>禁止</a:t>
            </a:r>
            <a:endParaRPr sz="800" b="0" dirty="0">
              <a:solidFill>
                <a:srgbClr val="222222"/>
              </a:solidFill>
              <a:latin typeface="Consolas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dirty="0">
                <a:solidFill>
                  <a:srgbClr val="222222"/>
                </a:solidFill>
                <a:latin typeface="Consolas"/>
              </a:rPr>
              <a:t>- </a:t>
            </a:r>
            <a:r>
              <a:rPr sz="800" b="0" dirty="0" err="1">
                <a:solidFill>
                  <a:srgbClr val="222222"/>
                </a:solidFill>
                <a:latin typeface="Consolas"/>
              </a:rPr>
              <a:t>Serendie</a:t>
            </a:r>
            <a:r>
              <a:rPr sz="800" b="0" dirty="0">
                <a:solidFill>
                  <a:srgbClr val="222222"/>
                </a:solidFill>
                <a:latin typeface="Consolas"/>
              </a:rPr>
              <a:t> </a:t>
            </a:r>
            <a:r>
              <a:rPr sz="800" b="0" dirty="0" err="1">
                <a:solidFill>
                  <a:srgbClr val="222222"/>
                </a:solidFill>
                <a:latin typeface="Consolas"/>
              </a:rPr>
              <a:t>使用</a:t>
            </a:r>
            <a:endParaRPr sz="800" b="0" dirty="0">
              <a:solidFill>
                <a:srgbClr val="222222"/>
              </a:solidFill>
              <a:latin typeface="Consolas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dirty="0">
                <a:solidFill>
                  <a:srgbClr val="222222"/>
                </a:solidFill>
                <a:latin typeface="Consolas"/>
              </a:rPr>
              <a:t>- </a:t>
            </a:r>
            <a:r>
              <a:rPr sz="800" b="0" dirty="0" err="1">
                <a:solidFill>
                  <a:srgbClr val="222222"/>
                </a:solidFill>
                <a:latin typeface="Consolas"/>
              </a:rPr>
              <a:t>コミット</a:t>
            </a:r>
            <a:r>
              <a:rPr sz="800" b="0" dirty="0">
                <a:solidFill>
                  <a:srgbClr val="222222"/>
                </a:solidFill>
                <a:latin typeface="Consolas"/>
              </a:rPr>
              <a:t> prefix </a:t>
            </a:r>
            <a:r>
              <a:rPr sz="800" b="0" dirty="0" err="1">
                <a:solidFill>
                  <a:srgbClr val="222222"/>
                </a:solidFill>
                <a:latin typeface="Consolas"/>
              </a:rPr>
              <a:t>必須</a:t>
            </a:r>
            <a:endParaRPr sz="800" b="0" dirty="0">
              <a:solidFill>
                <a:srgbClr val="222222"/>
              </a:solidFill>
              <a:latin typeface="Consolas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dirty="0">
                <a:latin typeface="Consolas"/>
              </a:rPr>
              <a:t>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dirty="0">
                <a:solidFill>
                  <a:srgbClr val="222222"/>
                </a:solidFill>
                <a:latin typeface="Consolas"/>
              </a:rPr>
              <a:t>## </a:t>
            </a:r>
            <a:r>
              <a:rPr sz="800" b="0" dirty="0" err="1">
                <a:solidFill>
                  <a:srgbClr val="222222"/>
                </a:solidFill>
                <a:latin typeface="Consolas"/>
              </a:rPr>
              <a:t>失敗あるある</a:t>
            </a:r>
            <a:endParaRPr sz="800" b="0" dirty="0">
              <a:solidFill>
                <a:srgbClr val="222222"/>
              </a:solidFill>
              <a:latin typeface="Consolas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dirty="0">
                <a:solidFill>
                  <a:srgbClr val="222222"/>
                </a:solidFill>
                <a:latin typeface="Consolas"/>
              </a:rPr>
              <a:t>- </a:t>
            </a:r>
            <a:r>
              <a:rPr sz="800" b="0" dirty="0" err="1">
                <a:solidFill>
                  <a:srgbClr val="222222"/>
                </a:solidFill>
                <a:latin typeface="Consolas"/>
              </a:rPr>
              <a:t>DBタイムアウト→プール</a:t>
            </a:r>
            <a:endParaRPr sz="800" b="0" dirty="0">
              <a:solidFill>
                <a:srgbClr val="222222"/>
              </a:solidFill>
              <a:latin typeface="Consolas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 dirty="0">
                <a:solidFill>
                  <a:srgbClr val="222222"/>
                </a:solidFill>
                <a:latin typeface="Consolas"/>
              </a:rPr>
              <a:t>- </a:t>
            </a:r>
            <a:r>
              <a:rPr sz="800" b="0" dirty="0" err="1">
                <a:solidFill>
                  <a:srgbClr val="222222"/>
                </a:solidFill>
                <a:latin typeface="Consolas"/>
              </a:rPr>
              <a:t>郵便番号→ハイフン対応</a:t>
            </a:r>
            <a:endParaRPr sz="800" b="0" dirty="0">
              <a:solidFill>
                <a:srgbClr val="222222"/>
              </a:solidFill>
              <a:latin typeface="Consola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50400" y="1150000"/>
            <a:ext cx="2643200" cy="30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50400" y="1200000"/>
            <a:ext cx="24432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Skills  （手順）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0400" y="1480000"/>
            <a:ext cx="24432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呼び出し式。/name で起動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50400" y="1750000"/>
            <a:ext cx="2643200" cy="290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50400" y="1830000"/>
            <a:ext cx="2443200" cy="27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---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name: implement-feature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description: 機能追加の手順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---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>
                <a:latin typeface="Consolas"/>
              </a:rPr>
              <a:t>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# 機能追加の標準手順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>
                <a:latin typeface="Consolas"/>
              </a:rPr>
              <a:t> 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1. 要件を Issue で確認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2. 過去事例を検索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3. 4項目テンプレで方針整理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4. Draft PR 作成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5. テストを先に書く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6. 実装する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7. /review-my-changes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Consolas"/>
              </a:rPr>
              <a:t>8. Ready for 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43600" y="1150000"/>
            <a:ext cx="2643200" cy="30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43600" y="1200000"/>
            <a:ext cx="24432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Subagents  （専門秘書）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3600" y="1480000"/>
            <a:ext cx="24432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特定分野の専門家を呼び出す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43600" y="1750000"/>
            <a:ext cx="2643200" cy="9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43600" y="1750000"/>
            <a:ext cx="40000" cy="90000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63600" y="1830000"/>
            <a:ext cx="24432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C03030"/>
                </a:solidFill>
                <a:latin typeface="Meiryo UI"/>
              </a:rPr>
              <a:t>security-reviewer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600" y="2070000"/>
            <a:ext cx="24432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脆弱性・認証漏れ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3600" y="2300000"/>
            <a:ext cx="2443200" cy="3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>
                <a:solidFill>
                  <a:srgbClr val="8A94A6"/>
                </a:solidFill>
                <a:latin typeface="Meiryo UI"/>
              </a:rPr>
              <a:t>SQLインジェクション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>
                <a:solidFill>
                  <a:srgbClr val="8A94A6"/>
                </a:solidFill>
                <a:latin typeface="Meiryo UI"/>
              </a:rPr>
              <a:t>権限チェック漏れ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43600" y="2680000"/>
            <a:ext cx="2643200" cy="9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43600" y="2680000"/>
            <a:ext cx="40000" cy="90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63600" y="2760000"/>
            <a:ext cx="24432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architecture-reviewer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63600" y="3000000"/>
            <a:ext cx="24432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設計の妥当性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63600" y="3230000"/>
            <a:ext cx="2443200" cy="3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>
                <a:solidFill>
                  <a:srgbClr val="8A94A6"/>
                </a:solidFill>
                <a:latin typeface="Meiryo UI"/>
              </a:rPr>
              <a:t>責務分離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>
                <a:solidFill>
                  <a:srgbClr val="8A94A6"/>
                </a:solidFill>
                <a:latin typeface="Meiryo UI"/>
              </a:rPr>
              <a:t>拡張性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43600" y="3610000"/>
            <a:ext cx="2643200" cy="9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043600" y="3610000"/>
            <a:ext cx="40000" cy="90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63600" y="3690000"/>
            <a:ext cx="24432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  <a:latin typeface="Meiryo UI"/>
              </a:rPr>
              <a:t>test-coverage-checker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63600" y="3930000"/>
            <a:ext cx="24432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テスト不足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63600" y="4160000"/>
            <a:ext cx="2443200" cy="3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>
                <a:solidFill>
                  <a:srgbClr val="8A94A6"/>
                </a:solidFill>
                <a:latin typeface="Meiryo UI"/>
              </a:rPr>
              <a:t>エッジケース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700" b="0">
                <a:solidFill>
                  <a:srgbClr val="8A94A6"/>
                </a:solidFill>
                <a:latin typeface="Meiryo UI"/>
              </a:rPr>
              <a:t>異常系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12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運用の仕組み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Hooks で自動化・MCP で外部連携・Issue と壁打ちログは型を持って習慣化する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4014800" cy="16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7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50000"/>
            <a:ext cx="4014800" cy="50000"/>
          </a:xfrm>
          <a:prstGeom prst="rect">
            <a:avLst/>
          </a:prstGeom>
          <a:solidFill>
            <a:srgbClr val="D67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200" y="1250000"/>
            <a:ext cx="3814800" cy="2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100" b="1">
                <a:solidFill>
                  <a:srgbClr val="D67E1E"/>
                </a:solidFill>
                <a:latin typeface="Meiryo UI"/>
              </a:rPr>
              <a:t>⚡ Hooks  自動化スクリプト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7200" y="1650000"/>
            <a:ext cx="14000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● コミット前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200" y="1650000"/>
            <a:ext cx="22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8A94A6"/>
                </a:solidFill>
                <a:latin typeface="Meiryo UI"/>
              </a:rPr>
              <a:t>lint と型チェックを自動実行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7200" y="1950000"/>
            <a:ext cx="14000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● セッション終了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200" y="1950000"/>
            <a:ext cx="22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8A94A6"/>
                </a:solidFill>
                <a:latin typeface="Meiryo UI"/>
              </a:rPr>
              <a:t>壁打ちログを自動保存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7200" y="2250000"/>
            <a:ext cx="14000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● PR作成時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200" y="2250000"/>
            <a:ext cx="22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8A94A6"/>
                </a:solidFill>
                <a:latin typeface="Meiryo UI"/>
              </a:rPr>
              <a:t>自動セルフレビュー起動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7200" y="2500000"/>
            <a:ext cx="37148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 dirty="0" err="1">
                <a:solidFill>
                  <a:srgbClr val="8A94A6"/>
                </a:solidFill>
                <a:latin typeface="Meiryo UI"/>
              </a:rPr>
              <a:t>本体は</a:t>
            </a:r>
            <a:r>
              <a:rPr sz="800" b="0" dirty="0">
                <a:solidFill>
                  <a:srgbClr val="8A94A6"/>
                </a:solidFill>
                <a:latin typeface="Meiryo UI"/>
              </a:rPr>
              <a:t> team-standards/hooks/ </a:t>
            </a:r>
            <a:r>
              <a:rPr sz="800" b="0" dirty="0" err="1">
                <a:solidFill>
                  <a:srgbClr val="8A94A6"/>
                </a:solidFill>
                <a:latin typeface="Meiryo UI"/>
              </a:rPr>
              <a:t>で共有</a:t>
            </a:r>
            <a:endParaRPr sz="800" b="0" dirty="0">
              <a:solidFill>
                <a:srgbClr val="8A94A6"/>
              </a:solidFill>
              <a:latin typeface="Meiryo U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7200" y="2900000"/>
            <a:ext cx="4014800" cy="16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900000"/>
            <a:ext cx="4014800" cy="5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7200" y="3000000"/>
            <a:ext cx="3814800" cy="2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100" b="1">
                <a:solidFill>
                  <a:srgbClr val="4A90E2"/>
                </a:solidFill>
                <a:latin typeface="Meiryo UI"/>
              </a:rPr>
              <a:t>🔌 MCP  外部ツール連携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7200" y="3400000"/>
            <a:ext cx="14000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● Gitea MCP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200" y="3400000"/>
            <a:ext cx="22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8A94A6"/>
                </a:solidFill>
                <a:latin typeface="Meiryo UI"/>
              </a:rPr>
              <a:t>Issue/PR/コードを秘書が読み書き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200" y="3700000"/>
            <a:ext cx="14000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● Slack MCP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200" y="3700000"/>
            <a:ext cx="22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8A94A6"/>
                </a:solidFill>
                <a:latin typeface="Meiryo UI"/>
              </a:rPr>
              <a:t>チャンネル投稿を秘書が代行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200" y="4000000"/>
            <a:ext cx="14000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● DB 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200" y="4000000"/>
            <a:ext cx="22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8A94A6"/>
                </a:solidFill>
                <a:latin typeface="Meiryo UI"/>
              </a:rPr>
              <a:t>DBスキーマを秘書が直接参照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7200" y="4250000"/>
            <a:ext cx="37148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Gitea 公式 MCP が存在する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72000" y="1150000"/>
            <a:ext cx="4014800" cy="16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672000" y="1150000"/>
            <a:ext cx="4014800" cy="5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72000" y="1250000"/>
            <a:ext cx="3814800" cy="2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100" b="1">
                <a:solidFill>
                  <a:srgbClr val="1A2B4C"/>
                </a:solidFill>
                <a:latin typeface="Meiryo UI"/>
              </a:rPr>
              <a:t>📋 Issue 起票ルール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22000" y="1650000"/>
            <a:ext cx="3714800" cy="35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22000" y="1660000"/>
            <a:ext cx="3714800" cy="33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100" b="1">
                <a:solidFill>
                  <a:srgbClr val="1A2B4C"/>
                </a:solidFill>
                <a:latin typeface="Meiryo UI"/>
              </a:rPr>
              <a:t>15分以上かかる作業は Issue 必須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2000" y="2070000"/>
            <a:ext cx="3714800" cy="8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立てる：新規機能・大きな改修・バグ調査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Meiryo UI"/>
              </a:rPr>
              <a:t>立てない：タイポ、1行修正、変数リネーム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>
                <a:latin typeface="Meiryo UI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1A2B4C"/>
                </a:solidFill>
                <a:latin typeface="Meiryo UI"/>
              </a:rPr>
              <a:t>立ち上げ期は『迷ったら立てる』でOK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72000" y="2900000"/>
            <a:ext cx="4014800" cy="16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672000" y="2900000"/>
            <a:ext cx="4014800" cy="5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72000" y="3000000"/>
            <a:ext cx="3814800" cy="2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100" b="1">
                <a:solidFill>
                  <a:srgbClr val="1A2B4C"/>
                </a:solidFill>
                <a:latin typeface="Meiryo UI"/>
              </a:rPr>
              <a:t>📝 壁打ちログ 4項目テンプレ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22000" y="3400000"/>
            <a:ext cx="3714800" cy="1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1">
                <a:solidFill>
                  <a:srgbClr val="1A2B4C"/>
                </a:solidFill>
                <a:latin typeface="Meiryo UI"/>
              </a:rPr>
              <a:t>【前提】状況・背景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1">
                <a:solidFill>
                  <a:srgbClr val="1A2B4C"/>
                </a:solidFill>
                <a:latin typeface="Meiryo UI"/>
              </a:rPr>
              <a:t>【検討した選択肢】2-3個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1">
                <a:solidFill>
                  <a:srgbClr val="1A2B4C"/>
                </a:solidFill>
                <a:latin typeface="Meiryo UI"/>
              </a:rPr>
              <a:t>【結論】採用した案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1">
                <a:solidFill>
                  <a:srgbClr val="1A2B4C"/>
                </a:solidFill>
                <a:latin typeface="Meiryo UI"/>
              </a:rPr>
              <a:t>【却下理由】選ばなかった理由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>
                <a:latin typeface="Meiryo UI"/>
              </a:rPr>
              <a:t> 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8A94A6"/>
                </a:solidFill>
                <a:latin typeface="Meiryo UI"/>
              </a:rPr>
              <a:t>→ ログ全体ではなく、結論と経緯だけ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8A94A6"/>
                </a:solidFill>
                <a:latin typeface="Meiryo UI"/>
              </a:rPr>
              <a:t>→ 5分で書ける。3日で続かない落とし穴を回避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13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レビューと並行作業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レビューは秘書と人間で2段階・並列開発は Git の基本・衝突の8割は秘書が解決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2643200" cy="30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200" y="1200000"/>
            <a:ext cx="24432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PR レビュー  2段階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0000"/>
            <a:ext cx="2643200" cy="14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200" y="1630000"/>
            <a:ext cx="24432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Meiryo UI"/>
              </a:rPr>
              <a:t>1. 秘書レビュー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200" y="1910000"/>
            <a:ext cx="2443200" cy="10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✓ CLAUDE.md 準拠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✓ テストの存在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✓ 過去の失敗事例チェック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✓ 明らかなバグ・タイポ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✓ コミットメッセージ規約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50000"/>
            <a:ext cx="2643200" cy="14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7200" y="3130000"/>
            <a:ext cx="24432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1A2B4C"/>
                </a:solidFill>
                <a:latin typeface="Meiryo UI"/>
              </a:rPr>
              <a:t>2. 人間レビュー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200" y="3410000"/>
            <a:ext cx="2443200" cy="10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✓ アプローチの妥当性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✓ 業務ロジックの意図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✓ もっと良いやり方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✓ 影響範囲の見落とし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✓ 命名・可読性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50400" y="1150000"/>
            <a:ext cx="2643200" cy="30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50400" y="1200000"/>
            <a:ext cx="24432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並列開発  問題なし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0400" y="1550000"/>
            <a:ext cx="2643200" cy="800000"/>
          </a:xfrm>
          <a:prstGeom prst="rect">
            <a:avLst/>
          </a:prstGeom>
          <a:solidFill>
            <a:srgbClr val="D0E1F5"/>
          </a:solidFill>
          <a:ln w="635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50400" y="1630000"/>
            <a:ext cx="24432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1A2B4C"/>
                </a:solidFill>
                <a:latin typeface="Meiryo UI"/>
              </a:rPr>
              <a:t>👤 Aさん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0400" y="1880000"/>
            <a:ext cx="24432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feature/issue-42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8A94A6"/>
                </a:solidFill>
                <a:latin typeface="Meiryo UI"/>
              </a:rPr>
              <a:t>独立 Claude セッション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PR #50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50400" y="2450000"/>
            <a:ext cx="2643200" cy="800000"/>
          </a:xfrm>
          <a:prstGeom prst="rect">
            <a:avLst/>
          </a:prstGeom>
          <a:solidFill>
            <a:srgbClr val="F6F8FB"/>
          </a:solidFill>
          <a:ln w="635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50400" y="2530000"/>
            <a:ext cx="24432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1A2B4C"/>
                </a:solidFill>
                <a:latin typeface="Meiryo UI"/>
              </a:rPr>
              <a:t>👤 Bさん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0400" y="2780000"/>
            <a:ext cx="24432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feature/issue-43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8A94A6"/>
                </a:solidFill>
                <a:latin typeface="Meiryo UI"/>
              </a:rPr>
              <a:t>独立 Claude セッション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PR #51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50400" y="3350000"/>
            <a:ext cx="2643200" cy="50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50400" y="3400000"/>
            <a:ext cx="26432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🏭 Gitea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50400" y="3630000"/>
            <a:ext cx="26432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800" b="0">
                <a:solidFill>
                  <a:srgbClr val="D0E1F5"/>
                </a:solidFill>
                <a:latin typeface="Meiryo UI"/>
              </a:rPr>
              <a:t>PR #50 と #51 が並列で存在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43600" y="1150000"/>
            <a:ext cx="2643200" cy="30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43600" y="1200000"/>
            <a:ext cx="24432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マージ衝突  8割は解決できる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3600" y="1550000"/>
            <a:ext cx="2643200" cy="14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43600" y="1630000"/>
            <a:ext cx="24432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Meiryo UI"/>
              </a:rPr>
              <a:t>✓ 秘書が解決できる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3600" y="1910000"/>
            <a:ext cx="2443200" cy="10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● 両方の意図を汲んだ統合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● 行追加系の単純衝突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● 指示しての解決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>
                <a:latin typeface="Meiryo UI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700" b="0">
                <a:solidFill>
                  <a:srgbClr val="8A94A6"/>
                </a:solidFill>
                <a:latin typeface="Meiryo UI"/>
              </a:rPr>
              <a:t>例：AはAPI追加、Bはリファクタ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700" b="0">
                <a:solidFill>
                  <a:srgbClr val="8A94A6"/>
                </a:solidFill>
                <a:latin typeface="Meiryo UI"/>
              </a:rPr>
              <a:t>→ 両方取り込める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43600" y="3050000"/>
            <a:ext cx="2643200" cy="14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43600" y="3130000"/>
            <a:ext cx="24432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C03030"/>
                </a:solidFill>
                <a:latin typeface="Meiryo UI"/>
              </a:rPr>
              <a:t>⚠ 人間の判断が必要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3600" y="3410000"/>
            <a:ext cx="2443200" cy="10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● 設計判断の矛盾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● セマンティック衝突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● CLAUDE.md 自体の衝突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>
                <a:latin typeface="Meiryo UI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700" b="0">
                <a:solidFill>
                  <a:srgbClr val="8A94A6"/>
                </a:solidFill>
                <a:latin typeface="Meiryo UI"/>
              </a:rPr>
              <a:t>→ チームミーティングで合意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14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CLAUDE.MD の育て方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CLAUDE.md は当番制で育て、迷ったら置き場所の判断フローで判定する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8229600" cy="32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10000"/>
            <a:ext cx="82296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1100" b="1">
                <a:solidFill>
                  <a:srgbClr val="1A2B4C"/>
                </a:solidFill>
                <a:latin typeface="Meiryo UI"/>
              </a:rPr>
              <a:t>「気づいた人が書く」だけでは続かない。仕組みと判断基準の両方が必要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0000"/>
            <a:ext cx="4014800" cy="28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200" y="1620000"/>
            <a:ext cx="38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育てる3つの仕組み   HOW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50000"/>
            <a:ext cx="4014800" cy="7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950000"/>
            <a:ext cx="320000" cy="76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950000"/>
            <a:ext cx="320000" cy="7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200" y="2030000"/>
            <a:ext cx="34648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100" b="1">
                <a:solidFill>
                  <a:srgbClr val="1A2B4C"/>
                </a:solidFill>
                <a:latin typeface="Meiryo UI"/>
              </a:rPr>
              <a:t>週1の振り返り定例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200" y="2270000"/>
            <a:ext cx="34648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15分／週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200" y="2460000"/>
            <a:ext cx="34648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ハマりどころ共有 → 当番が PR 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50000"/>
            <a:ext cx="4014800" cy="7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750000"/>
            <a:ext cx="320000" cy="76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50000"/>
            <a:ext cx="320000" cy="7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200" y="2830000"/>
            <a:ext cx="34648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100" b="1">
                <a:solidFill>
                  <a:srgbClr val="4A90E2"/>
                </a:solidFill>
                <a:latin typeface="Meiryo UI"/>
              </a:rPr>
              <a:t>その場で小さな 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200" y="3070000"/>
            <a:ext cx="34648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随時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200" y="3260000"/>
            <a:ext cx="34648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気づいた人が 3 行追記、チームがレビュー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50000"/>
            <a:ext cx="4014800" cy="7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7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550000"/>
            <a:ext cx="320000" cy="760000"/>
          </a:xfrm>
          <a:prstGeom prst="rect">
            <a:avLst/>
          </a:prstGeom>
          <a:solidFill>
            <a:srgbClr val="D67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550000"/>
            <a:ext cx="320000" cy="760000"/>
          </a:xfrm>
          <a:prstGeom prst="rect">
            <a:avLst/>
          </a:prstGeom>
          <a:noFill/>
        </p:spPr>
        <p:txBody>
          <a:bodyPr wrap="square" lIns="30000" tIns="20000" rIns="30000" bIns="20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200" y="3630000"/>
            <a:ext cx="34648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100" b="1">
                <a:solidFill>
                  <a:srgbClr val="D67E1E"/>
                </a:solidFill>
                <a:latin typeface="Meiryo UI"/>
              </a:rPr>
              <a:t>月1の刈り込み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200" y="3870000"/>
            <a:ext cx="34648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月1回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200" y="4060000"/>
            <a:ext cx="34648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古いルール削除 → 肥大化防止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2000" y="1570000"/>
            <a:ext cx="4014800" cy="28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72000" y="1620000"/>
            <a:ext cx="38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迷ったら？   置き場所の判断   WHAT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72000" y="1950000"/>
            <a:ext cx="4014800" cy="28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72000" y="2000000"/>
            <a:ext cx="24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8A94A6"/>
                </a:solidFill>
                <a:latin typeface="Meiryo UI"/>
              </a:rPr>
              <a:t>性質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2000" y="2000000"/>
            <a:ext cx="13648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8A94A6"/>
                </a:solidFill>
                <a:latin typeface="Meiryo UI"/>
              </a:rPr>
              <a:t>行き先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72000" y="2230000"/>
            <a:ext cx="40148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72000" y="2290000"/>
            <a:ext cx="24000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自分の作業スタイル・好み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2000" y="2270000"/>
            <a:ext cx="136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8A94A6"/>
                </a:solidFill>
                <a:latin typeface="Meiryo UI"/>
              </a:rPr>
              <a:t>~/.claude/CLAUDE.md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2000" y="2430000"/>
            <a:ext cx="13648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700" b="0">
                <a:solidFill>
                  <a:srgbClr val="8A94A6"/>
                </a:solidFill>
                <a:latin typeface="Meiryo UI"/>
              </a:rPr>
              <a:t>個人メモ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72000" y="2610000"/>
            <a:ext cx="4014800" cy="38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72000" y="2670000"/>
            <a:ext cx="24000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このプロジェクト固有の話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2000" y="2650000"/>
            <a:ext cx="136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4A90E2"/>
                </a:solidFill>
                <a:latin typeface="Meiryo UI"/>
              </a:rPr>
              <a:t>プロジェクト CLAUDE.md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2000" y="2810000"/>
            <a:ext cx="13648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700" b="0">
                <a:solidFill>
                  <a:srgbClr val="8A94A6"/>
                </a:solidFill>
                <a:latin typeface="Meiryo UI"/>
              </a:rPr>
              <a:t>プロジェクト層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72000" y="2990000"/>
            <a:ext cx="4014800" cy="3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72000" y="3050000"/>
            <a:ext cx="24000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複数プロジェクトに効く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2000" y="3030000"/>
            <a:ext cx="136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 dirty="0">
                <a:solidFill>
                  <a:srgbClr val="1A2B4C"/>
                </a:solidFill>
                <a:latin typeface="Meiryo UI"/>
              </a:rPr>
              <a:t>team-standards CLAUDE.md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2000" y="3190000"/>
            <a:ext cx="13648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700" b="0">
                <a:solidFill>
                  <a:srgbClr val="8A94A6"/>
                </a:solidFill>
                <a:latin typeface="Meiryo UI"/>
              </a:rPr>
              <a:t>共通層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72000" y="3370000"/>
            <a:ext cx="4014800" cy="38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772000" y="3430000"/>
            <a:ext cx="24000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Meiryo UI"/>
              </a:rPr>
              <a:t>2回以上やる手順（10行超）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2000" y="3410000"/>
            <a:ext cx="136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 dirty="0">
                <a:solidFill>
                  <a:srgbClr val="2E7D32"/>
                </a:solidFill>
                <a:latin typeface="Meiryo UI"/>
              </a:rPr>
              <a:t>team-standards/skills/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2000" y="3570000"/>
            <a:ext cx="13648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700" b="0">
                <a:solidFill>
                  <a:srgbClr val="8A94A6"/>
                </a:solidFill>
                <a:latin typeface="Meiryo UI"/>
              </a:rPr>
              <a:t>Skill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72000" y="3790000"/>
            <a:ext cx="4014800" cy="440000"/>
          </a:xfrm>
          <a:prstGeom prst="rect">
            <a:avLst/>
          </a:prstGeom>
          <a:solidFill>
            <a:srgbClr val="D0E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822000" y="3840000"/>
            <a:ext cx="3714800" cy="3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● 迷ったらプロジェクト側。後から共通に昇格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● それでも迷ったら「⚠ 判断依頼」ラベルで小さな PR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● 週1定例で合意形成 → 却下されても損失ゼロ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15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必要な SKILLS / 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必要な機能の80%は既存の公式/メジャー Skill でカバーできる — 自作はほぼ不要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8229600" cy="40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7200" y="1210000"/>
            <a:ext cx="762960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8A94A6"/>
                </a:solidFill>
                <a:latin typeface="Meiryo UI"/>
              </a:rPr>
              <a:t>調査対象: 13 シナリオ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1A2B4C"/>
                </a:solidFill>
                <a:latin typeface="Meiryo UI"/>
              </a:rPr>
              <a:t>→ 7 つはそのまま / 3 つは拡張 / 3 つは自作（合計 13 中 10 は既存活用）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00000"/>
            <a:ext cx="2643200" cy="29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700000"/>
            <a:ext cx="2643200" cy="8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7200" y="1850000"/>
            <a:ext cx="24432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8A94A6"/>
                </a:solidFill>
                <a:latin typeface="Meiryo UI"/>
              </a:rPr>
              <a:t>レイヤー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200" y="2120000"/>
            <a:ext cx="2443200" cy="4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そのまま使える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200" y="2530000"/>
            <a:ext cx="2443200" cy="4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3200" b="1">
                <a:solidFill>
                  <a:srgbClr val="1A2B4C"/>
                </a:solidFill>
                <a:latin typeface="Meiryo UI"/>
              </a:rPr>
              <a:t>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200" y="2950000"/>
            <a:ext cx="24432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0">
                <a:solidFill>
                  <a:srgbClr val="8A94A6"/>
                </a:solidFill>
                <a:latin typeface="Meiryo UI"/>
              </a:rPr>
              <a:t>10 / 13 機能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7200" y="3220000"/>
            <a:ext cx="2443200" cy="0"/>
          </a:xfrm>
          <a:prstGeom prst="line">
            <a:avLst/>
          </a:prstGeom>
          <a:ln w="9525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57200" y="3260000"/>
            <a:ext cx="24432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公式プラグイン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+ 超メジャーな Skill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+ Gitea 公式 MCP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200" y="3800000"/>
            <a:ext cx="24432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8A94A6"/>
                </a:solidFill>
                <a:latin typeface="Meiryo UI"/>
              </a:rPr>
              <a:t>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200" y="4000000"/>
            <a:ext cx="2443200" cy="5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superpowers, code-review,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claude-md-management,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feature-dev, gitea-mcp,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VoltAgent subagents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50400" y="1700000"/>
            <a:ext cx="2643200" cy="29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50400" y="1700000"/>
            <a:ext cx="2643200" cy="8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50400" y="1850000"/>
            <a:ext cx="24432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8A94A6"/>
                </a:solidFill>
                <a:latin typeface="Meiryo UI"/>
              </a:rPr>
              <a:t>レイヤー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0400" y="2120000"/>
            <a:ext cx="2443200" cy="4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4A90E2"/>
                </a:solidFill>
                <a:latin typeface="Meiryo UI"/>
              </a:rPr>
              <a:t>既存を拡張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0400" y="2530000"/>
            <a:ext cx="2443200" cy="4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3200" b="1">
                <a:solidFill>
                  <a:srgbClr val="4A90E2"/>
                </a:solidFill>
                <a:latin typeface="Meiryo UI"/>
              </a:rPr>
              <a:t>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0400" y="2950000"/>
            <a:ext cx="24432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0">
                <a:solidFill>
                  <a:srgbClr val="8A94A6"/>
                </a:solidFill>
                <a:latin typeface="Meiryo UI"/>
              </a:rPr>
              <a:t>3 / 13 機能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350400" y="3220000"/>
            <a:ext cx="2443200" cy="0"/>
          </a:xfrm>
          <a:prstGeom prst="line">
            <a:avLst/>
          </a:prstGeom>
          <a:ln w="9525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50400" y="3260000"/>
            <a:ext cx="24432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ベースは既存 Skill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数時間〜半日の追加作業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0400" y="3800000"/>
            <a:ext cx="24432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8A94A6"/>
                </a:solidFill>
                <a:latin typeface="Meiryo UI"/>
              </a:rPr>
              <a:t>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50400" y="4000000"/>
            <a:ext cx="2443200" cy="5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壁打ちログ 4項目抽出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セルフレビュー拡張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CLAUDE.md 月1刈り込み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43600" y="1700000"/>
            <a:ext cx="2643200" cy="29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7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43600" y="1700000"/>
            <a:ext cx="2643200" cy="80000"/>
          </a:xfrm>
          <a:prstGeom prst="rect">
            <a:avLst/>
          </a:prstGeom>
          <a:solidFill>
            <a:srgbClr val="D67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43600" y="1850000"/>
            <a:ext cx="24432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8A94A6"/>
                </a:solidFill>
                <a:latin typeface="Meiryo UI"/>
              </a:rPr>
              <a:t>レイヤー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3600" y="2120000"/>
            <a:ext cx="2443200" cy="4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D67E1E"/>
                </a:solidFill>
                <a:latin typeface="Meiryo UI"/>
              </a:rPr>
              <a:t>完全に自作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3600" y="2530000"/>
            <a:ext cx="2443200" cy="4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3200" b="1">
                <a:solidFill>
                  <a:srgbClr val="D67E1E"/>
                </a:solidFill>
                <a:latin typeface="Meiryo UI"/>
              </a:rPr>
              <a:t>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3600" y="2950000"/>
            <a:ext cx="24432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0">
                <a:solidFill>
                  <a:srgbClr val="8A94A6"/>
                </a:solidFill>
                <a:latin typeface="Meiryo UI"/>
              </a:rPr>
              <a:t>3 / 13 機能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43600" y="3220000"/>
            <a:ext cx="2443200" cy="0"/>
          </a:xfrm>
          <a:prstGeom prst="line">
            <a:avLst/>
          </a:prstGeom>
          <a:ln w="9525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143600" y="3260000"/>
            <a:ext cx="24432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既存のものがない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低〜中難易度で自作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3600" y="3800000"/>
            <a:ext cx="24432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8A94A6"/>
                </a:solidFill>
                <a:latin typeface="Meiryo UI"/>
              </a:rPr>
              <a:t>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3600" y="4000000"/>
            <a:ext cx="2443200" cy="5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 dirty="0">
                <a:solidFill>
                  <a:srgbClr val="222222"/>
                </a:solidFill>
                <a:latin typeface="Meiryo UI"/>
              </a:rPr>
              <a:t>/post-to-</a:t>
            </a:r>
            <a:r>
              <a:rPr sz="800" b="0" dirty="0" err="1">
                <a:solidFill>
                  <a:srgbClr val="222222"/>
                </a:solidFill>
                <a:latin typeface="Meiryo UI"/>
              </a:rPr>
              <a:t>gitea</a:t>
            </a:r>
            <a:r>
              <a:rPr sz="800" b="0" dirty="0">
                <a:solidFill>
                  <a:srgbClr val="222222"/>
                </a:solidFill>
                <a:latin typeface="Meiryo UI"/>
              </a:rPr>
              <a:t>-issue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 dirty="0">
                <a:solidFill>
                  <a:srgbClr val="222222"/>
                </a:solidFill>
                <a:latin typeface="Meiryo UI"/>
              </a:rPr>
              <a:t>team-standards </a:t>
            </a:r>
            <a:r>
              <a:rPr sz="800" b="0" dirty="0" err="1">
                <a:solidFill>
                  <a:srgbClr val="222222"/>
                </a:solidFill>
                <a:latin typeface="Meiryo UI"/>
              </a:rPr>
              <a:t>初期設定</a:t>
            </a:r>
            <a:endParaRPr sz="800" b="0" dirty="0">
              <a:solidFill>
                <a:srgbClr val="222222"/>
              </a:solidFill>
              <a:latin typeface="Meiryo UI"/>
            </a:endParaRP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 dirty="0" err="1">
                <a:solidFill>
                  <a:srgbClr val="222222"/>
                </a:solidFill>
                <a:latin typeface="Meiryo UI"/>
              </a:rPr>
              <a:t>Gitea</a:t>
            </a:r>
            <a:r>
              <a:rPr sz="800" b="0" dirty="0">
                <a:solidFill>
                  <a:srgbClr val="222222"/>
                </a:solidFill>
                <a:latin typeface="Meiryo UI"/>
              </a:rPr>
              <a:t> </a:t>
            </a:r>
            <a:r>
              <a:rPr sz="800" b="0" dirty="0" err="1">
                <a:solidFill>
                  <a:srgbClr val="222222"/>
                </a:solidFill>
                <a:latin typeface="Meiryo UI"/>
              </a:rPr>
              <a:t>自動レビュ</a:t>
            </a:r>
            <a:r>
              <a:rPr sz="800" b="0" dirty="0">
                <a:solidFill>
                  <a:srgbClr val="222222"/>
                </a:solidFill>
                <a:latin typeface="Meiryo UI"/>
              </a:rPr>
              <a:t>ー CI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16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必要な SKILLS / レイヤー1 そのまま使える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レイヤー1：Anthropic 公式プラグインとコミュニティ決定版 Skill をまず入れる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4014800" cy="28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200" y="1200000"/>
            <a:ext cx="38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Anthropic 公式プラグイン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30000"/>
            <a:ext cx="4014800" cy="32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200" y="1560000"/>
            <a:ext cx="17000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superpowers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7200" y="1560000"/>
            <a:ext cx="15148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統合ワークフロー集  (壁打ち・TDD・並列レビュー・デバッグ)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22000" y="1560000"/>
            <a:ext cx="4500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800" b="1">
                <a:solidFill>
                  <a:srgbClr val="C03030"/>
                </a:solidFill>
                <a:latin typeface="Meiryo UI"/>
              </a:rPr>
              <a:t>★必須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200" y="1900000"/>
            <a:ext cx="17000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claude-md-management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7200" y="1900000"/>
            <a:ext cx="15148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CLAUDE.md 品質監査  (/revise-claude-md)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22000" y="1900000"/>
            <a:ext cx="4500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800" b="1">
                <a:solidFill>
                  <a:srgbClr val="C03030"/>
                </a:solidFill>
                <a:latin typeface="Meiryo UI"/>
              </a:rPr>
              <a:t>★必須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10000"/>
            <a:ext cx="4014800" cy="32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7200" y="2240000"/>
            <a:ext cx="17000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code-review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7200" y="2240000"/>
            <a:ext cx="15148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5並列エージェント PR レビュー  (信頼度フィルタ)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22000" y="2240000"/>
            <a:ext cx="4500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800" b="1">
                <a:solidFill>
                  <a:srgbClr val="C03030"/>
                </a:solidFill>
                <a:latin typeface="Meiryo UI"/>
              </a:rPr>
              <a:t>★必須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200" y="2580000"/>
            <a:ext cx="17000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 dirty="0">
                <a:solidFill>
                  <a:srgbClr val="1A2B4C"/>
                </a:solidFill>
                <a:latin typeface="Meiryo UI"/>
              </a:rPr>
              <a:t>feature-dev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7200" y="2580000"/>
            <a:ext cx="15148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 dirty="0">
                <a:solidFill>
                  <a:srgbClr val="222222"/>
                </a:solidFill>
                <a:latin typeface="Meiryo UI"/>
              </a:rPr>
              <a:t>7段階機能開発フロー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22000" y="2580000"/>
            <a:ext cx="4500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800" b="1">
                <a:solidFill>
                  <a:srgbClr val="4A90E2"/>
                </a:solidFill>
                <a:latin typeface="Meiryo UI"/>
              </a:rPr>
              <a:t>推奨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90000"/>
            <a:ext cx="4014800" cy="32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7200" y="2920000"/>
            <a:ext cx="17000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pr-review-toolkit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07200" y="2920000"/>
            <a:ext cx="15148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6種類の専門レビュー  (コメント/テスト/型/品質)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22000" y="2920000"/>
            <a:ext cx="4500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800" b="1">
                <a:solidFill>
                  <a:srgbClr val="4A90E2"/>
                </a:solidFill>
                <a:latin typeface="Meiryo UI"/>
              </a:rPr>
              <a:t>推奨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200" y="3260000"/>
            <a:ext cx="17000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commit-commands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07200" y="3260000"/>
            <a:ext cx="15148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Git 自動化  (/commit, /commit-push-pr)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22000" y="3260000"/>
            <a:ext cx="4500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800" b="1">
                <a:solidFill>
                  <a:srgbClr val="4A90E2"/>
                </a:solidFill>
                <a:latin typeface="Meiryo UI"/>
              </a:rPr>
              <a:t>推奨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570000"/>
            <a:ext cx="4014800" cy="32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57200" y="3600000"/>
            <a:ext cx="17000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hookify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07200" y="3600000"/>
            <a:ext cx="15148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カスタム Hook 作成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22000" y="3600000"/>
            <a:ext cx="4500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800" b="1">
                <a:solidFill>
                  <a:srgbClr val="8A94A6"/>
                </a:solidFill>
                <a:latin typeface="Meiryo UI"/>
              </a:rPr>
              <a:t>必要時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200" y="3940000"/>
            <a:ext cx="17000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skill-creator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07200" y="3940000"/>
            <a:ext cx="15148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自作 Skill のテンプレ生成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22000" y="3940000"/>
            <a:ext cx="4500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800" b="1">
                <a:solidFill>
                  <a:srgbClr val="8A94A6"/>
                </a:solidFill>
                <a:latin typeface="Meiryo UI"/>
              </a:rPr>
              <a:t>必要時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72000" y="1150000"/>
            <a:ext cx="4014800" cy="28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72000" y="1200000"/>
            <a:ext cx="38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コミュニティ決定版 Skill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72000" y="1530000"/>
            <a:ext cx="4014800" cy="5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72000" y="1590000"/>
            <a:ext cx="33148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obra/superpowers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6800" y="1590000"/>
            <a:ext cx="4500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800" b="1">
                <a:solidFill>
                  <a:srgbClr val="C03030"/>
                </a:solidFill>
                <a:latin typeface="Meiryo UI"/>
              </a:rPr>
              <a:t>★必須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72000" y="1820000"/>
            <a:ext cx="38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144k stars  ·  統合スキル集の決定版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72000" y="2090000"/>
            <a:ext cx="4014800" cy="5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72000" y="2150000"/>
            <a:ext cx="33148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VoltAgent/awesome-claude-code-subagents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6800" y="2150000"/>
            <a:ext cx="4500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800" b="1">
                <a:solidFill>
                  <a:srgbClr val="C03030"/>
                </a:solidFill>
                <a:latin typeface="Meiryo UI"/>
              </a:rPr>
              <a:t>★必須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72000" y="2380000"/>
            <a:ext cx="38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130+ subagents  ·  security/architect/test-coverage 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72000" y="2650000"/>
            <a:ext cx="4014800" cy="5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772000" y="2710000"/>
            <a:ext cx="33148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gitea/gitea-mcp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6800" y="2710000"/>
            <a:ext cx="4500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800" b="1">
                <a:solidFill>
                  <a:srgbClr val="C03030"/>
                </a:solidFill>
                <a:latin typeface="Meiryo UI"/>
              </a:rPr>
              <a:t>★必須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72000" y="2940000"/>
            <a:ext cx="38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Gitea 公式  ·  Issue/PR/コード操作の MCP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72000" y="3210000"/>
            <a:ext cx="4014800" cy="5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772000" y="3270000"/>
            <a:ext cx="33148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hesreallyhim/awesome-claude-code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6800" y="3270000"/>
            <a:ext cx="4500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800" b="1">
                <a:solidFill>
                  <a:srgbClr val="8A94A6"/>
                </a:solidFill>
                <a:latin typeface="Meiryo UI"/>
              </a:rPr>
              <a:t>参考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72000" y="3500000"/>
            <a:ext cx="38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キュレーション  ·  リポジトリ集の決定版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72000" y="3770000"/>
            <a:ext cx="4014800" cy="52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772000" y="3830000"/>
            <a:ext cx="33148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claude-config-doctor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36800" y="3830000"/>
            <a:ext cx="4500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800" b="1">
                <a:solidFill>
                  <a:srgbClr val="8A94A6"/>
                </a:solidFill>
                <a:latin typeface="Meiryo UI"/>
              </a:rPr>
              <a:t>参考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72000" y="4060000"/>
            <a:ext cx="38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CLAUDE.md ツール  ·  複数ファイルの conflict 検出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17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必要な SKILLS / レイヤー2+3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レイヤー2と3：既存を少し拡張すれば3つ、ゼロから作るのは3つだけ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4014800" cy="28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200" y="1200000"/>
            <a:ext cx="38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レイヤー 2   既存を拡張する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30000"/>
            <a:ext cx="4014800" cy="1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530000"/>
            <a:ext cx="40000" cy="100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7200" y="1590000"/>
            <a:ext cx="38148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1A2B4C"/>
                </a:solidFill>
                <a:latin typeface="Meiryo UI"/>
              </a:rPr>
              <a:t>壁打ちログ → 4項目抽出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200" y="1830000"/>
            <a:ext cx="3814800" cy="4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00" b="0">
                <a:solidFill>
                  <a:srgbClr val="8A94A6"/>
                </a:solidFill>
                <a:latin typeface="Meiryo UI"/>
              </a:rPr>
              <a:t>ベース: superpowers:brainstorming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00" b="0">
                <a:solidFill>
                  <a:srgbClr val="8A94A6"/>
                </a:solidFill>
                <a:latin typeface="Meiryo UI"/>
              </a:rPr>
              <a:t>       + Meeting Notes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200" y="2180000"/>
            <a:ext cx="331480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「前提・選択肢・結論・却下理由」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の抽出ロジックを追加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72000" y="2230000"/>
            <a:ext cx="5500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800" b="1">
                <a:solidFill>
                  <a:srgbClr val="D67E1E"/>
                </a:solidFill>
                <a:latin typeface="Meiryo UI"/>
              </a:rPr>
              <a:t>4-8 時間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000"/>
            <a:ext cx="4014800" cy="1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560000"/>
            <a:ext cx="40000" cy="100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7200" y="2620000"/>
            <a:ext cx="38148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1A2B4C"/>
                </a:solidFill>
                <a:latin typeface="Meiryo UI"/>
              </a:rPr>
              <a:t>セルフレビュー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200" y="2860000"/>
            <a:ext cx="3814800" cy="4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00" b="0">
                <a:solidFill>
                  <a:srgbClr val="8A94A6"/>
                </a:solidFill>
                <a:latin typeface="Meiryo UI"/>
              </a:rPr>
              <a:t>ベース: Git Diff Reviewer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200" y="3210000"/>
            <a:ext cx="331480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CLAUDE.md 準拠チェック・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テスト存在確認を追加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72000" y="3260000"/>
            <a:ext cx="5500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800" b="1">
                <a:solidFill>
                  <a:srgbClr val="D67E1E"/>
                </a:solidFill>
                <a:latin typeface="Meiryo UI"/>
              </a:rPr>
              <a:t>4-6 時間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90000"/>
            <a:ext cx="4014800" cy="1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590000"/>
            <a:ext cx="40000" cy="100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7200" y="3650000"/>
            <a:ext cx="38148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1A2B4C"/>
                </a:solidFill>
                <a:latin typeface="Meiryo UI"/>
              </a:rPr>
              <a:t>CLAUDE.md 月1刈り込み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200" y="3890000"/>
            <a:ext cx="3814800" cy="4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00" b="0">
                <a:solidFill>
                  <a:srgbClr val="8A94A6"/>
                </a:solidFill>
                <a:latin typeface="Meiryo UI"/>
              </a:rPr>
              <a:t>ベース: claude-md-management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00" b="0">
                <a:solidFill>
                  <a:srgbClr val="8A94A6"/>
                </a:solidFill>
                <a:latin typeface="Meiryo UI"/>
              </a:rPr>
              <a:t>       + Auto Dream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200" y="4240000"/>
            <a:ext cx="331480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200行上限監視と月1トリガー、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削除判定ロジック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72000" y="4290000"/>
            <a:ext cx="5500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800" b="1">
                <a:solidFill>
                  <a:srgbClr val="D67E1E"/>
                </a:solidFill>
                <a:latin typeface="Meiryo UI"/>
              </a:rPr>
              <a:t>6-10 時間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72000" y="1150000"/>
            <a:ext cx="4014800" cy="280000"/>
          </a:xfrm>
          <a:prstGeom prst="rect">
            <a:avLst/>
          </a:prstGeom>
          <a:solidFill>
            <a:srgbClr val="D67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72000" y="1200000"/>
            <a:ext cx="38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レイヤー 3   ゼロから自作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2000" y="1530000"/>
            <a:ext cx="4014800" cy="1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7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672000" y="1530000"/>
            <a:ext cx="40000" cy="1000000"/>
          </a:xfrm>
          <a:prstGeom prst="rect">
            <a:avLst/>
          </a:prstGeom>
          <a:solidFill>
            <a:srgbClr val="D67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72000" y="1590000"/>
            <a:ext cx="33148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1A2B4C"/>
                </a:solidFill>
                <a:latin typeface="Meiryo UI"/>
              </a:rPr>
              <a:t>/post-to-gitea-issue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6800" y="1590000"/>
            <a:ext cx="5500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800" b="1">
                <a:solidFill>
                  <a:srgbClr val="D67E1E"/>
                </a:solidFill>
                <a:latin typeface="Meiryo UI"/>
              </a:rPr>
              <a:t>2-4 時間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2000" y="1830000"/>
            <a:ext cx="38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壁打ちログ要約を Issue にコメント投稿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72000" y="2050000"/>
            <a:ext cx="381480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8A94A6"/>
                </a:solidFill>
                <a:latin typeface="Meiryo UI"/>
              </a:rPr>
              <a:t>Gitea MCP 経由で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8A94A6"/>
                </a:solidFill>
                <a:latin typeface="Meiryo UI"/>
              </a:rPr>
              <a:t>create_issue_comment を呼ぶ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72000" y="2350000"/>
            <a:ext cx="38148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700" b="0">
                <a:solidFill>
                  <a:srgbClr val="8A94A6"/>
                </a:solidFill>
                <a:latin typeface="Meiryo UI"/>
              </a:rPr>
              <a:t>参考: markwylde/claude-code-gitea-action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72000" y="2560000"/>
            <a:ext cx="4014800" cy="1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7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672000" y="2560000"/>
            <a:ext cx="40000" cy="1000000"/>
          </a:xfrm>
          <a:prstGeom prst="rect">
            <a:avLst/>
          </a:prstGeom>
          <a:solidFill>
            <a:srgbClr val="D67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72000" y="2620000"/>
            <a:ext cx="33148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 dirty="0">
                <a:solidFill>
                  <a:srgbClr val="1A2B4C"/>
                </a:solidFill>
                <a:latin typeface="Meiryo UI"/>
              </a:rPr>
              <a:t>team-standards </a:t>
            </a:r>
            <a:r>
              <a:rPr sz="1000" b="1" dirty="0" err="1">
                <a:solidFill>
                  <a:srgbClr val="1A2B4C"/>
                </a:solidFill>
                <a:latin typeface="Meiryo UI"/>
              </a:rPr>
              <a:t>初期設定</a:t>
            </a:r>
            <a:endParaRPr sz="1000" b="1" dirty="0">
              <a:solidFill>
                <a:srgbClr val="1A2B4C"/>
              </a:solidFill>
              <a:latin typeface="Meiryo U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086800" y="2620000"/>
            <a:ext cx="5500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800" b="1">
                <a:solidFill>
                  <a:srgbClr val="D67E1E"/>
                </a:solidFill>
                <a:latin typeface="Meiryo UI"/>
              </a:rPr>
              <a:t>半日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72000" y="2860000"/>
            <a:ext cx="38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共有リポジトリの雛形を作る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2000" y="3080000"/>
            <a:ext cx="381480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8A94A6"/>
                </a:solidFill>
                <a:latin typeface="Meiryo UI"/>
              </a:rPr>
              <a:t>CLAUDE.md 初版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8A94A6"/>
                </a:solidFill>
                <a:latin typeface="Meiryo UI"/>
              </a:rPr>
              <a:t>Skills/agents/hooks/mcp の構造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72000" y="3380000"/>
            <a:ext cx="38148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700" b="0">
                <a:solidFill>
                  <a:srgbClr val="8A94A6"/>
                </a:solidFill>
                <a:latin typeface="Meiryo UI"/>
              </a:rPr>
              <a:t>参考: anthropics/claude-plugins-official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72000" y="3590000"/>
            <a:ext cx="4014800" cy="1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7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672000" y="3590000"/>
            <a:ext cx="40000" cy="1000000"/>
          </a:xfrm>
          <a:prstGeom prst="rect">
            <a:avLst/>
          </a:prstGeom>
          <a:solidFill>
            <a:srgbClr val="D67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72000" y="3650000"/>
            <a:ext cx="33148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1A2B4C"/>
                </a:solidFill>
                <a:latin typeface="Meiryo UI"/>
              </a:rPr>
              <a:t>Gitea 自動レビュー CI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86800" y="3650000"/>
            <a:ext cx="5500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800" b="1">
                <a:solidFill>
                  <a:srgbClr val="D67E1E"/>
                </a:solidFill>
                <a:latin typeface="Meiryo UI"/>
              </a:rPr>
              <a:t>1-2 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72000" y="3890000"/>
            <a:ext cx="38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Meiryo UI"/>
              </a:rPr>
              <a:t>PR ラベルで Claude が自動レビュー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72000" y="4110000"/>
            <a:ext cx="381480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8A94A6"/>
                </a:solidFill>
                <a:latin typeface="Meiryo UI"/>
              </a:rPr>
              <a:t>Gitea Actions で CI 構築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8A94A6"/>
                </a:solidFill>
                <a:latin typeface="Meiryo UI"/>
              </a:rPr>
              <a:t>※Phase 3 以降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72000" y="4410000"/>
            <a:ext cx="3814800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700" b="0">
                <a:solidFill>
                  <a:srgbClr val="8A94A6"/>
                </a:solidFill>
                <a:latin typeface="Meiryo UI"/>
              </a:rPr>
              <a:t>参考: markwylde/claude-code-gitea-action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18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必要な SKILLS / 導入順序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導入順序：Day 1 に必須セット → Week 1 で強化 → Month 1 で仕上げ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2676533" cy="60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200" y="1200000"/>
            <a:ext cx="247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C8D7E6"/>
                </a:solidFill>
                <a:latin typeface="Meiryo UI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200" y="1380000"/>
            <a:ext cx="2476533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eiryo UI"/>
              </a:rPr>
              <a:t>必須セット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200" y="1600000"/>
            <a:ext cx="2476533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C8D7E6"/>
                </a:solidFill>
                <a:latin typeface="Meiryo UI"/>
              </a:rPr>
              <a:t>Day 1  ·  2時間以内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50000"/>
            <a:ext cx="2676533" cy="2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7200" y="1810000"/>
            <a:ext cx="3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7200" y="1810000"/>
            <a:ext cx="221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Gitea MCP インストール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200" y="1810000"/>
            <a:ext cx="221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各自 Token 発行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200" y="2040000"/>
            <a:ext cx="221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claude mcp add 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200" y="2500000"/>
            <a:ext cx="3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200" y="2500000"/>
            <a:ext cx="221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公式プラグイン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200" y="2500000"/>
            <a:ext cx="221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/plugin install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200" y="2730000"/>
            <a:ext cx="221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  superpowers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200" y="2960000"/>
            <a:ext cx="221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  claude-md-management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200" y="3420000"/>
            <a:ext cx="3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200" y="3420000"/>
            <a:ext cx="221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 dirty="0">
                <a:solidFill>
                  <a:srgbClr val="222222"/>
                </a:solidFill>
                <a:latin typeface="Meiryo UI"/>
              </a:rPr>
              <a:t>team-standards </a:t>
            </a:r>
            <a:r>
              <a:rPr sz="900" b="1" dirty="0" err="1">
                <a:solidFill>
                  <a:srgbClr val="222222"/>
                </a:solidFill>
                <a:latin typeface="Meiryo UI"/>
              </a:rPr>
              <a:t>作成</a:t>
            </a:r>
            <a:endParaRPr sz="900" b="1" dirty="0">
              <a:solidFill>
                <a:srgbClr val="222222"/>
              </a:solidFill>
              <a:latin typeface="Meiryo U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7200" y="3420000"/>
            <a:ext cx="221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Gitea にリポジトリ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200" y="3650000"/>
            <a:ext cx="221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CLAUDE.md 初版を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200" y="3880000"/>
            <a:ext cx="221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3名で合意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33733" y="1150000"/>
            <a:ext cx="2676533" cy="60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33733" y="1200000"/>
            <a:ext cx="247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C8D7E6"/>
                </a:solidFill>
                <a:latin typeface="Meiryo UI"/>
              </a:rPr>
              <a:t>PHASE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3733" y="1380000"/>
            <a:ext cx="2476533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eiryo UI"/>
              </a:rPr>
              <a:t>強化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3733" y="1600000"/>
            <a:ext cx="2476533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C8D7E6"/>
                </a:solidFill>
                <a:latin typeface="Meiryo UI"/>
              </a:rPr>
              <a:t>Week 1  ·  数日〜1週間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33733" y="1750000"/>
            <a:ext cx="2676533" cy="2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13733" y="1810000"/>
            <a:ext cx="3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4A90E2"/>
                </a:solidFill>
                <a:latin typeface="Meiryo UI"/>
              </a:rPr>
              <a:t>4.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3733" y="1810000"/>
            <a:ext cx="221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追加プラグイン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3733" y="1810000"/>
            <a:ext cx="221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/plugin install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3733" y="2040000"/>
            <a:ext cx="221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  code-review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3733" y="2270000"/>
            <a:ext cx="221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  feature-dev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3733" y="2730000"/>
            <a:ext cx="3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4A90E2"/>
                </a:solidFill>
                <a:latin typeface="Meiryo UI"/>
              </a:rPr>
              <a:t>5.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3733" y="2730000"/>
            <a:ext cx="221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VoltAgent subagents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3733" y="2730000"/>
            <a:ext cx="221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必要なものを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3733" y="2960000"/>
            <a:ext cx="221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 dirty="0">
                <a:solidFill>
                  <a:srgbClr val="8A94A6"/>
                </a:solidFill>
                <a:latin typeface="Meiryo UI"/>
              </a:rPr>
              <a:t>team-standards/agents/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3733" y="3190000"/>
            <a:ext cx="221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にコピー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3733" y="3650000"/>
            <a:ext cx="3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4A90E2"/>
                </a:solidFill>
                <a:latin typeface="Meiryo UI"/>
              </a:rPr>
              <a:t>6.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13733" y="3650000"/>
            <a:ext cx="221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/post-to-gitea-issue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3733" y="3650000"/>
            <a:ext cx="221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自作 slash command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13733" y="3880000"/>
            <a:ext cx="221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2-4 時間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10266" y="1150000"/>
            <a:ext cx="2676533" cy="60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10266" y="1200000"/>
            <a:ext cx="247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C8D7E6"/>
                </a:solidFill>
                <a:latin typeface="Meiryo UI"/>
              </a:rPr>
              <a:t>PHASE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10266" y="1380000"/>
            <a:ext cx="2476533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eiryo UI"/>
              </a:rPr>
              <a:t>仕上げ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10266" y="1600000"/>
            <a:ext cx="2476533" cy="1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C8D7E6"/>
                </a:solidFill>
                <a:latin typeface="Meiryo UI"/>
              </a:rPr>
              <a:t>Month 1  ·  余裕があれば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10266" y="1750000"/>
            <a:ext cx="2676533" cy="2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090266" y="1810000"/>
            <a:ext cx="3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  <a:latin typeface="Meiryo UI"/>
              </a:rPr>
              <a:t>7.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90266" y="1810000"/>
            <a:ext cx="221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セルフレビュー拡張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90266" y="1810000"/>
            <a:ext cx="221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Git Diff Reviewer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90266" y="2040000"/>
            <a:ext cx="221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+ CLAUDE.md 準拠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90266" y="2500000"/>
            <a:ext cx="3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  <a:latin typeface="Meiryo UI"/>
              </a:rPr>
              <a:t>8.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90266" y="2500000"/>
            <a:ext cx="221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CLAUDE.md 刈り込み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90266" y="2500000"/>
            <a:ext cx="221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月1トリガー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90266" y="2730000"/>
            <a:ext cx="221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Hook で自動化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90266" y="3190000"/>
            <a:ext cx="3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  <a:latin typeface="Meiryo UI"/>
              </a:rPr>
              <a:t>9.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90266" y="3190000"/>
            <a:ext cx="221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Gitea CI 連携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90266" y="3190000"/>
            <a:ext cx="221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※任意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90266" y="3420000"/>
            <a:ext cx="221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claude-code-gitea-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90266" y="3650000"/>
            <a:ext cx="221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action を参考に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19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進め方の提案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3名×3ヶ月のパイロットで立ち上げ、成功したら残り7名に展開する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8229600" cy="55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30000"/>
            <a:ext cx="8229600" cy="240445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1300" b="1" dirty="0" err="1">
                <a:solidFill>
                  <a:srgbClr val="FFFFFF"/>
                </a:solidFill>
                <a:latin typeface="Meiryo UI"/>
              </a:rPr>
              <a:t>いきなり全員ではなく</a:t>
            </a:r>
            <a:r>
              <a:rPr sz="1300" b="1" dirty="0">
                <a:solidFill>
                  <a:srgbClr val="FFFFFF"/>
                </a:solidFill>
                <a:latin typeface="Meiryo UI"/>
              </a:rPr>
              <a:t>、</a:t>
            </a:r>
            <a:r>
              <a:rPr lang="ja-JP" altLang="en-US" sz="1300" b="1" dirty="0">
                <a:solidFill>
                  <a:srgbClr val="FFFFFF"/>
                </a:solidFill>
                <a:latin typeface="Meiryo UI"/>
              </a:rPr>
              <a:t>数</a:t>
            </a:r>
            <a:r>
              <a:rPr sz="1300" b="1" dirty="0" err="1">
                <a:solidFill>
                  <a:srgbClr val="FFFFFF"/>
                </a:solidFill>
                <a:latin typeface="Meiryo UI"/>
              </a:rPr>
              <a:t>名で試す</a:t>
            </a:r>
            <a:endParaRPr sz="1300" b="1" dirty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470000"/>
            <a:ext cx="82296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900" b="0">
                <a:solidFill>
                  <a:srgbClr val="D0E1F5"/>
                </a:solidFill>
                <a:latin typeface="Meiryo UI"/>
              </a:rPr>
              <a:t>失敗コスト 1/3  |  ワークフローを磨ける  |  上司を説得しやすい  |  成功事例を作れる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50000"/>
            <a:ext cx="2676533" cy="45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7200" y="1900000"/>
            <a:ext cx="247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eiryo UI"/>
              </a:rPr>
              <a:t>1ヶ月目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200" y="2070000"/>
            <a:ext cx="2476533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 UI"/>
              </a:rPr>
              <a:t>準備と慣らし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00000"/>
            <a:ext cx="2676533" cy="2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7200" y="2450000"/>
            <a:ext cx="2376533" cy="18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 dirty="0">
                <a:solidFill>
                  <a:srgbClr val="222222"/>
                </a:solidFill>
                <a:latin typeface="Meiryo UI"/>
              </a:rPr>
              <a:t>● team-standards </a:t>
            </a:r>
            <a:r>
              <a:rPr sz="900" b="0" dirty="0" err="1">
                <a:solidFill>
                  <a:srgbClr val="222222"/>
                </a:solidFill>
                <a:latin typeface="Meiryo UI"/>
              </a:rPr>
              <a:t>リポジトリ作成</a:t>
            </a:r>
            <a:endParaRPr sz="900" b="0" dirty="0">
              <a:solidFill>
                <a:srgbClr val="222222"/>
              </a:solidFill>
              <a:latin typeface="Meiryo UI"/>
            </a:endParaRP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 dirty="0">
                <a:solidFill>
                  <a:srgbClr val="222222"/>
                </a:solidFill>
                <a:latin typeface="Meiryo UI"/>
              </a:rPr>
              <a:t>● CLAUDE.md 初版を3名で書く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 dirty="0">
                <a:solidFill>
                  <a:srgbClr val="222222"/>
                </a:solidFill>
                <a:latin typeface="Meiryo UI"/>
              </a:rPr>
              <a:t>● </a:t>
            </a:r>
            <a:r>
              <a:rPr sz="900" b="0" dirty="0" err="1">
                <a:solidFill>
                  <a:srgbClr val="222222"/>
                </a:solidFill>
                <a:latin typeface="Meiryo UI"/>
              </a:rPr>
              <a:t>小さな</a:t>
            </a:r>
            <a:r>
              <a:rPr sz="900" b="0" dirty="0">
                <a:solidFill>
                  <a:srgbClr val="222222"/>
                </a:solidFill>
                <a:latin typeface="Meiryo UI"/>
              </a:rPr>
              <a:t> Issue </a:t>
            </a:r>
            <a:r>
              <a:rPr sz="900" b="0" dirty="0" err="1">
                <a:solidFill>
                  <a:srgbClr val="222222"/>
                </a:solidFill>
                <a:latin typeface="Meiryo UI"/>
              </a:rPr>
              <a:t>で全フロー試す</a:t>
            </a:r>
            <a:endParaRPr sz="900" b="0" dirty="0">
              <a:solidFill>
                <a:srgbClr val="222222"/>
              </a:solidFill>
              <a:latin typeface="Meiryo UI"/>
            </a:endParaRP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 dirty="0">
                <a:solidFill>
                  <a:srgbClr val="222222"/>
                </a:solidFill>
                <a:latin typeface="Meiryo UI"/>
              </a:rPr>
              <a:t>● 4項目テンプレを使い始める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33733" y="1850000"/>
            <a:ext cx="2676533" cy="45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33733" y="1900000"/>
            <a:ext cx="247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eiryo UI"/>
              </a:rPr>
              <a:t>2ヶ月目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3733" y="2070000"/>
            <a:ext cx="2476533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 UI"/>
              </a:rPr>
              <a:t>本格運用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33733" y="2300000"/>
            <a:ext cx="2676533" cy="2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83733" y="2450000"/>
            <a:ext cx="2376533" cy="18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3名の実作業をフル運用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Skills・Subagents を追加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週1振り返りで CLAUDE.md 更新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当番制を徹底する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10266" y="1850000"/>
            <a:ext cx="2676533" cy="45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10266" y="1900000"/>
            <a:ext cx="2476533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Meiryo UI"/>
              </a:rPr>
              <a:t>3ヶ月目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0266" y="2070000"/>
            <a:ext cx="2476533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 UI"/>
              </a:rPr>
              <a:t>チェックと展開判断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10266" y="2300000"/>
            <a:ext cx="2676533" cy="2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60266" y="2450000"/>
            <a:ext cx="2376533" cy="18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3ヶ月目チェック項目を確認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推進役の2週間休暇テスト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成果と課題を整理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残り7名への展開を判断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20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リスク対策と撤退基準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撤退条件と推進役依存の罠対策を、最初から設計に組み込む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4014800" cy="28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200" y="1200000"/>
            <a:ext cx="38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チェックポイントと撤退条件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30000"/>
            <a:ext cx="4014800" cy="14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200" y="1610000"/>
            <a:ext cx="38148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4A90E2"/>
                </a:solidFill>
                <a:latin typeface="Meiryo UI"/>
              </a:rPr>
              <a:t>3ヶ月目チェック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200" y="1870000"/>
            <a:ext cx="3814800" cy="10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□ 推進役以外の CLAUDE.md 更新 PR が5件以上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□ 壁打ちログ4項目が週2件以上蓄積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□ CODEOWNERS 2人とも機能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□ 参加3名が『慣れた』と実感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30000"/>
            <a:ext cx="4014800" cy="14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7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7200" y="3110000"/>
            <a:ext cx="38148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D67E1E"/>
                </a:solidFill>
                <a:latin typeface="Meiryo UI"/>
              </a:rPr>
              <a:t>6ヶ月目チェック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200" y="3370000"/>
            <a:ext cx="3814800" cy="10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□ 2週間休暇テストで回るか検証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□ 集合知化の実感（アンケート）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□ 定量指標（PR数・レビュー時間）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□ 残り7名への展開判断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72000" y="1150000"/>
            <a:ext cx="4014800" cy="28000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72000" y="1200000"/>
            <a:ext cx="38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推進役依存の罠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72000" y="1530000"/>
            <a:ext cx="4014800" cy="1000000"/>
          </a:xfrm>
          <a:prstGeom prst="rect">
            <a:avLst/>
          </a:prstGeom>
          <a:solidFill>
            <a:srgbClr val="FEF3F3"/>
          </a:solidFill>
          <a:ln w="6350">
            <a:solidFill>
              <a:srgbClr val="C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72000" y="1610000"/>
            <a:ext cx="3814800" cy="2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C03030"/>
                </a:solidFill>
                <a:latin typeface="Meiryo UI"/>
              </a:rPr>
              <a:t>⚠ 最大の失敗シナリオ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2000" y="1870000"/>
            <a:ext cx="3814800" cy="6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推進役Aさんだけが CLAUDE.md を更新、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Meiryo UI"/>
              </a:rPr>
              <a:t>他は『Aさんの秘書に聞く消費者』に。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00" b="1">
                <a:solidFill>
                  <a:srgbClr val="C03030"/>
                </a:solidFill>
                <a:latin typeface="Meiryo UI"/>
              </a:rPr>
              <a:t>Aさんの異動で全員立ち尽くす。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2000" y="2630000"/>
            <a:ext cx="4014800" cy="28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1A2B4C"/>
                </a:solidFill>
                <a:latin typeface="Meiryo UI"/>
              </a:rPr>
              <a:t>4つの対策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2000" y="2950000"/>
            <a:ext cx="2800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1.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2000" y="2950000"/>
            <a:ext cx="35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輪番制を徹底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2000" y="3130000"/>
            <a:ext cx="35148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更新・議事・レビューを週替わり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2000" y="3310000"/>
            <a:ext cx="2800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2.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2000" y="3310000"/>
            <a:ext cx="35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CODEOWNERS 2人体制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52000" y="3490000"/>
            <a:ext cx="35148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team-standards のレビュアーを必ず2人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2000" y="3670000"/>
            <a:ext cx="2800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3.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52000" y="3670000"/>
            <a:ext cx="35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属人化 KPI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52000" y="3850000"/>
            <a:ext cx="35148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推進役以外のPR比率を定期確認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22000" y="4030000"/>
            <a:ext cx="2800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1A2B4C"/>
                </a:solidFill>
                <a:latin typeface="Meiryo UI"/>
              </a:rPr>
              <a:t>4.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52000" y="4030000"/>
            <a:ext cx="35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Meiryo UI"/>
              </a:rPr>
              <a:t>2週間休暇テスト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2000" y="4210000"/>
            <a:ext cx="35148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3ヶ月目に意図的に休ませて検証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21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0000"/>
            <a:ext cx="8229600" cy="1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1">
                <a:solidFill>
                  <a:srgbClr val="4A90E2"/>
                </a:solidFill>
                <a:latin typeface="Meiryo UI"/>
              </a:rPr>
              <a:t>次の一歩と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0000"/>
            <a:ext cx="8229600" cy="5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600" b="1">
                <a:solidFill>
                  <a:srgbClr val="1A2B4C"/>
                </a:solidFill>
                <a:latin typeface="Meiryo UI"/>
              </a:rPr>
              <a:t>合意できたら来週から試運転を始める — 並行してチームの率直な意見を聞きたい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50000"/>
            <a:ext cx="8229600" cy="0"/>
          </a:xfrm>
          <a:prstGeom prst="line">
            <a:avLst/>
          </a:prstGeom>
          <a:ln w="1905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150000"/>
            <a:ext cx="4014800" cy="28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200" y="1200000"/>
            <a:ext cx="38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最初の1週間でやること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30000"/>
            <a:ext cx="4014800" cy="10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530000"/>
            <a:ext cx="1100000" cy="1050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7200" y="1730000"/>
            <a:ext cx="10000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 UI"/>
              </a:rPr>
              <a:t>Day 1-2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200" y="2030000"/>
            <a:ext cx="10000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準備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7200" y="1680000"/>
            <a:ext cx="2664800" cy="7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team-standards リポジトリ作成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CLAUDE.md 初版を3名で書く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~/dev/team-standards に clone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10000"/>
            <a:ext cx="4014800" cy="10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610000"/>
            <a:ext cx="1100000" cy="105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7200" y="2810000"/>
            <a:ext cx="10000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 UI"/>
              </a:rPr>
              <a:t>Day 3-4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200" y="3110000"/>
            <a:ext cx="10000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試運転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7200" y="2760000"/>
            <a:ext cx="2664800" cy="7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小さな Issue で全フロー試す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壁打ち → 4項目テンプレ → PR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つまずき記録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90000"/>
            <a:ext cx="4014800" cy="10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690000"/>
            <a:ext cx="1100000" cy="105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7200" y="3890000"/>
            <a:ext cx="10000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 UI"/>
              </a:rPr>
              <a:t>Day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200" y="4190000"/>
            <a:ext cx="1000000" cy="24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振り返り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57200" y="3840000"/>
            <a:ext cx="2664800" cy="75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3名で15分振り返り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良い点・悪い点整理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222222"/>
                </a:solidFill>
                <a:latin typeface="Meiryo UI"/>
              </a:rPr>
              <a:t>● CLAUDE.md を早速更新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72000" y="1150000"/>
            <a:ext cx="4014800" cy="28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72000" y="1200000"/>
            <a:ext cx="381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eiryo UI"/>
              </a:rPr>
              <a:t>みんなに聞きたいこと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72000" y="1530000"/>
            <a:ext cx="4014800" cy="5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22000" y="1610000"/>
            <a:ext cx="35000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2000" b="1">
                <a:solidFill>
                  <a:srgbClr val="4A90E2"/>
                </a:solidFill>
                <a:latin typeface="Meiryo UI"/>
              </a:rPr>
              <a:t>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2000" y="1630000"/>
            <a:ext cx="34648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Meiryo UI"/>
              </a:rPr>
              <a:t>この方向性、ピンと来る？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2000" y="1850000"/>
            <a:ext cx="346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『集合知化』という旗に心が動く？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72000" y="2130000"/>
            <a:ext cx="4014800" cy="5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22000" y="2210000"/>
            <a:ext cx="35000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2000" b="1">
                <a:solidFill>
                  <a:srgbClr val="4A90E2"/>
                </a:solidFill>
                <a:latin typeface="Meiryo UI"/>
              </a:rPr>
              <a:t>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2000" y="2230000"/>
            <a:ext cx="3464800" cy="194279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lang="ja-JP" altLang="en-US" sz="1000" b="1" dirty="0">
                <a:solidFill>
                  <a:srgbClr val="222222"/>
                </a:solidFill>
                <a:latin typeface="Meiryo UI"/>
              </a:rPr>
              <a:t>少人数ですすめる</a:t>
            </a:r>
            <a:r>
              <a:rPr sz="1000" b="1" dirty="0">
                <a:solidFill>
                  <a:srgbClr val="222222"/>
                </a:solidFill>
                <a:latin typeface="Meiryo UI"/>
              </a:rPr>
              <a:t>、</a:t>
            </a:r>
            <a:r>
              <a:rPr sz="1000" b="1" dirty="0" err="1">
                <a:solidFill>
                  <a:srgbClr val="222222"/>
                </a:solidFill>
                <a:latin typeface="Meiryo UI"/>
              </a:rPr>
              <a:t>誰がやる</a:t>
            </a:r>
            <a:r>
              <a:rPr sz="1000" b="1" dirty="0">
                <a:solidFill>
                  <a:srgbClr val="222222"/>
                </a:solidFill>
                <a:latin typeface="Meiryo UI"/>
              </a:rPr>
              <a:t>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2000" y="2450000"/>
            <a:ext cx="346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興味がある人、手を挙げてくれる人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72000" y="2730000"/>
            <a:ext cx="4014800" cy="5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22000" y="2810000"/>
            <a:ext cx="35000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2000" b="1">
                <a:solidFill>
                  <a:srgbClr val="4A90E2"/>
                </a:solidFill>
                <a:latin typeface="Meiryo UI"/>
              </a:rPr>
              <a:t>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2000" y="2830000"/>
            <a:ext cx="34648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Meiryo UI"/>
              </a:rPr>
              <a:t>不安・懸念は？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2000" y="3050000"/>
            <a:ext cx="346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『これは続かない』『ここが面倒』率直に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72000" y="3330000"/>
            <a:ext cx="4014800" cy="5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22000" y="3410000"/>
            <a:ext cx="35000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2000" b="1">
                <a:solidFill>
                  <a:srgbClr val="4A90E2"/>
                </a:solidFill>
                <a:latin typeface="Meiryo UI"/>
              </a:rPr>
              <a:t>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2000" y="3430000"/>
            <a:ext cx="3464800" cy="26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Meiryo UI"/>
              </a:rPr>
              <a:t>もっと良い方法ある？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2000" y="3650000"/>
            <a:ext cx="346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別のアプローチ、気になる案があれば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72000" y="3930000"/>
            <a:ext cx="4014800" cy="5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22000" y="4010000"/>
            <a:ext cx="35000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2000" b="1">
                <a:solidFill>
                  <a:srgbClr val="4A90E2"/>
                </a:solidFill>
                <a:latin typeface="Meiryo UI"/>
              </a:rPr>
              <a:t>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2000" y="4030000"/>
            <a:ext cx="3464800" cy="194279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1000" b="1" dirty="0" err="1">
                <a:solidFill>
                  <a:srgbClr val="222222"/>
                </a:solidFill>
                <a:latin typeface="Meiryo UI"/>
              </a:rPr>
              <a:t>どう進める</a:t>
            </a:r>
            <a:r>
              <a:rPr sz="1000" b="1" dirty="0">
                <a:solidFill>
                  <a:srgbClr val="222222"/>
                </a:solidFill>
                <a:latin typeface="Meiryo UI"/>
              </a:rPr>
              <a:t>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2000" y="4250000"/>
            <a:ext cx="3464800" cy="22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Meiryo UI"/>
              </a:rPr>
              <a:t>タイミング・伝え方・必要な準備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86800" y="4800000"/>
            <a:ext cx="800000" cy="2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Meiryo UI"/>
              </a:rPr>
              <a:t>22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57200" y="4770000"/>
            <a:ext cx="8229600" cy="0"/>
          </a:xfrm>
          <a:prstGeom prst="line">
            <a:avLst/>
          </a:prstGeom>
          <a:ln w="6350">
            <a:solidFill>
              <a:srgbClr val="E6E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00000"/>
            <a:ext cx="8229600" cy="3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900" b="1">
                <a:solidFill>
                  <a:srgbClr val="4A90E2"/>
                </a:solidFill>
                <a:latin typeface="Meiryo UI"/>
              </a:rPr>
              <a:t>DX PORTAL TEAM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072000" y="2200000"/>
            <a:ext cx="1000000" cy="0"/>
          </a:xfrm>
          <a:prstGeom prst="line">
            <a:avLst/>
          </a:prstGeom>
          <a:ln w="25400">
            <a:solidFill>
              <a:srgbClr val="1A2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0000"/>
            <a:ext cx="8229600" cy="6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2800" b="1">
                <a:solidFill>
                  <a:srgbClr val="1A2B4C"/>
                </a:solidFill>
                <a:latin typeface="Meiryo UI"/>
              </a:rPr>
              <a:t>ありがとうございました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50000"/>
            <a:ext cx="8229600" cy="400000"/>
          </a:xfrm>
          <a:prstGeom prst="rect">
            <a:avLst/>
          </a:prstGeom>
          <a:noFill/>
        </p:spPr>
        <p:txBody>
          <a:bodyPr wrap="square" lIns="30000" tIns="20000" rIns="30000" bIns="20000" anchor="t">
            <a:spAutoFit/>
          </a:bodyPr>
          <a:lstStyle/>
          <a:p>
            <a:pPr algn="ctr"/>
            <a:r>
              <a:rPr sz="1400" b="0">
                <a:solidFill>
                  <a:srgbClr val="8A94A6"/>
                </a:solidFill>
                <a:latin typeface="Meiryo UI"/>
              </a:rPr>
              <a:t>意見・質問、お待ちしています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2364</Words>
  <Application>Microsoft Office PowerPoint</Application>
  <PresentationFormat>画面に合わせる (16:9)</PresentationFormat>
  <Paragraphs>790</Paragraphs>
  <Slides>23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23</vt:i4>
      </vt:variant>
    </vt:vector>
  </HeadingPairs>
  <TitlesOfParts>
    <vt:vector size="28" baseType="lpstr">
      <vt:lpstr>Meiryo UI</vt:lpstr>
      <vt:lpstr>Arial</vt:lpstr>
      <vt:lpstr>Calibri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subject/>
  <dc:creator/>
  <cp:keywords/>
  <dc:description>generated using python-pptx</dc:description>
  <cp:lastModifiedBy>Sano Masatoshi/佐野 雅俊(MELCO/姫事 ソ企)</cp:lastModifiedBy>
  <cp:revision>6</cp:revision>
  <dcterms:created xsi:type="dcterms:W3CDTF">2013-01-27T09:14:16Z</dcterms:created>
  <dcterms:modified xsi:type="dcterms:W3CDTF">2026-04-20T08:27:12Z</dcterms:modified>
  <cp:category/>
</cp:coreProperties>
</file>