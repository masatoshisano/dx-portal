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11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00000"/>
            <a:ext cx="82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DX PORTAL TEAM  |  TOOLING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50000"/>
            <a:ext cx="8229600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3000" b="1">
                <a:solidFill>
                  <a:srgbClr val="1A2B4C"/>
                </a:solidFill>
                <a:latin typeface="Meiryo UI"/>
              </a:rPr>
              <a:t>集合知化を、どの道具で実現するか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5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eiryo UI"/>
              </a:rPr>
              <a:t>Claude Code Team / GitHub Copilot Enterprise / Kiro ― 3製品比較と推奨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30000"/>
            <a:ext cx="82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Meiryo UI"/>
              </a:rPr>
              <a:t>~ 5〜10名チームでの法人契約を想定 ~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50000"/>
            <a:ext cx="15000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60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意思決定資料 ― 予算承認ご依頼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結論：Claude Code Team を推奨。L3（自動PR/自動修正）を Gitea 上で実現できる唯一の製品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09866" cy="13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100000" cy="13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1270000"/>
            <a:ext cx="2409866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800" b="1">
                <a:solidFill>
                  <a:srgbClr val="1A2B4C"/>
                </a:solidFill>
                <a:latin typeface="Meiryo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00" y="1680000"/>
            <a:ext cx="2309866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L3 を Gitea 上で実現できる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" y="1980000"/>
            <a:ext cx="2309866" cy="4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CLI + MCP で Gitea に自動 PR 作成／ラベルで自動修正が可能。Copilot の Coding Agent は GitHub 専用で Gitea では動かない。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7066" y="1150000"/>
            <a:ext cx="2609866" cy="13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7066" y="1150000"/>
            <a:ext cx="100000" cy="13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066" y="1270000"/>
            <a:ext cx="2409866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800" b="1">
                <a:solidFill>
                  <a:srgbClr val="4A90E2"/>
                </a:solidFill>
                <a:latin typeface="Meiryo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066" y="1680000"/>
            <a:ext cx="2309866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5要素すべてを満たす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066" y="1980000"/>
            <a:ext cx="2309866" cy="4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CLAUDE.md / Skills / Subagents / Hooks / MCP を単一製品で実装可能。他2製品は部分一致に留まる。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932" y="1150000"/>
            <a:ext cx="2609866" cy="13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76932" y="1150000"/>
            <a:ext cx="100000" cy="13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56932" y="1270000"/>
            <a:ext cx="2409866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Meiryo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6932" y="1680000"/>
            <a:ext cx="2309866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商用プランで学習利用なし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932" y="1980000"/>
            <a:ext cx="2309866" cy="4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Team プランは契約上モデル学習に使わない。SSO/監査は Enterprise で強化。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00000"/>
            <a:ext cx="8229600" cy="4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200" y="2700000"/>
            <a:ext cx="7829600" cy="4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依頼事項：Claude Code Team 契約 10 席、初年度 約540千円 の承認をお願いしたい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50000"/>
            <a:ext cx="8229600" cy="1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なぜ今か：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・目標は L3（AIが自動で PR 作成／ラベルで自動修正）。L1（Chatでサマリー生成）止まりでは構想に到達しない。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・Copilot の Coding Agent は GitHub 専用。Gitea 上で L3 を成立させるには Claude Code の CLI + MCP が必須。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・Team プランの Projects 共有・使用量分析で、5〜10名規模での運用可視化と定着が可能。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C03030"/>
                </a:solidFill>
                <a:latin typeface="Meiryo UI"/>
              </a:rPr>
              <a:t>リスク：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・Team プランの SSO/SAML は Enterprise プランへ移行が必要。情シス要件を要確認（10名時点では先送り可）。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・Agent Teams は実験機能。本番前提は避け、PoC で見極める。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実現したい姿：目標は L3（AI が自動で PR を作成する）。5要素を『team-standards』に集約して秘書を育てる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30000"/>
            <a:ext cx="44000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claude-code-components.pptx が示す構想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70000"/>
            <a:ext cx="120000" cy="5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1470000"/>
            <a:ext cx="950000" cy="5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7200" y="1490000"/>
            <a:ext cx="3210000" cy="5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222222"/>
                </a:solidFill>
                <a:latin typeface="Meiryo UI"/>
              </a:rPr>
              <a:t>秘書が毎回セッション冒頭で自動的に読み込む『常識・ルール集』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1A2B4C"/>
                </a:solidFill>
                <a:latin typeface="Meiryo UI"/>
              </a:rPr>
              <a:t>例：『any/unknown禁止』『TDD先行』『金曜15分振り返り』を1行ずつ記載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配置：team-standards/CLAUDE.md（200行以内／当番制で育てる）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90000"/>
            <a:ext cx="120000" cy="5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200" y="2090000"/>
            <a:ext cx="950000" cy="5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7200" y="2110000"/>
            <a:ext cx="3210000" cy="5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222222"/>
                </a:solidFill>
                <a:latin typeface="Meiryo UI"/>
              </a:rPr>
              <a:t>名前で呼び出せる手順書。2 回以上やる作業を markdown で定義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4A90E2"/>
                </a:solidFill>
                <a:latin typeface="Meiryo UI"/>
              </a:rPr>
              <a:t>例：/review-my-changes, /post-to-gitea, /sprint-plan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配置：team-standards/skills/*.md（公式 + obra/superpowers を採用）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0000"/>
            <a:ext cx="120000" cy="58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200" y="2710000"/>
            <a:ext cx="950000" cy="5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673AB7"/>
                </a:solidFill>
                <a:latin typeface="Meiryo UI"/>
              </a:rPr>
              <a:t>Subagents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7200" y="2730000"/>
            <a:ext cx="3210000" cy="5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222222"/>
                </a:solidFill>
                <a:latin typeface="Meiryo UI"/>
              </a:rPr>
              <a:t>特定分野に特化した秘書。ツール制限とモデル選択で『安全な専門家』を作る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673AB7"/>
                </a:solidFill>
                <a:latin typeface="Meiryo UI"/>
              </a:rPr>
              <a:t>例：security-auditor（Write/Bash 禁止・Read/Grep のみ・Haiku で軽量）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配置：team-standards/agents/*.md（VoltAgent から 6 つコピーで開始）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0000"/>
            <a:ext cx="120000" cy="58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200" y="3330000"/>
            <a:ext cx="950000" cy="5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D67E1E"/>
                </a:solidFill>
                <a:latin typeface="Meiryo UI"/>
              </a:rPr>
              <a:t>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7200" y="3350000"/>
            <a:ext cx="3210000" cy="5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222222"/>
                </a:solidFill>
                <a:latin typeface="Meiryo UI"/>
              </a:rPr>
              <a:t>ライフサイクル イベントで自動実行されるスクリプト。決定論的な制御装置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D67E1E"/>
                </a:solidFill>
                <a:latin typeface="Meiryo UI"/>
              </a:rPr>
              <a:t>例：PreToolUse で rm -rf 遮断／PostToolUse で lint 実行／UserPromptSubmit で CLAUDE.md 違反検出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配置：.claude/settings.json + team-standards/hooks/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50000"/>
            <a:ext cx="120000" cy="5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200" y="3950000"/>
            <a:ext cx="950000" cy="5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7200" y="3970000"/>
            <a:ext cx="3210000" cy="5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222222"/>
                </a:solidFill>
                <a:latin typeface="Meiryo UI"/>
              </a:rPr>
              <a:t>外部ツールと繋げる標準プロトコル。Gitea / DB / ブラウザに秘書が直接触れる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E7D32"/>
                </a:solidFill>
                <a:latin typeface="Meiryo UI"/>
              </a:rPr>
              <a:t>例：gitea-mcp で PR 作成・Issue 参照、postgres-mcp で DB 問合せ、playwright-mcp で E2E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配置：.mcp.json + 個人 .env（公式 + 検証済みサーバーのみ採用）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7200" y="1130000"/>
            <a:ext cx="3529600" cy="31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7200" y="1280000"/>
            <a:ext cx="32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本資料が答える問い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7200" y="1710000"/>
            <a:ext cx="3229600" cy="2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Q1. どの製品で『5要素 × team-standards』を実装できるか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  → スライド 9（実現度マトリクス）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Q2. Gitea を残したまま使えるか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  → スライド 8（連携比較）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Q3. セキュリティ要件を満たせるか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  → スライド 10（統制比較）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Q4. コストは妥当か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  → スライド 12（3年 TCO）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Q5. 何から始めるべきか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    → スライド 15（ロードマップ）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claude-code-components.pptx / architecture-overview.md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DECISION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意思決定の3軸：『Gitea連携』『5要素の実現度』『セキュリティ統制』で優劣を確定させる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50000"/>
            <a:ext cx="900000" cy="9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50000"/>
            <a:ext cx="9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軸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30000"/>
            <a:ext cx="900000" cy="5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Meiryo UI"/>
              </a:rPr>
              <a:t>Gitea</a:t>
            </a:r>
            <a:r>
              <a:rPr sz="1300" b="1" dirty="0">
                <a:solidFill>
                  <a:srgbClr val="FFFFFF"/>
                </a:solidFill>
                <a:latin typeface="Meiryo UI"/>
              </a:rPr>
              <a:t> で L3 </a:t>
            </a:r>
            <a:r>
              <a:rPr sz="1300" b="1" dirty="0" err="1">
                <a:solidFill>
                  <a:srgbClr val="FFFFFF"/>
                </a:solidFill>
                <a:latin typeface="Meiryo UI"/>
              </a:rPr>
              <a:t>が成立するか</a:t>
            </a:r>
            <a:endParaRPr sz="1300" b="1" dirty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57200" y="1250000"/>
            <a:ext cx="7229600" cy="9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7200" y="133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自社 Gitea 上で『AI が自動で PR 作成／ラベルで自動修正』(L3) を実現できるか。L1 (Chatでサマリー生成) は全製品で可能、差は L3 で出る。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7200" y="175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→ Bot / Agent から Gitea API へ書き込む手段の有無で決まる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0000"/>
            <a:ext cx="900000" cy="9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00000"/>
            <a:ext cx="9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軸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0000"/>
            <a:ext cx="900000" cy="5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5要素の実現度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7200" y="2300000"/>
            <a:ext cx="7229600" cy="9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7200" y="238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CLAUDE.md / Skills / Subagents / Hooks / MCP を製品機能として満たせるか。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7200" y="280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4A90E2"/>
                </a:solidFill>
                <a:latin typeface="Meiryo UI"/>
              </a:rPr>
              <a:t>→ 部分一致は『自作でカバー』になり運用が脆くなる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50000"/>
            <a:ext cx="900000" cy="95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350000"/>
            <a:ext cx="9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軸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30000"/>
            <a:ext cx="900000" cy="5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セキュリティ統制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57200" y="3350000"/>
            <a:ext cx="7229600" cy="95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7200" y="343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 UI"/>
              </a:rPr>
              <a:t>学習利用・データ保持・SSO/SAML・監査ログの4項目で情シス要件を満たすか。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7200" y="3850000"/>
            <a:ext cx="69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673AB7"/>
                </a:solidFill>
                <a:latin typeface="Meiryo UI"/>
              </a:rPr>
              <a:t>→ 商用プランかどうか、プラン階層で差がつく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コスト・学習コストはサブ軸。上記3軸で甲乙が付いた上で、最終確認として用いる。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PRODUCT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 Code Team：CLI エージェント + チーム共有。5要素をネイティブに備える唯一の製品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6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230000"/>
            <a:ext cx="4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410000"/>
            <a:ext cx="40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 Code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800" y="123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LIST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800" y="141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1100" b="1">
                <a:solidFill>
                  <a:srgbClr val="1A2B4C"/>
                </a:solidFill>
                <a:latin typeface="Meiryo UI"/>
              </a:rPr>
              <a:t>$30 / 人・月（≒ 4,500円）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800" y="1600000"/>
            <a:ext cx="30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222222"/>
                </a:solidFill>
                <a:latin typeface="Meiryo UI"/>
              </a:rPr>
              <a:t>450,000円 / 年（10名）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0000"/>
            <a:ext cx="100000" cy="3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72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強み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0000"/>
            <a:ext cx="4014800" cy="1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・CLAUDE.md / Skills / Subagents / Hooks / MCP すべて公式サポート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・Gitea に MCP で直結可能（Git ホスト中立）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・Projects 共有・Usage Analytics で5〜10名運用に必要な可視化を具備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・商用プラン扱いで学習利用なし（契約で保証）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900000"/>
            <a:ext cx="100000" cy="3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20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C03030"/>
                </a:solidFill>
                <a:latin typeface="Meiryo UI"/>
              </a:rPr>
              <a:t>弱み・留意点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000" y="2300000"/>
            <a:ext cx="4014800" cy="1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・SSO/SAML は Enterprise プラン（$60+）への移行が必要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・Agent Teams は実験機能、本番前提は避ける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・国内法人サポートはまだ発展途上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50000"/>
            <a:ext cx="8229600" cy="4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200" y="435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判定：第1選択肢 ― 5要素を満たす唯一の製品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claude.com/pricing/team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PRODUCT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GitHub Copilot Enterprise：IDE補完の最高峰、ただし GitHub 前提で Gitea とは噛み合わない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6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230000"/>
            <a:ext cx="4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GITHUB (MICROSOFT)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410000"/>
            <a:ext cx="40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GitHub Copilot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800" y="123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LIST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800" y="141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1100" b="1">
                <a:solidFill>
                  <a:srgbClr val="1A2B4C"/>
                </a:solidFill>
                <a:latin typeface="Meiryo UI"/>
              </a:rPr>
              <a:t>$39 / 人・月（≒ 4,000〜5,900円）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800" y="1600000"/>
            <a:ext cx="30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222222"/>
                </a:solidFill>
                <a:latin typeface="Meiryo UI"/>
              </a:rPr>
              <a:t>約 470,000〜710,000円 / 年（10名・為替次第）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0000"/>
            <a:ext cx="100000" cy="3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72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強み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0000"/>
            <a:ext cx="4014800" cy="1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・IDE補完は現時点で最も成熟・高速（L1 用途では最強）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・Chat で git diff を要約し PR 説明文を書くことは可能（L1）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・SSO/SAML・監査ログ・IP制限などエンタープライズ統制が標準装備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・国内 GitHub Japan 経由のサポート導線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900000"/>
            <a:ext cx="100000" cy="3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20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C03030"/>
                </a:solidFill>
                <a:latin typeface="Meiryo UI"/>
              </a:rPr>
              <a:t>弱み・留意点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000" y="2300000"/>
            <a:ext cx="4014800" cy="558418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・PR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自動サマリ</a:t>
            </a:r>
            <a:r>
              <a:rPr sz="900" b="0" dirty="0">
                <a:solidFill>
                  <a:srgbClr val="222222"/>
                </a:solidFill>
                <a:latin typeface="Meiryo UI"/>
              </a:rPr>
              <a:t>ー UI / Code Review は GitHub のみ（L2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不可</a:t>
            </a:r>
            <a:r>
              <a:rPr sz="900" b="0" dirty="0">
                <a:solidFill>
                  <a:srgbClr val="222222"/>
                </a:solidFill>
                <a:latin typeface="Meiryo UI"/>
              </a:rPr>
              <a:t>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・Hooks 相当の仕組みが弱く、CLAUDE.md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を『法律化』できない</a:t>
            </a:r>
            <a:endParaRPr sz="900" b="0" dirty="0">
              <a:solidFill>
                <a:srgbClr val="222222"/>
              </a:solidFill>
              <a:latin typeface="Meiryo UI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・Subagents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のようなツール制限付き専門エージェント機構なし</a:t>
            </a:r>
            <a:endParaRPr sz="900" b="0" dirty="0">
              <a:solidFill>
                <a:srgbClr val="222222"/>
              </a:solidFill>
              <a:latin typeface="Meiryo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350000"/>
            <a:ext cx="8229600" cy="40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200" y="435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判定：選外 ― L3 目標 × Gitea 継続 では成立しない（L1 のみなら Business で十分）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github.com/pricing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PRODUCT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Kiro：Spec駆動開発に強み。ただし Gitea 対応とエコシステム成熟度に不安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6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230000"/>
            <a:ext cx="4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410000"/>
            <a:ext cx="40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800" y="123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LIST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800" y="1410000"/>
            <a:ext cx="30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1100" b="1">
                <a:solidFill>
                  <a:srgbClr val="1A2B4C"/>
                </a:solidFill>
                <a:latin typeface="Meiryo UI"/>
              </a:rPr>
              <a:t>プレビュー期 無料〜低額（正式料金未確定）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800" y="1600000"/>
            <a:ext cx="30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222222"/>
                </a:solidFill>
                <a:latin typeface="Meiryo UI"/>
              </a:rPr>
              <a:t>未確定 ― 本格採用時に再計算要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0000"/>
            <a:ext cx="100000" cy="3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72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強み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0000"/>
            <a:ext cx="4014800" cy="1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・Spec→Design→Tasks→実装の型化が製品機能として組み込まれている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・MCP サポートにより gitea-mcp 経由で Gitea 連携（PR/Issue 自動化）が可能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・AWS Bedrock 経由でデータ境界を AWS 内に閉じやすい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・AWS 既存契約・IAM Identity Center に乗せやすい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900000"/>
            <a:ext cx="100000" cy="3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2000" y="1900000"/>
            <a:ext cx="38648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C03030"/>
                </a:solidFill>
                <a:latin typeface="Meiryo UI"/>
              </a:rPr>
              <a:t>弱み・留意点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000" y="2300000"/>
            <a:ext cx="4014800" cy="1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・公式 gitea-mcp の安定性・サポートは Claude Code より未成熟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・Hooks / Subagents 等の拡張点が Claude Code ほど整備されていない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・エコシステム（公式スキル・コミュニティ）がまだ薄い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・5〜10名規模のチーム運用事例が乏しい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50000"/>
            <a:ext cx="8229600" cy="4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200" y="435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判定：次点 ― MCP で Gitea L3 は可。ただし Claude Code より工数大・成熟度低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aws.amazon.com/kiro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CLAUDE CODE UNIQUE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 Code ならではの機能（2026/4 時点）：L3 と『秘書を育てる』を支える固有の仕組み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0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2643200" cy="7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7200" y="133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673AB7"/>
                </a:solidFill>
                <a:latin typeface="Meiryo UI"/>
              </a:rPr>
              <a:t>Subagents 並列実行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75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最大 10 並列。frontmatter で tools / disallowedTools / model / permissionMode を明示し、『できる事・できない事』を制御できる専門秘書。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0400" y="120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50400" y="1200000"/>
            <a:ext cx="2643200" cy="7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0400" y="133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Hooks（決定論的制御）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175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PreToolUse / PostToolUse / SessionStart 等のライフサイクルで任意スクリプトを発火。CLAUDE.md を『法律化』する唯一の仕組み。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43600" y="120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43600" y="1200000"/>
            <a:ext cx="2643200" cy="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3600" y="133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eiryo UI"/>
              </a:rPr>
              <a:t>MCP：クライアント兼サーバー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3600" y="175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Claude Code 自身が MCP クライアントかつサーバー。他製品は片側のみ。Gitea・DB・Playwright に直結しつつ、他ツールから呼ばれる側にもなれる。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850000"/>
            <a:ext cx="2643200" cy="7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7200" y="298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Meiryo UI"/>
              </a:rPr>
              <a:t>Git Worktree 隔離実行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200" y="340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v2.0.60+。バックグラウンド Agent が独立した worktree で動くため、本流の作業と干渉しない。複数タスクの並走が安全。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0400" y="285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50400" y="2850000"/>
            <a:ext cx="2643200" cy="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0400" y="298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Checkpoints / 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0400" y="340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権限モード・チェックポイント・サンドボックス・信頼検証・managed settings による多層安全装置。危険操作の自動遮断に活用。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3600" y="2850000"/>
            <a:ext cx="2643200" cy="1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43600" y="2850000"/>
            <a:ext cx="2643200" cy="7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3600" y="2980000"/>
            <a:ext cx="23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673AB7"/>
                </a:solidFill>
                <a:latin typeface="Meiryo UI"/>
              </a:rPr>
              <a:t>マルチサーフェス + /loop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3600" y="3400000"/>
            <a:ext cx="2343200" cy="9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CLI / デスクトップアプリ / VS Code・JetBrains / web / スマホ / 音声入力 / macOS Computer Use。/loop で定期タスクも自動実行。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50000"/>
            <a:ext cx="8229600" cy="3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7200" y="4650000"/>
            <a:ext cx="782960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Subagents の並列実行・Hooks・MCP サーバー兼用・Worktree 隔離は、Copilot / Kiro には同等機構がない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code.claude.com/docs / release notes 2026-04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DECISION AXIS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軸 1 ─ Gitea × L3 の実現コストで差がつく。Claude Code は MCP でネイティブ対応、Copilot は L3 不可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30000"/>
            <a:ext cx="2643200" cy="900000"/>
          </a:xfrm>
          <a:prstGeom prst="rect">
            <a:avLst/>
          </a:prstGeom>
          <a:solidFill>
            <a:srgbClr val="E6E9E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7200" y="1230000"/>
            <a:ext cx="6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200" b="1">
                <a:solidFill>
                  <a:srgbClr val="8A94A6"/>
                </a:solidFill>
                <a:latin typeface="Meiryo UI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200" y="1280000"/>
            <a:ext cx="17432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8A94A6"/>
                </a:solidFill>
                <a:latin typeface="Meiryo UI"/>
              </a:rPr>
              <a:t>Chat で説明文生成・手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630000"/>
            <a:ext cx="2343200" cy="3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人が差分を Chat に食わせ要約、手で PR 作成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0400" y="1580000"/>
            <a:ext cx="1100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50400" y="1130000"/>
            <a:ext cx="2643200" cy="900000"/>
          </a:xfrm>
          <a:prstGeom prst="rect">
            <a:avLst/>
          </a:prstGeom>
          <a:solidFill>
            <a:srgbClr val="E6E9E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0400" y="1230000"/>
            <a:ext cx="6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200" b="1">
                <a:solidFill>
                  <a:srgbClr val="8A94A6"/>
                </a:solidFill>
                <a:latin typeface="Meiryo UI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400" y="1280000"/>
            <a:ext cx="17432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8A94A6"/>
                </a:solidFill>
                <a:latin typeface="Meiryo UI"/>
              </a:rPr>
              <a:t>PR 画面 UI 統合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0400" y="1630000"/>
            <a:ext cx="2343200" cy="3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ボタン1つで要約生成（GitHub のみ）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3600" y="1580000"/>
            <a:ext cx="1100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43600" y="1130000"/>
            <a:ext cx="2643200" cy="900000"/>
          </a:xfrm>
          <a:prstGeom prst="rect">
            <a:avLst/>
          </a:prstGeom>
          <a:solidFill>
            <a:srgbClr val="1A2B4C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3600" y="1230000"/>
            <a:ext cx="6000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600" y="1280000"/>
            <a:ext cx="17432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Bot / Agent が自動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3600" y="1630000"/>
            <a:ext cx="2343200" cy="3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eiryo UI"/>
              </a:rPr>
              <a:t>★ 今回の目標 ― ラベル貼付・Webhook で完全自動化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30000"/>
            <a:ext cx="2400000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230000"/>
            <a:ext cx="24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製品 × Gitea 環境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7200" y="2230000"/>
            <a:ext cx="1943200" cy="600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57200" y="22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L1 手PR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400" y="2230000"/>
            <a:ext cx="1943200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400" y="22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L3 自動 PR 作成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3600" y="2230000"/>
            <a:ext cx="1943200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3600" y="22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L3 ラベルで自動修正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30000"/>
            <a:ext cx="24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7200" y="2880000"/>
            <a:ext cx="224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Claude Code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200" y="3160000"/>
            <a:ext cx="224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CLI + gitea-mcp で Gitea API に直結、Hooks で自動化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57200" y="2830000"/>
            <a:ext cx="19432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57200" y="28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400" y="2830000"/>
            <a:ext cx="19432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400" y="28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3600" y="2830000"/>
            <a:ext cx="19432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3600" y="28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30000"/>
            <a:ext cx="24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7200" y="3480000"/>
            <a:ext cx="224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8A94A6"/>
                </a:solidFill>
                <a:latin typeface="Meiryo UI"/>
              </a:rPr>
              <a:t>Copilot 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200" y="3760000"/>
            <a:ext cx="224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Coding Agent は GitHub 専用／Gitea 上で L3 は成立しない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57200" y="3430000"/>
            <a:ext cx="19432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57200" y="34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400" y="3430000"/>
            <a:ext cx="1943200" cy="60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00400" y="34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C03030"/>
                </a:solidFill>
                <a:latin typeface="Meiryo UI"/>
              </a:rPr>
              <a:t>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43600" y="3430000"/>
            <a:ext cx="1943200" cy="60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43600" y="34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C03030"/>
                </a:solidFill>
                <a:latin typeface="Meiryo UI"/>
              </a:rPr>
              <a:t>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030000"/>
            <a:ext cx="24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200" y="4080000"/>
            <a:ext cx="224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8A94A6"/>
                </a:solidFill>
                <a:latin typeface="Meiryo UI"/>
              </a:rPr>
              <a:t>Kiro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200" y="4360000"/>
            <a:ext cx="224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MCP 経由で Gitea 接続可。公式サポート・安定性は Claude Code より低く初期構築工数が増える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57200" y="4030000"/>
            <a:ext cx="1943200" cy="60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7200" y="40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400" y="4030000"/>
            <a:ext cx="1943200" cy="60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00400" y="40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43600" y="4030000"/>
            <a:ext cx="1943200" cy="60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43600" y="4030000"/>
            <a:ext cx="19432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380000"/>
            <a:ext cx="8229600" cy="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7200" y="438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結論：Copilot は L3 × Gitea が不可。Kiro は MCP で○だが Claude Code より工数大・成熟度で劣る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9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DECISION AXIS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軸 2 ─ 5要素の実現度：Claude Code Team のみ全要素をネイティブに満たす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1200000" cy="56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50000"/>
            <a:ext cx="12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構成要素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7200" y="1150000"/>
            <a:ext cx="1509866" cy="56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57200" y="11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Claude Code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7066" y="1150000"/>
            <a:ext cx="1509866" cy="560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67066" y="11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Copilot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6932" y="1150000"/>
            <a:ext cx="1509866" cy="560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6932" y="11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Kiro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798" y="1150000"/>
            <a:ext cx="2500000" cy="56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6798" y="1150000"/>
            <a:ext cx="25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Copilot / Kiro で失うもの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10000"/>
            <a:ext cx="1200000" cy="56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200" y="1710000"/>
            <a:ext cx="11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CLAUDE.md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57200" y="171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57200" y="171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7066" y="171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67066" y="171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6932" y="1710000"/>
            <a:ext cx="1509866" cy="56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6932" y="171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6798" y="1710000"/>
            <a:ext cx="2500000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798" y="1710000"/>
            <a:ext cx="24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共有の仕組みは代替可。要件としては差が小さい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70000"/>
            <a:ext cx="1200000" cy="56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200" y="2270000"/>
            <a:ext cx="11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57200" y="227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57200" y="227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67066" y="2270000"/>
            <a:ext cx="1509866" cy="56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67066" y="227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76932" y="2270000"/>
            <a:ext cx="1509866" cy="56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6932" y="227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6798" y="2270000"/>
            <a:ext cx="2500000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798" y="2270000"/>
            <a:ext cx="24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『2回目から呼び出せる手順書』が持てず、運用が属人化する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830000"/>
            <a:ext cx="1200000" cy="56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200" y="2830000"/>
            <a:ext cx="11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Subagents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57200" y="283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57200" y="283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7066" y="2830000"/>
            <a:ext cx="1509866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67066" y="283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C03030"/>
                </a:solidFill>
                <a:latin typeface="Meiryo UI"/>
              </a:rPr>
              <a:t>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76932" y="2830000"/>
            <a:ext cx="1509866" cy="56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76932" y="283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6798" y="2830000"/>
            <a:ext cx="2500000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798" y="2830000"/>
            <a:ext cx="24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『security-auditor は Write 禁止』等のツール制限付き専門家が作れない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90000"/>
            <a:ext cx="1200000" cy="56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7200" y="3390000"/>
            <a:ext cx="11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Hooks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57200" y="339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57200" y="339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7066" y="3390000"/>
            <a:ext cx="1509866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67066" y="339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C03030"/>
                </a:solidFill>
                <a:latin typeface="Meiryo UI"/>
              </a:rPr>
              <a:t>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76932" y="3390000"/>
            <a:ext cx="1509866" cy="56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76932" y="339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6798" y="3390000"/>
            <a:ext cx="2500000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798" y="3390000"/>
            <a:ext cx="24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CLAUDE.md の『法律化』が成立しない。危険操作遮断・自動lintが止まる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50000"/>
            <a:ext cx="1200000" cy="56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200" y="3950000"/>
            <a:ext cx="11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MCP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57200" y="3950000"/>
            <a:ext cx="1509866" cy="56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657200" y="39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7066" y="3950000"/>
            <a:ext cx="1509866" cy="56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67066" y="39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76932" y="3950000"/>
            <a:ext cx="1509866" cy="56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76932" y="3950000"/>
            <a:ext cx="1509866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6798" y="3950000"/>
            <a:ext cx="2500000" cy="56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36798" y="3950000"/>
            <a:ext cx="2400000" cy="5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gitea-mcp / postgres-mcp / playwright-mcp の公式・安定性に差が出る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660000"/>
            <a:ext cx="8229600" cy="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7200" y="466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結論：Subagents と Hooks の不在は致命的 ― CLAUDE.md の『法律化』が成立しなくなる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各製品公式ドキュメント（2026-04時点）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DECISION AXIS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軸 3 ─ セキュリティ統制：情シス要件の4項目で比較。いずれも商用プランで学習利用なし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30000"/>
            <a:ext cx="1600000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30000"/>
            <a:ext cx="16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統制項目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200" y="1130000"/>
            <a:ext cx="1500000" cy="6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200" y="113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10名規模での必要性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7200" y="1130000"/>
            <a:ext cx="1709866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200" y="1130000"/>
            <a:ext cx="170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Claude Code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67066" y="1130000"/>
            <a:ext cx="1709866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67066" y="1130000"/>
            <a:ext cx="170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Copilot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932" y="1130000"/>
            <a:ext cx="1709866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932" y="1130000"/>
            <a:ext cx="170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Kiro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30000"/>
            <a:ext cx="16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200" y="173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学習利用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200" y="1730000"/>
            <a:ext cx="1500000" cy="60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57200" y="1780000"/>
            <a:ext cx="13000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  <a:latin typeface="Meiryo UI"/>
              </a:rPr>
              <a:t>必須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200" y="2040000"/>
            <a:ext cx="13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情シスが最も気にする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57200" y="17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57200" y="17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200" y="17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87200" y="17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契約で利用なし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7066" y="17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7066" y="17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7066" y="17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97066" y="17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契約で利用なし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6932" y="17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932" y="17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56932" y="17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932" y="17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AWS 契約で利用なし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330000"/>
            <a:ext cx="16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200" y="233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データ保持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200" y="2330000"/>
            <a:ext cx="1500000" cy="60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57200" y="2380000"/>
            <a:ext cx="13000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  <a:latin typeface="Meiryo UI"/>
              </a:rPr>
              <a:t>必須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57200" y="2640000"/>
            <a:ext cx="13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DPA で確認可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7200" y="2330000"/>
            <a:ext cx="380000" cy="60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57200" y="23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7200" y="23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87200" y="23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一定期間あり／ZDR は 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67066" y="2330000"/>
            <a:ext cx="380000" cy="60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66" y="23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47066" y="23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97066" y="23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一定期間あり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76932" y="23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76932" y="23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56932" y="23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932" y="23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AWS内・Bedrock 基準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30000"/>
            <a:ext cx="16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7200" y="293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SSO / SAML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200" y="2930000"/>
            <a:ext cx="1500000" cy="60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57200" y="2980000"/>
            <a:ext cx="13000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将来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57200" y="3240000"/>
            <a:ext cx="13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10名では未必須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57200" y="2930000"/>
            <a:ext cx="380000" cy="60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57200" y="29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7200" y="29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7200" y="29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Enterprise で対応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67066" y="29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67066" y="29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47066" y="29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97066" y="29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標準装備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76932" y="29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76932" y="29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56932" y="29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06932" y="29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IAM Identity Center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530000"/>
            <a:ext cx="1600000" cy="6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7200" y="353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監査ログ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200" y="3530000"/>
            <a:ext cx="1500000" cy="60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157200" y="3580000"/>
            <a:ext cx="13000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将来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57200" y="3840000"/>
            <a:ext cx="13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拡大時に必要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57200" y="3530000"/>
            <a:ext cx="380000" cy="60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57200" y="35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37200" y="35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987200" y="35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Enterprise で提供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67066" y="35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67066" y="35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47066" y="35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697066" y="35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標準装備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76932" y="3530000"/>
            <a:ext cx="380000" cy="60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976932" y="3530000"/>
            <a:ext cx="380000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56932" y="3530000"/>
            <a:ext cx="1329866" cy="6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06932" y="3530000"/>
            <a:ext cx="1229866" cy="6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CloudTrail 統合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280000"/>
            <a:ext cx="8229600" cy="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7200" y="428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結論：10名時点では『必須』2項目を全社満たす。『将来』項目は拡大時に Enterprise へ移行で対応可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各ベンダー Trust Center (2026-04時点)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11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OVERALL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総合比較マトリクス：3軸 + サブ軸を合算すると Claude Code Team が明確に優位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00000"/>
            <a:ext cx="2200000" cy="4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00000"/>
            <a:ext cx="22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評価項目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7200" y="1100000"/>
            <a:ext cx="700000" cy="47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7200" y="1100000"/>
            <a:ext cx="7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重み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7200" y="1100000"/>
            <a:ext cx="1776533" cy="4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7200" y="110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Claude Code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3733" y="1100000"/>
            <a:ext cx="1776533" cy="470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3733" y="110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Copilot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0266" y="1100000"/>
            <a:ext cx="1776533" cy="4700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0266" y="110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Kiro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70000"/>
            <a:ext cx="22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200" y="1570000"/>
            <a:ext cx="21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Gitea で L3 が成立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7200" y="1570000"/>
            <a:ext cx="7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07200" y="1570000"/>
            <a:ext cx="6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C03030"/>
                </a:solidFill>
                <a:latin typeface="Meiryo UI"/>
              </a:rPr>
              <a:t>×3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7200" y="1570000"/>
            <a:ext cx="1776533" cy="47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57200" y="157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 dirty="0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3733" y="1570000"/>
            <a:ext cx="1776533" cy="470000"/>
          </a:xfrm>
          <a:prstGeom prst="rect">
            <a:avLst/>
          </a:prstGeom>
          <a:solidFill>
            <a:srgbClr val="FEF3F3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33605" y="-765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lang="en-US" altLang="ja-JP" sz="1400" b="1" dirty="0">
                <a:solidFill>
                  <a:srgbClr val="C03030"/>
                </a:solidFill>
                <a:latin typeface="Meiryo UI"/>
              </a:rPr>
              <a:t>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0266" y="1570000"/>
            <a:ext cx="1776533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10266" y="157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040000"/>
            <a:ext cx="22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200" y="2040000"/>
            <a:ext cx="21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5要素の実現度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7200" y="2040000"/>
            <a:ext cx="7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07200" y="2040000"/>
            <a:ext cx="6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C03030"/>
                </a:solidFill>
                <a:latin typeface="Meiryo UI"/>
              </a:rPr>
              <a:t>×3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7200" y="2040000"/>
            <a:ext cx="1776533" cy="47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3733" y="1575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3733" y="2040000"/>
            <a:ext cx="1776533" cy="47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33733" y="204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 dirty="0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0266" y="2040000"/>
            <a:ext cx="1776533" cy="47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0266" y="204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10000"/>
            <a:ext cx="22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200" y="2510000"/>
            <a:ext cx="21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セキュリティ統制(10名規模)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7200" y="2510000"/>
            <a:ext cx="700000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07200" y="2510000"/>
            <a:ext cx="600000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C03030"/>
                </a:solidFill>
                <a:latin typeface="Meiryo UI"/>
              </a:rPr>
              <a:t>×2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7200" y="2510000"/>
            <a:ext cx="1776533" cy="47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57200" y="251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33733" y="2510000"/>
            <a:ext cx="1776533" cy="47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3733" y="251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10266" y="2510000"/>
            <a:ext cx="1776533" cy="47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10266" y="25100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80000"/>
            <a:ext cx="22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7200" y="2980000"/>
            <a:ext cx="21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コスト (10名/年)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7200" y="2980000"/>
            <a:ext cx="7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07200" y="2980000"/>
            <a:ext cx="6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Meiryo UI"/>
              </a:rPr>
              <a:t>×1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57200" y="2980000"/>
            <a:ext cx="1776533" cy="34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57200" y="298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3733" y="2980000"/>
            <a:ext cx="1776533" cy="34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33733" y="298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10266" y="2980000"/>
            <a:ext cx="1776533" cy="34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10266" y="298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20000"/>
            <a:ext cx="22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200" y="3320000"/>
            <a:ext cx="21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学習・運用コスト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7200" y="3320000"/>
            <a:ext cx="7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07200" y="3320000"/>
            <a:ext cx="6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Meiryo UI"/>
              </a:rPr>
              <a:t>×1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57200" y="3320000"/>
            <a:ext cx="1776533" cy="34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357200" y="332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3733" y="3320000"/>
            <a:ext cx="1776533" cy="34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33733" y="332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10266" y="3320000"/>
            <a:ext cx="1776533" cy="34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10266" y="332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60000"/>
            <a:ext cx="22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7200" y="3660000"/>
            <a:ext cx="21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ベンダーロックイン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7200" y="3660000"/>
            <a:ext cx="7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07200" y="3660000"/>
            <a:ext cx="6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Meiryo UI"/>
              </a:rPr>
              <a:t>×1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57200" y="3660000"/>
            <a:ext cx="1776533" cy="34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57200" y="366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33733" y="3660000"/>
            <a:ext cx="1776533" cy="34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33733" y="366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0266" y="3660000"/>
            <a:ext cx="1776533" cy="34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10266" y="366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00000"/>
            <a:ext cx="22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7200" y="4000000"/>
            <a:ext cx="21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国内サポート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57200" y="4000000"/>
            <a:ext cx="7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07200" y="4000000"/>
            <a:ext cx="6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Meiryo UI"/>
              </a:rPr>
              <a:t>×1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57200" y="4000000"/>
            <a:ext cx="1776533" cy="34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357200" y="400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33733" y="4000000"/>
            <a:ext cx="1776533" cy="34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133733" y="400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10266" y="4000000"/>
            <a:ext cx="1776533" cy="34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910266" y="400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40000"/>
            <a:ext cx="22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7200" y="4340000"/>
            <a:ext cx="21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将来拡張性 (秘書構想)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57200" y="4340000"/>
            <a:ext cx="700000" cy="3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07200" y="4340000"/>
            <a:ext cx="600000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Meiryo UI"/>
              </a:rPr>
              <a:t>×1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57200" y="4340000"/>
            <a:ext cx="1776533" cy="34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357200" y="434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33733" y="4340000"/>
            <a:ext cx="1776533" cy="34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133733" y="434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△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10266" y="4340000"/>
            <a:ext cx="1776533" cy="340000"/>
          </a:xfrm>
          <a:prstGeom prst="rect">
            <a:avLst/>
          </a:prstGeom>
          <a:solidFill>
            <a:srgbClr val="D0E1F5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10266" y="4340000"/>
            <a:ext cx="1776533" cy="3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4A90E2"/>
                </a:solidFill>
                <a:latin typeface="Meiryo UI"/>
              </a:rPr>
              <a:t>○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780000"/>
            <a:ext cx="2900000" cy="450000"/>
          </a:xfrm>
          <a:prstGeom prst="rect">
            <a:avLst/>
          </a:prstGeom>
          <a:solidFill>
            <a:srgbClr val="1A2B4C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07200" y="4780000"/>
            <a:ext cx="2800000" cy="4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加重合計（満点 52）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57200" y="4780000"/>
            <a:ext cx="1776533" cy="450000"/>
          </a:xfrm>
          <a:prstGeom prst="rect">
            <a:avLst/>
          </a:prstGeom>
          <a:solidFill>
            <a:srgbClr val="E8F5E9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407200" y="4780000"/>
            <a:ext cx="1676533" cy="4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Meiryo UI"/>
              </a:rPr>
              <a:t>46 / 52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33733" y="4780000"/>
            <a:ext cx="1776533" cy="45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183733" y="4780000"/>
            <a:ext cx="1676533" cy="4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32 / 52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10266" y="4780000"/>
            <a:ext cx="1776533" cy="450000"/>
          </a:xfrm>
          <a:prstGeom prst="rect">
            <a:avLst/>
          </a:prstGeom>
          <a:solidFill>
            <a:srgbClr val="FDF3E2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60266" y="4780000"/>
            <a:ext cx="1676533" cy="4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D67E1E"/>
                </a:solidFill>
                <a:latin typeface="Meiryo UI"/>
              </a:rPr>
              <a:t>37 / 52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5260000"/>
            <a:ext cx="82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主軸（青背景）= 重み×3／×2、副軸（グレー）= 重み×1。◎=4 ○=3 △=2 ×=1 点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12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9">
            <a:extLst>
              <a:ext uri="{FF2B5EF4-FFF2-40B4-BE49-F238E27FC236}">
                <a16:creationId xmlns:a16="http://schemas.microsoft.com/office/drawing/2014/main" id="{8D2B759B-18B2-4B57-ABE4-BF7A7A0032FD}"/>
              </a:ext>
            </a:extLst>
          </p:cNvPr>
          <p:cNvSpPr txBox="1"/>
          <p:nvPr/>
        </p:nvSpPr>
        <p:spPr>
          <a:xfrm>
            <a:off x="3509600" y="1722400"/>
            <a:ext cx="1776533" cy="47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 dirty="0">
                <a:solidFill>
                  <a:srgbClr val="2E7D32"/>
                </a:solidFill>
                <a:latin typeface="Meiryo UI"/>
              </a:rPr>
              <a:t>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COST / TCO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コスト比較：10名・3年TCO でも Claude Code Team は許容範囲内。投資対効果で正当化可能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4000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50000"/>
            <a:ext cx="24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費目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200" y="1150000"/>
            <a:ext cx="19432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7200" y="1150000"/>
            <a:ext cx="19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Claude Code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400" y="1150000"/>
            <a:ext cx="19432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400" y="1150000"/>
            <a:ext cx="19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Copilot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43600" y="1150000"/>
            <a:ext cx="19432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3600" y="1150000"/>
            <a:ext cx="19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Kiro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0000"/>
            <a:ext cx="24000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200" y="1570000"/>
            <a:ext cx="23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ライセンス (円/人・月)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200" y="157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200" y="157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4,500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400" y="157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50400" y="157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5,900 (≒$39)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600" y="157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600" y="157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未確定(暫定 3,000)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90000"/>
            <a:ext cx="24000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200" y="1990000"/>
            <a:ext cx="23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年額 (10名・円)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7200" y="199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07200" y="199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540,000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400" y="199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0400" y="199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708,000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3600" y="199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93600" y="199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360,000 (暫定)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10000"/>
            <a:ext cx="24000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200" y="2410000"/>
            <a:ext cx="23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3年 TCO (10名・円)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7200" y="241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07200" y="241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1,620,000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400" y="241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50400" y="241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2,124,000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600" y="241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93600" y="241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1,080,000 (暫定)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830000"/>
            <a:ext cx="24000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200" y="2830000"/>
            <a:ext cx="23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初期構築工数 (人日)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57200" y="283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07200" y="283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3 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400" y="283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50400" y="283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5 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43600" y="2830000"/>
            <a:ext cx="1943200" cy="42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93600" y="283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15〜20 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50000"/>
            <a:ext cx="24000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7200" y="3250000"/>
            <a:ext cx="23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Gitea連携追加工数 (人日)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57200" y="325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07200" y="325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1 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400" y="325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50400" y="325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(不可)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3600" y="3250000"/>
            <a:ext cx="1943200" cy="42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93600" y="3250000"/>
            <a:ext cx="18432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Meiryo UI"/>
              </a:rPr>
              <a:t>3〜5 日（MCP経由）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870000"/>
            <a:ext cx="8229600" cy="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7200" y="387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所見：Claude Code Team は Copilot Enterprise より年間 約17万円 安い。Kiro は工数込みなら同等以上に高くなる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800000"/>
            <a:ext cx="77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Source: 各ベンダー価格ページ(2026-04) / $1=150円換算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13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リスクと対策：Claude Code Team 採用時の3つの懸念はいずれも軽減策が確立している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00000"/>
            <a:ext cx="24000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24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リスク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200" y="1200000"/>
            <a:ext cx="28000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7200" y="1200000"/>
            <a:ext cx="28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影響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7200" y="1200000"/>
            <a:ext cx="3000000" cy="4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57200" y="1200000"/>
            <a:ext cx="3000000" cy="4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緩和策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0000"/>
            <a:ext cx="24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200" y="1620000"/>
            <a:ext cx="23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SSO / SAML が Team プランに無い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7200" y="1620000"/>
            <a:ext cx="28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200" y="1620000"/>
            <a:ext cx="27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情シスが10名超の拡大時に統制NGを出す可能性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7200" y="1620000"/>
            <a:ext cx="30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07200" y="1620000"/>
            <a:ext cx="29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Meiryo UI"/>
              </a:rPr>
              <a:t>10名以内で運用 → 拡大時に Enterprise($60+)へ移行。契約条項で前提を明記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20000"/>
            <a:ext cx="2400000" cy="7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200" y="2320000"/>
            <a:ext cx="23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Agent Teams が実験機能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7200" y="2320000"/>
            <a:ext cx="2800000" cy="7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07200" y="2320000"/>
            <a:ext cx="27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仕様変更・提供停止の可能性あり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7200" y="2320000"/>
            <a:ext cx="3000000" cy="70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7200" y="2320000"/>
            <a:ext cx="29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Meiryo UI"/>
              </a:rPr>
              <a:t>PoC 運用に留め、本番フローからは切り離す。コアは Skills + Subagents で構成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0000"/>
            <a:ext cx="24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200" y="3020000"/>
            <a:ext cx="23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MCP サーバーの脆弱性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200" y="3020000"/>
            <a:ext cx="28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07200" y="3020000"/>
            <a:ext cx="27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悪意のあるサーバー経由で社内情報漏洩の可能性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7200" y="3020000"/>
            <a:ext cx="3000000" cy="70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07200" y="3020000"/>
            <a:ext cx="29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Meiryo UI"/>
              </a:rPr>
              <a:t>公式 + 検証済みのみ採用。.mcp.json をリポ管理＋Hooks で未許可サーバーを遮断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70000"/>
            <a:ext cx="82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上記3件はいずれも運用ルールで制御可能。『致命的に採用を阻む』リスクは現時点で確認されていない。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RECOMMENDED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推奨構成：Claude Code Team + team-standards リポ + Gitea MCP で5要素を統合運用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00000"/>
            <a:ext cx="8229600" cy="400000"/>
          </a:xfrm>
          <a:prstGeom prst="rect">
            <a:avLst/>
          </a:prstGeom>
          <a:solidFill>
            <a:srgbClr val="D0E1F5"/>
          </a:solidFill>
          <a:ln w="63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200000"/>
            <a:ext cx="78296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チームメンバー（5〜10名）  ―  全員が Claude Code CLI + IDE で同じ秘書を呼び出す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000"/>
            <a:ext cx="8229600" cy="5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200" y="1700000"/>
            <a:ext cx="7829600" cy="5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Claude Code Team プラン  ―  Projects 共有 / Usage Analytics / チームメモリ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team-standards リポジトリ（単一のソースオブトゥルース）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80000"/>
            <a:ext cx="1565920" cy="7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8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ルール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3120" y="2580000"/>
            <a:ext cx="1565920" cy="7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23120" y="258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3120" y="291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手順書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9040" y="2580000"/>
            <a:ext cx="1565920" cy="70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89040" y="258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Subagents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9040" y="291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専門秘書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4960" y="2580000"/>
            <a:ext cx="1565920" cy="7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4960" y="258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4960" y="291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法律化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0880" y="2580000"/>
            <a:ext cx="1565920" cy="7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0880" y="258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0880" y="2910000"/>
            <a:ext cx="1565920" cy="35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外部連携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30000"/>
            <a:ext cx="2609866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430000"/>
            <a:ext cx="2609866" cy="1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Meiryo UI"/>
              </a:rPr>
              <a:t>Gitea (自社運用)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10000"/>
            <a:ext cx="2609866" cy="2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PR / Issue / Branch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7066" y="3430000"/>
            <a:ext cx="2609866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67066" y="3430000"/>
            <a:ext cx="2609866" cy="1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4A90E2"/>
                </a:solidFill>
                <a:latin typeface="Meiryo UI"/>
              </a:rPr>
              <a:t>社内 DB / ドキュメント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7066" y="3610000"/>
            <a:ext cx="2609866" cy="2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PostgreSQL / Markdown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6932" y="3430000"/>
            <a:ext cx="2609866" cy="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76932" y="3430000"/>
            <a:ext cx="2609866" cy="1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673AB7"/>
                </a:solidFill>
                <a:latin typeface="Meiryo UI"/>
              </a:rPr>
              <a:t>CI / テスト基盤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6932" y="3610000"/>
            <a:ext cx="2609866" cy="2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Playwright / lint /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80000"/>
            <a:ext cx="82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MCP 経由で Gitea・DB・CI に接続。Hooks で危険操作を遮断、Subagents でレビューを自動化。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ROLLOUT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導入ロードマップ：Day1 から3ヶ月で『秘書を育てる』基盤を立ち上げる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50000"/>
            <a:ext cx="1982400" cy="5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50000"/>
            <a:ext cx="1982400" cy="2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70000"/>
            <a:ext cx="1982400" cy="2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契約 + 最小セット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0000"/>
            <a:ext cx="1982400" cy="23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1830000"/>
            <a:ext cx="1782400" cy="2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・Team 10席契約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・team-standards リポ作成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・CLAUDE.md v0.1 (30行)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・Hooks: save-transcript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・Hooks: bash-guard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9600" y="1250000"/>
            <a:ext cx="1982400" cy="5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9600" y="1250000"/>
            <a:ext cx="1982400" cy="2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9600" y="1470000"/>
            <a:ext cx="1982400" cy="2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MCP で Gitea 接続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9600" y="1750000"/>
            <a:ext cx="1982400" cy="23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9600" y="1830000"/>
            <a:ext cx="1782400" cy="2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・gitea-mcp 導入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・PR / Issue から秘書が参照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・Day 1 Skills 3つ投入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・メンバー全員オンボード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2000" y="1250000"/>
            <a:ext cx="1982400" cy="500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2000" y="1250000"/>
            <a:ext cx="1982400" cy="2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000" y="1470000"/>
            <a:ext cx="1982400" cy="2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Subagents 投入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2000" y="1750000"/>
            <a:ext cx="1982400" cy="23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2000" y="1830000"/>
            <a:ext cx="1782400" cy="2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・VoltAgent から6つ移植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・architect-reviewer / security-auditor 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・自動 lint / review フロー構築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・金曜15分の振り返り運用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4400" y="1250000"/>
            <a:ext cx="1982400" cy="5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4400" y="1250000"/>
            <a:ext cx="1982400" cy="22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Month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4400" y="1470000"/>
            <a:ext cx="1982400" cy="2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横展開 / 評価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4400" y="1750000"/>
            <a:ext cx="1982400" cy="23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4400" y="1830000"/>
            <a:ext cx="1782400" cy="2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・Usage Analytics で定着度測定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・CLAUDE.md 100行超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・SSO/SAML 要否を情シスと合意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・Enterprise 移行 / 増員を判断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200000"/>
            <a:ext cx="82296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4230000"/>
            <a:ext cx="82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1A2B4C"/>
                </a:solidFill>
                <a:latin typeface="Meiryo UI"/>
              </a:rPr>
              <a:t>判断チェックポイント： Month 3 時点で『定着度』『5要素カバレッジ』『情シス要件』の3つをレビューし、継続 / 拡大 / 乗換を決定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決裁ポイントと次のアクション：ご承認いただきたい3点とこちらで進める5点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00000"/>
            <a:ext cx="100000" cy="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7200" y="1200000"/>
            <a:ext cx="38648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200" b="1">
                <a:solidFill>
                  <a:srgbClr val="1A2B4C"/>
                </a:solidFill>
                <a:latin typeface="Meiryo UI"/>
              </a:rPr>
              <a:t>ご承認いただきたい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200" y="1700000"/>
            <a:ext cx="3914800" cy="58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200" y="1750000"/>
            <a:ext cx="4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00" y="175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契約締結の可否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00" y="201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Claude Code Team 10席、初年度 約540千円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200" y="2400000"/>
            <a:ext cx="3914800" cy="58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200" y="2450000"/>
            <a:ext cx="4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00" y="245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対象チームの確定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00" y="271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先行10名の選定／拡大条件の合意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200" y="3100000"/>
            <a:ext cx="3914800" cy="58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200" y="3150000"/>
            <a:ext cx="4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00" y="315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情シス合意の進め方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00" y="3410000"/>
            <a:ext cx="33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DPA 入手と Trust Center 確認の担当明確化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2000" y="1200000"/>
            <a:ext cx="100000" cy="4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2000" y="1200000"/>
            <a:ext cx="38648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eiryo UI"/>
              </a:rPr>
              <a:t>こちらで進めます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72000" y="1700000"/>
            <a:ext cx="3914800" cy="4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52000" y="1700000"/>
            <a:ext cx="15000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契約後 3 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000" y="1700000"/>
            <a:ext cx="22148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team-standards リポ初期化 + CLAUDE.md v0.1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2000" y="2140000"/>
            <a:ext cx="3914800" cy="44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52000" y="2140000"/>
            <a:ext cx="15000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契約後 1 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000" y="2140000"/>
            <a:ext cx="22148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Gitea MCP 接続、10名オンボード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2000" y="2580000"/>
            <a:ext cx="3914800" cy="4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52000" y="2580000"/>
            <a:ext cx="15000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契約後 1 か月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000" y="2580000"/>
            <a:ext cx="22148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Subagents 6つ投入、金曜15分振り返り開始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72000" y="3020000"/>
            <a:ext cx="3914800" cy="440000"/>
          </a:xfrm>
          <a:prstGeom prst="rect">
            <a:avLst/>
          </a:prstGeom>
          <a:noFill/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52000" y="3020000"/>
            <a:ext cx="15000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契約後 3 か月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000" y="3020000"/>
            <a:ext cx="22148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Usage Analytics レビュー、継続可否判断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72000" y="3460000"/>
            <a:ext cx="3914800" cy="440000"/>
          </a:xfrm>
          <a:prstGeom prst="rect">
            <a:avLst/>
          </a:prstGeom>
          <a:solidFill>
            <a:srgbClr val="F6F8FB"/>
          </a:solidFill>
          <a:ln w="381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52000" y="3460000"/>
            <a:ext cx="15000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継続中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2000" y="3460000"/>
            <a:ext cx="2214800" cy="44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隔週でリーダーへ進捗共有、半期で成果報告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00000"/>
            <a:ext cx="82296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7200" y="4400000"/>
            <a:ext cx="78296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ご判断のほど、よろしくお願いいたします。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2129</Words>
  <Application>Microsoft Office PowerPoint</Application>
  <PresentationFormat>画面に合わせる (16:9)</PresentationFormat>
  <Paragraphs>446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Sano Masatoshi/佐野 雅俊(MELCO/姫事 ソ企)</cp:lastModifiedBy>
  <cp:revision>4</cp:revision>
  <dcterms:created xsi:type="dcterms:W3CDTF">2013-01-27T09:14:16Z</dcterms:created>
  <dcterms:modified xsi:type="dcterms:W3CDTF">2026-04-20T06:59:46Z</dcterms:modified>
  <cp:category/>
</cp:coreProperties>
</file>