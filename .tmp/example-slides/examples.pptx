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8950"/>
          </a:xfrm>
          <a:prstGeom prst="rect">
            <a:avLst/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具体的に、こんなことが起きている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546050"/>
            <a:ext cx="85496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99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の課題を、実際のシナリオで見てみる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81000" y="1079450"/>
            <a:ext cx="4076700" cy="3212455"/>
          </a:xfrm>
          <a:prstGeom prst="roundRect">
            <a:avLst>
              <a:gd name="adj" fmla="val 3163"/>
            </a:avLst>
          </a:prstGeom>
          <a:solidFill>
            <a:srgbClr val="FFFFFF"/>
          </a:solidFill>
          <a:ln w="9525">
            <a:solidFill>
              <a:srgbClr val="E0E4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68226" y="1266676"/>
            <a:ext cx="37762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1: ツール開発の属人化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8226" y="1603177"/>
            <a:ext cx="37762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Aさん（ターミナルで）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68226" y="1761827"/>
            <a:ext cx="3321248" cy="304800"/>
          </a:xfrm>
          <a:prstGeom prst="roundRect">
            <a:avLst>
              <a:gd name="adj" fmla="val 25000"/>
            </a:avLst>
          </a:prstGeom>
          <a:solidFill>
            <a:srgbClr val="E8F0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95176" y="1838027"/>
            <a:ext cx="31286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新しい集計ツール作って。CSV読み込んで月別にまとめて。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68226" y="2117378"/>
            <a:ext cx="37762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949226" y="2237929"/>
            <a:ext cx="3321248" cy="304800"/>
          </a:xfrm>
          <a:prstGeom prst="roundRect">
            <a:avLst>
              <a:gd name="adj" fmla="val 25000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76176" y="2314129"/>
            <a:ext cx="31286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はい、作成しました。（テストなし・設計なし・いきなりコード）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68226" y="2593479"/>
            <a:ext cx="3702248" cy="304800"/>
          </a:xfrm>
          <a:prstGeom prst="roundRect">
            <a:avLst>
              <a:gd name="adj" fmla="val 25000"/>
            </a:avLst>
          </a:prstGeom>
          <a:solidFill>
            <a:srgbClr val="FEF0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87276" y="2593479"/>
            <a:ext cx="0" cy="304800"/>
          </a:xfrm>
          <a:prstGeom prst="line">
            <a:avLst/>
          </a:prstGeom>
          <a:noFill/>
          <a:ln w="38100">
            <a:solidFill>
              <a:srgbClr val="CC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3276" y="2669679"/>
            <a:ext cx="34784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1週間後、バグ発覚。設計がないので修正に3日かかる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68226" y="2974479"/>
            <a:ext cx="37762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一方、Bさん（同じツールを知らずに）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68226" y="3133130"/>
            <a:ext cx="3321248" cy="304800"/>
          </a:xfrm>
          <a:prstGeom prst="roundRect">
            <a:avLst>
              <a:gd name="adj" fmla="val 25000"/>
            </a:avLst>
          </a:prstGeom>
          <a:solidFill>
            <a:srgbClr val="E8F0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95176" y="3209330"/>
            <a:ext cx="31286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CSV集計するスクリプトほしいんだけど...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68226" y="3488680"/>
            <a:ext cx="3702248" cy="304800"/>
          </a:xfrm>
          <a:prstGeom prst="roundRect">
            <a:avLst>
              <a:gd name="adj" fmla="val 25000"/>
            </a:avLst>
          </a:prstGeom>
          <a:solidFill>
            <a:srgbClr val="FEF0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87276" y="3488680"/>
            <a:ext cx="0" cy="304800"/>
          </a:xfrm>
          <a:prstGeom prst="line">
            <a:avLst/>
          </a:prstGeom>
          <a:noFill/>
          <a:ln w="38100">
            <a:solidFill>
              <a:srgbClr val="CC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3276" y="3564880"/>
            <a:ext cx="34784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同じようなツールが2つ存在。どちらも品質バラバラ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86300" y="1079450"/>
            <a:ext cx="4076700" cy="3212455"/>
          </a:xfrm>
          <a:prstGeom prst="roundRect">
            <a:avLst>
              <a:gd name="adj" fmla="val 3163"/>
            </a:avLst>
          </a:prstGeom>
          <a:solidFill>
            <a:srgbClr val="FFFFFF"/>
          </a:solidFill>
          <a:ln w="9525">
            <a:solidFill>
              <a:srgbClr val="E0E4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73526" y="1266676"/>
            <a:ext cx="37762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2: 失敗の繰り返し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73526" y="1603177"/>
            <a:ext cx="37762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Cさん（月曜日）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873526" y="1761827"/>
            <a:ext cx="3321248" cy="304800"/>
          </a:xfrm>
          <a:prstGeom prst="roundRect">
            <a:avLst>
              <a:gd name="adj" fmla="val 25000"/>
            </a:avLst>
          </a:prstGeom>
          <a:solidFill>
            <a:srgbClr val="E8F0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000476" y="1838027"/>
            <a:ext cx="31286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DBの接続タイムアウトが出る...設定値を変えてみよう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73526" y="2117378"/>
            <a:ext cx="3321248" cy="304800"/>
          </a:xfrm>
          <a:prstGeom prst="roundRect">
            <a:avLst>
              <a:gd name="adj" fmla="val 25000"/>
            </a:avLst>
          </a:prstGeom>
          <a:solidFill>
            <a:srgbClr val="E8F0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000476" y="2193578"/>
            <a:ext cx="31286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（3時間試行錯誤）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73526" y="2472928"/>
            <a:ext cx="3321248" cy="304800"/>
          </a:xfrm>
          <a:prstGeom prst="roundRect">
            <a:avLst>
              <a:gd name="adj" fmla="val 25000"/>
            </a:avLst>
          </a:prstGeom>
          <a:solidFill>
            <a:srgbClr val="E8F0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000476" y="2549128"/>
            <a:ext cx="31286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あ、コネクションプールの設定だった！解決！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73526" y="2828479"/>
            <a:ext cx="3702248" cy="304800"/>
          </a:xfrm>
          <a:prstGeom prst="roundRect">
            <a:avLst>
              <a:gd name="adj" fmla="val 25000"/>
            </a:avLst>
          </a:prstGeom>
          <a:solidFill>
            <a:srgbClr val="FEF0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892576" y="2828479"/>
            <a:ext cx="0" cy="304800"/>
          </a:xfrm>
          <a:prstGeom prst="line">
            <a:avLst/>
          </a:prstGeom>
          <a:noFill/>
          <a:ln w="38100">
            <a:solidFill>
              <a:srgbClr val="CC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38576" y="2904679"/>
            <a:ext cx="34784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でも、この経験はCさんの頭の中だけ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73526" y="3209479"/>
            <a:ext cx="37762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Dさん（水曜日、同じ問題に遭遇）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873526" y="3368129"/>
            <a:ext cx="3321248" cy="304800"/>
          </a:xfrm>
          <a:prstGeom prst="roundRect">
            <a:avLst>
              <a:gd name="adj" fmla="val 25000"/>
            </a:avLst>
          </a:prstGeom>
          <a:solidFill>
            <a:srgbClr val="E8F0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000476" y="3444329"/>
            <a:ext cx="31286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DBの接続タイムアウトが出る...設定値を変えてみよう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73526" y="3723680"/>
            <a:ext cx="3702248" cy="304800"/>
          </a:xfrm>
          <a:prstGeom prst="roundRect">
            <a:avLst>
              <a:gd name="adj" fmla="val 25000"/>
            </a:avLst>
          </a:prstGeom>
          <a:solidFill>
            <a:srgbClr val="FEF0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4892576" y="3723680"/>
            <a:ext cx="0" cy="304800"/>
          </a:xfrm>
          <a:prstGeom prst="line">
            <a:avLst/>
          </a:prstGeom>
          <a:noFill/>
          <a:ln w="38100">
            <a:solidFill>
              <a:srgbClr val="CC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38576" y="3799880"/>
            <a:ext cx="34784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Cさんと全く同じ3時間をまた過ごす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97180" y="4520357"/>
            <a:ext cx="8549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共通の問題:</a:t>
            </a:r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個人の経験が「その人の頭の中」で止まり、チームに還元されない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8251"/>
          </a:xfrm>
          <a:prstGeom prst="rect">
            <a:avLst/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26950"/>
            <a:ext cx="85496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秘書との開発、実際の会話はこうなる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469850"/>
            <a:ext cx="8549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99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「集計ツールを作りたい」から壁打ち → 設計 → 実装 → 共有までの流れ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1000" y="869752"/>
            <a:ext cx="2692301" cy="253901"/>
          </a:xfrm>
          <a:prstGeom prst="roundRect">
            <a:avLst>
              <a:gd name="adj" fmla="val 20008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82501" y="920502"/>
            <a:ext cx="253908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 壁打ち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81000" y="1123652"/>
            <a:ext cx="2692301" cy="3524696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2026" y="1234678"/>
            <a:ext cx="25196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あなた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492026" y="1361629"/>
            <a:ext cx="2267099" cy="234851"/>
          </a:xfrm>
          <a:prstGeom prst="roundRect">
            <a:avLst>
              <a:gd name="adj" fmla="val 21631"/>
            </a:avLst>
          </a:prstGeom>
          <a:solidFill>
            <a:srgbClr val="E8F0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68226" y="1412379"/>
            <a:ext cx="21569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CSV集計ツール作りたい。月別で売上まとめたい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92026" y="1634579"/>
            <a:ext cx="25196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秘書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695176" y="1761530"/>
            <a:ext cx="2267099" cy="234851"/>
          </a:xfrm>
          <a:prstGeom prst="roundRect">
            <a:avLst>
              <a:gd name="adj" fmla="val 21631"/>
            </a:avLst>
          </a:prstGeom>
          <a:solidFill>
            <a:srgbClr val="E8FE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71376" y="1812280"/>
            <a:ext cx="21569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了解です。いくつか確認させてください。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95176" y="2034480"/>
            <a:ext cx="2267099" cy="234851"/>
          </a:xfrm>
          <a:prstGeom prst="roundRect">
            <a:avLst>
              <a:gd name="adj" fmla="val 21631"/>
            </a:avLst>
          </a:prstGeom>
          <a:solidFill>
            <a:srgbClr val="E8FE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71376" y="2085231"/>
            <a:ext cx="21569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CSVのフォーマットは決まっていますか？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95176" y="2307431"/>
            <a:ext cx="2267099" cy="234851"/>
          </a:xfrm>
          <a:prstGeom prst="roundRect">
            <a:avLst>
              <a:gd name="adj" fmla="val 21631"/>
            </a:avLst>
          </a:prstGeom>
          <a:solidFill>
            <a:srgbClr val="E8FE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71376" y="2358182"/>
            <a:ext cx="21569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出力形式はExcel？ それともCSV？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95176" y="2580382"/>
            <a:ext cx="2267099" cy="234851"/>
          </a:xfrm>
          <a:prstGeom prst="roundRect">
            <a:avLst>
              <a:gd name="adj" fmla="val 21631"/>
            </a:avLst>
          </a:prstGeom>
          <a:solidFill>
            <a:srgbClr val="E8FE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71376" y="2631132"/>
            <a:ext cx="21569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エラー行はスキップ？ それとも中断？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92026" y="2853333"/>
            <a:ext cx="25196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あなた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492026" y="2980283"/>
            <a:ext cx="2267099" cy="368201"/>
          </a:xfrm>
          <a:prstGeom prst="roundRect">
            <a:avLst>
              <a:gd name="adj" fmla="val 13797"/>
            </a:avLst>
          </a:prstGeom>
          <a:solidFill>
            <a:srgbClr val="E8F0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68226" y="3031034"/>
            <a:ext cx="21569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フォーマットは固定。Excel出力で。エラーはスキップしてログに出して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95176" y="3386584"/>
            <a:ext cx="2267099" cy="234851"/>
          </a:xfrm>
          <a:prstGeom prst="roundRect">
            <a:avLst>
              <a:gd name="adj" fmla="val 21631"/>
            </a:avLst>
          </a:prstGeom>
          <a:solidFill>
            <a:srgbClr val="E8FE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71376" y="3437334"/>
            <a:ext cx="21569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承知しました。要件をまとめてIssueを作成しますね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225701" y="869752"/>
            <a:ext cx="2692450" cy="253901"/>
          </a:xfrm>
          <a:prstGeom prst="roundRect">
            <a:avLst>
              <a:gd name="adj" fmla="val 20008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327202" y="920502"/>
            <a:ext cx="25392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 設計 + 実装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225701" y="1123652"/>
            <a:ext cx="2692450" cy="3524696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336727" y="1234678"/>
            <a:ext cx="251980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秘書（自動）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3539877" y="1361629"/>
            <a:ext cx="2267248" cy="234851"/>
          </a:xfrm>
          <a:prstGeom prst="roundRect">
            <a:avLst>
              <a:gd name="adj" fmla="val 21631"/>
            </a:avLst>
          </a:prstGeom>
          <a:solidFill>
            <a:srgbClr val="E8FE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616077" y="1412379"/>
            <a:ext cx="21571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設計書を作成しました。確認お願いします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336727" y="1634579"/>
            <a:ext cx="2470398" cy="841177"/>
          </a:xfrm>
          <a:prstGeom prst="roundRect">
            <a:avLst>
              <a:gd name="adj" fmla="val 6039"/>
            </a:avLst>
          </a:prstGeom>
          <a:solidFill>
            <a:srgbClr val="FFFFFF"/>
          </a:solidFill>
          <a:ln w="9525">
            <a:solidFill>
              <a:srgbClr val="0066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422452" y="1720304"/>
            <a:ext cx="234492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design.md（自動生成）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3422452" y="1869430"/>
            <a:ext cx="2298948" cy="495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buSzPct val="100000"/>
              <a:buChar char="•"/>
            </a:pPr>
            <a:r>
              <a:rPr lang="en-US" sz="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入力: 固定フォーマットCSV</a:t>
            </a:r>
            <a:endParaRPr lang="en-US" sz="650" dirty="0"/>
          </a:p>
          <a:p>
            <a:pPr algn="l" marL="76200" indent="-76200">
              <a:buSzPct val="100000"/>
              <a:buChar char="•"/>
            </a:pPr>
            <a:r>
              <a:rPr lang="en-US" sz="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処理: 月別集計 + エラーハンドリング</a:t>
            </a:r>
            <a:endParaRPr lang="en-US" sz="650" dirty="0"/>
          </a:p>
          <a:p>
            <a:pPr algn="l" marL="76200" indent="-76200">
              <a:buSzPct val="100000"/>
              <a:buChar char="•"/>
            </a:pPr>
            <a:r>
              <a:rPr lang="en-US" sz="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出力: Excel (.xlsx)</a:t>
            </a:r>
            <a:endParaRPr lang="en-US" sz="650" dirty="0"/>
          </a:p>
          <a:p>
            <a:pPr algn="l" marL="76200" indent="-76200">
              <a:buSzPct val="100000"/>
              <a:buChar char="•"/>
            </a:pPr>
            <a:r>
              <a:rPr lang="en-US" sz="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テスト: 正常系3件 + 異常系2件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3336727" y="2475756"/>
            <a:ext cx="251980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あなた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3336727" y="2602706"/>
            <a:ext cx="2267248" cy="234851"/>
          </a:xfrm>
          <a:prstGeom prst="roundRect">
            <a:avLst>
              <a:gd name="adj" fmla="val 21631"/>
            </a:avLst>
          </a:prstGeom>
          <a:solidFill>
            <a:srgbClr val="E8F0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412927" y="2653457"/>
            <a:ext cx="21571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OKです。進めて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336727" y="2875657"/>
            <a:ext cx="251980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秘書（自動）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3539877" y="3002607"/>
            <a:ext cx="2267248" cy="368201"/>
          </a:xfrm>
          <a:prstGeom prst="roundRect">
            <a:avLst>
              <a:gd name="adj" fmla="val 13797"/>
            </a:avLst>
          </a:prstGeom>
          <a:solidFill>
            <a:srgbClr val="E8FE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616077" y="3053358"/>
            <a:ext cx="21571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テスト作成 &gt; コード実装 &gt; 全テストPASS。PRを出しました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070550" y="869752"/>
            <a:ext cx="2692450" cy="253901"/>
          </a:xfrm>
          <a:prstGeom prst="roundRect">
            <a:avLst>
              <a:gd name="adj" fmla="val 20008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172051" y="920502"/>
            <a:ext cx="25392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 レビュー + 共有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070550" y="1123652"/>
            <a:ext cx="2692450" cy="3524696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181576" y="1272778"/>
            <a:ext cx="2470398" cy="841177"/>
          </a:xfrm>
          <a:prstGeom prst="roundRect">
            <a:avLst>
              <a:gd name="adj" fmla="val 6039"/>
            </a:avLst>
          </a:prstGeom>
          <a:solidFill>
            <a:srgbClr val="FFFFFF"/>
          </a:solidFill>
          <a:ln w="9525">
            <a:solidFill>
              <a:srgbClr val="0066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267301" y="1358503"/>
            <a:ext cx="234492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PR #42（自動作成）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6267301" y="1482328"/>
            <a:ext cx="234492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Title: CSV月別集計ツールの追加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6267301" y="1631454"/>
            <a:ext cx="2298948" cy="371475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buSzPct val="100000"/>
              <a:buChar char="•"/>
            </a:pPr>
            <a:r>
              <a:rPr lang="en-US" sz="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設計書リンク付き</a:t>
            </a:r>
            <a:endParaRPr lang="en-US" sz="650" dirty="0"/>
          </a:p>
          <a:p>
            <a:pPr algn="l" marL="76200" indent="-76200">
              <a:buSzPct val="100000"/>
              <a:buChar char="•"/>
            </a:pPr>
            <a:r>
              <a:rPr lang="en-US" sz="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テスト結果付き</a:t>
            </a:r>
            <a:endParaRPr lang="en-US" sz="650" dirty="0"/>
          </a:p>
          <a:p>
            <a:pPr algn="l" marL="76200" indent="-76200">
              <a:buSzPct val="100000"/>
              <a:buChar char="•"/>
            </a:pPr>
            <a:r>
              <a:rPr lang="en-US" sz="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変更理由が明記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181576" y="2113955"/>
            <a:ext cx="251980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チームメンバー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6181576" y="2240905"/>
            <a:ext cx="2267248" cy="234851"/>
          </a:xfrm>
          <a:prstGeom prst="roundRect">
            <a:avLst>
              <a:gd name="adj" fmla="val 21631"/>
            </a:avLst>
          </a:prstGeom>
          <a:solidFill>
            <a:srgbClr val="E8F0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257776" y="2291655"/>
            <a:ext cx="21571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LGTM! マージします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181576" y="2513856"/>
            <a:ext cx="251980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秘書（自動）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6384727" y="2640806"/>
            <a:ext cx="2267248" cy="234851"/>
          </a:xfrm>
          <a:prstGeom prst="roundRect">
            <a:avLst>
              <a:gd name="adj" fmla="val 21631"/>
            </a:avLst>
          </a:prstGeom>
          <a:solidFill>
            <a:srgbClr val="E8FE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460927" y="2691557"/>
            <a:ext cx="21571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この開発のノウハウをチーム知識に追加しました: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384727" y="2913757"/>
            <a:ext cx="2267248" cy="393502"/>
          </a:xfrm>
          <a:prstGeom prst="roundRect">
            <a:avLst>
              <a:gd name="adj" fmla="val 12910"/>
            </a:avLst>
          </a:prstGeom>
          <a:solidFill>
            <a:srgbClr val="E8FE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6460927" y="2977158"/>
            <a:ext cx="2114848" cy="2667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buSzPct val="100000"/>
              <a:buChar char="•"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Excel出力はopenpyxlが安定</a:t>
            </a:r>
            <a:endParaRPr lang="en-US" sz="700" dirty="0"/>
          </a:p>
          <a:p>
            <a:pPr algn="l" marL="76200" indent="-76200">
              <a:buSzPct val="100000"/>
              <a:buChar char="•"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CSVエラー処理のパターン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381000" y="4737199"/>
            <a:ext cx="8382000" cy="304800"/>
          </a:xfrm>
          <a:prstGeom prst="roundRect">
            <a:avLst>
              <a:gd name="adj" fmla="val 25000"/>
            </a:avLst>
          </a:prstGeom>
          <a:solidFill>
            <a:srgbClr val="E8FE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400050" y="4737199"/>
            <a:ext cx="0" cy="304800"/>
          </a:xfrm>
          <a:prstGeom prst="line">
            <a:avLst/>
          </a:prstGeom>
          <a:noFill/>
          <a:ln w="38100">
            <a:solidFill>
              <a:srgbClr val="0066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6801" y="4813399"/>
            <a:ext cx="81482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6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ポイント:</a:t>
            </a:r>
            <a:pPr algn="l" indent="0" marL="0">
              <a:buNone/>
            </a:pPr>
            <a:r>
              <a:rPr lang="en-US" sz="800" dirty="0">
                <a:solidFill>
                  <a:srgbClr val="006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あなたが「作りたい」と言うだけで、秘書が壁打ち → 設計 → 実装 → PR → ノウハウ共有まで一貫して進める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8950"/>
          </a:xfrm>
          <a:prstGeom prst="rect">
            <a:avLst/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同じ「DBタイムアウト問題」で比べてみる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546050"/>
            <a:ext cx="85496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99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秘書がいる/いないで、解決までの時間と影響がこれだけ変わる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81000" y="1041350"/>
            <a:ext cx="3759250" cy="361950"/>
          </a:xfrm>
          <a:prstGeom prst="roundRect">
            <a:avLst>
              <a:gd name="adj" fmla="val 14035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7950" y="1117550"/>
            <a:ext cx="357545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秘書なし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1000" y="1403300"/>
            <a:ext cx="3759250" cy="3213199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7475" y="1539776"/>
            <a:ext cx="660350" cy="285452"/>
          </a:xfrm>
          <a:prstGeom prst="roundRect">
            <a:avLst>
              <a:gd name="adj" fmla="val 17796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88596" y="1577876"/>
            <a:ext cx="51810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10:00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254026" y="1565077"/>
            <a:ext cx="2749748" cy="234851"/>
          </a:xfrm>
          <a:prstGeom prst="roundRect">
            <a:avLst>
              <a:gd name="adj" fmla="val 21631"/>
            </a:avLst>
          </a:prstGeom>
          <a:solidFill>
            <a:srgbClr val="E8F0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30226" y="1615827"/>
            <a:ext cx="26492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Dさん: DBのタイムアウトエラーが出る...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17475" y="1901428"/>
            <a:ext cx="660350" cy="428327"/>
          </a:xfrm>
          <a:prstGeom prst="roundRect">
            <a:avLst>
              <a:gd name="adj" fmla="val 11860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88596" y="1939528"/>
            <a:ext cx="51810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10:30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254026" y="1926729"/>
            <a:ext cx="2749748" cy="234851"/>
          </a:xfrm>
          <a:prstGeom prst="roundRect">
            <a:avLst>
              <a:gd name="adj" fmla="val 21631"/>
            </a:avLst>
          </a:prstGeom>
          <a:solidFill>
            <a:srgbClr val="E8F0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330226" y="1977479"/>
            <a:ext cx="26492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Dさん: タイムアウト値を30秒に変えてみよう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263551" y="2186880"/>
            <a:ext cx="0" cy="142875"/>
          </a:xfrm>
          <a:prstGeom prst="line">
            <a:avLst/>
          </a:prstGeom>
          <a:noFill/>
          <a:ln w="19050">
            <a:solidFill>
              <a:srgbClr val="CC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49276" y="2186880"/>
            <a:ext cx="27075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直らない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17475" y="2405955"/>
            <a:ext cx="660350" cy="428327"/>
          </a:xfrm>
          <a:prstGeom prst="roundRect">
            <a:avLst>
              <a:gd name="adj" fmla="val 11860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88596" y="2444055"/>
            <a:ext cx="51810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11:30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254026" y="2431256"/>
            <a:ext cx="2749748" cy="234851"/>
          </a:xfrm>
          <a:prstGeom prst="roundRect">
            <a:avLst>
              <a:gd name="adj" fmla="val 21631"/>
            </a:avLst>
          </a:prstGeom>
          <a:solidFill>
            <a:srgbClr val="E8F0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330226" y="2482007"/>
            <a:ext cx="26492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Dさん: ドライバーのバージョン？ネットワーク？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1263551" y="2691408"/>
            <a:ext cx="0" cy="142875"/>
          </a:xfrm>
          <a:prstGeom prst="line">
            <a:avLst/>
          </a:prstGeom>
          <a:noFill/>
          <a:ln w="19050">
            <a:solidFill>
              <a:srgbClr val="CC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49276" y="2691408"/>
            <a:ext cx="27075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的外れな調査を2時間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17475" y="2910483"/>
            <a:ext cx="660350" cy="428327"/>
          </a:xfrm>
          <a:prstGeom prst="roundRect">
            <a:avLst>
              <a:gd name="adj" fmla="val 11860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88596" y="2948583"/>
            <a:ext cx="51810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13:00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254026" y="2935784"/>
            <a:ext cx="2749748" cy="234851"/>
          </a:xfrm>
          <a:prstGeom prst="roundRect">
            <a:avLst>
              <a:gd name="adj" fmla="val 21631"/>
            </a:avLst>
          </a:prstGeom>
          <a:solidFill>
            <a:srgbClr val="E8F0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330226" y="2986534"/>
            <a:ext cx="26492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Dさん: ...あ、コネクションプールか！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1263551" y="3195935"/>
            <a:ext cx="0" cy="142875"/>
          </a:xfrm>
          <a:prstGeom prst="line">
            <a:avLst/>
          </a:prstGeom>
          <a:noFill/>
          <a:ln w="19050">
            <a:solidFill>
              <a:srgbClr val="CC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49276" y="3195935"/>
            <a:ext cx="27075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やっと原因に気づく（3時間経過）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17475" y="3415010"/>
            <a:ext cx="3486299" cy="323850"/>
          </a:xfrm>
          <a:prstGeom prst="roundRect">
            <a:avLst>
              <a:gd name="adj" fmla="val 15686"/>
            </a:avLst>
          </a:prstGeom>
          <a:solidFill>
            <a:srgbClr val="FFF5F5"/>
          </a:solidFill>
          <a:ln w="9525">
            <a:solidFill>
              <a:srgbClr val="CC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28501" y="3500735"/>
            <a:ext cx="33295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結果: 3時間ロス。しかもCさんが先週同じ問題を解決済みだった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444901" y="2681288"/>
            <a:ext cx="25913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003602" y="1041350"/>
            <a:ext cx="3759398" cy="361950"/>
          </a:xfrm>
          <a:prstGeom prst="roundRect">
            <a:avLst>
              <a:gd name="adj" fmla="val 14035"/>
            </a:avLst>
          </a:prstGeom>
          <a:solidFill>
            <a:srgbClr val="0066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130552" y="1117550"/>
            <a:ext cx="3575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 秘書あり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03602" y="1403300"/>
            <a:ext cx="3759398" cy="3213199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140077" y="1539776"/>
            <a:ext cx="660350" cy="285452"/>
          </a:xfrm>
          <a:prstGeom prst="roundRect">
            <a:avLst>
              <a:gd name="adj" fmla="val 17796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211197" y="1577876"/>
            <a:ext cx="51810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10:00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876627" y="1565077"/>
            <a:ext cx="2749897" cy="234851"/>
          </a:xfrm>
          <a:prstGeom prst="roundRect">
            <a:avLst>
              <a:gd name="adj" fmla="val 21631"/>
            </a:avLst>
          </a:prstGeom>
          <a:solidFill>
            <a:srgbClr val="E8F0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952827" y="1615827"/>
            <a:ext cx="26494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Dさん: DBのタイムアウトエラーが出る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140077" y="1901428"/>
            <a:ext cx="660350" cy="418802"/>
          </a:xfrm>
          <a:prstGeom prst="roundRect">
            <a:avLst>
              <a:gd name="adj" fmla="val 12130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211197" y="1939528"/>
            <a:ext cx="51810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10:01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876627" y="1926729"/>
            <a:ext cx="2749897" cy="368201"/>
          </a:xfrm>
          <a:prstGeom prst="roundRect">
            <a:avLst>
              <a:gd name="adj" fmla="val 13797"/>
            </a:avLst>
          </a:prstGeom>
          <a:solidFill>
            <a:srgbClr val="E8FE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952827" y="1977479"/>
            <a:ext cx="26494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秘書: チームの知識に該当する事例があります。先週、コネクションプールの設定が原因で同様のエラーが発生しています。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140077" y="2396430"/>
            <a:ext cx="660350" cy="418802"/>
          </a:xfrm>
          <a:prstGeom prst="roundRect">
            <a:avLst>
              <a:gd name="adj" fmla="val 12130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211197" y="2434530"/>
            <a:ext cx="51810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10:02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876627" y="2421731"/>
            <a:ext cx="2749897" cy="368201"/>
          </a:xfrm>
          <a:prstGeom prst="roundRect">
            <a:avLst>
              <a:gd name="adj" fmla="val 13797"/>
            </a:avLst>
          </a:prstGeom>
          <a:solidFill>
            <a:srgbClr val="E8FE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952827" y="2472482"/>
            <a:ext cx="26494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秘書: 解決策 - pool.max を 10 → 20 に変更、pool.idleTimeout を 30000 に設定。修正PRも自動で作成しますか？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140077" y="2891433"/>
            <a:ext cx="660350" cy="428327"/>
          </a:xfrm>
          <a:prstGeom prst="roundRect">
            <a:avLst>
              <a:gd name="adj" fmla="val 11860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211197" y="2929533"/>
            <a:ext cx="51810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10:05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876627" y="2916734"/>
            <a:ext cx="2749897" cy="234851"/>
          </a:xfrm>
          <a:prstGeom prst="roundRect">
            <a:avLst>
              <a:gd name="adj" fmla="val 21631"/>
            </a:avLst>
          </a:prstGeom>
          <a:solidFill>
            <a:srgbClr val="E8F0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952827" y="2967484"/>
            <a:ext cx="26494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Dさん: お願い！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5886152" y="3176885"/>
            <a:ext cx="0" cy="142875"/>
          </a:xfrm>
          <a:prstGeom prst="line">
            <a:avLst/>
          </a:prstGeom>
          <a:noFill/>
          <a:ln w="19050">
            <a:solidFill>
              <a:srgbClr val="0066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71877" y="3176885"/>
            <a:ext cx="27077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006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秘書がPR作成。5分で解決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5140077" y="3395960"/>
            <a:ext cx="3486448" cy="323850"/>
          </a:xfrm>
          <a:prstGeom prst="roundRect">
            <a:avLst>
              <a:gd name="adj" fmla="val 15686"/>
            </a:avLst>
          </a:prstGeom>
          <a:solidFill>
            <a:srgbClr val="E8FEF0"/>
          </a:solidFill>
          <a:ln w="9525">
            <a:solidFill>
              <a:srgbClr val="0066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251103" y="3481685"/>
            <a:ext cx="33296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6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結果: 5分で解決。Cさんの経験がチーム全体の力になった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97180" y="4845100"/>
            <a:ext cx="8549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3時間 → 5分。</a:t>
            </a:r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秘書どうしが知識を共有しているから、誰かの経験が全員を助ける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8950"/>
          </a:xfrm>
          <a:prstGeom prst="rect">
            <a:avLst/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3層構造の具体例: Aさんの失敗が、どう共有されるか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546050"/>
            <a:ext cx="85496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99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「DBタイムアウトで3時間ハマった」経験が、チームの知識になるまでの流れ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81000" y="1041350"/>
            <a:ext cx="2472333" cy="253901"/>
          </a:xfrm>
          <a:prstGeom prst="roundRect">
            <a:avLst>
              <a:gd name="adj" fmla="val 20008"/>
            </a:avLst>
          </a:prstGeom>
          <a:solidFill>
            <a:srgbClr val="9999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82501" y="1092101"/>
            <a:ext cx="23147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Aさんの秘書（個人層）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81000" y="1295251"/>
            <a:ext cx="2472333" cy="2157859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2026" y="1406277"/>
            <a:ext cx="22952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Aさんの作業ログ（本人だけが見える）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92026" y="1609427"/>
            <a:ext cx="2250281" cy="234851"/>
          </a:xfrm>
          <a:prstGeom prst="roundRect">
            <a:avLst>
              <a:gd name="adj" fmla="val 21631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01551" y="1609427"/>
            <a:ext cx="0" cy="234851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7276" y="1660178"/>
            <a:ext cx="21204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10:00 DBタイムアウト発生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92026" y="1869579"/>
            <a:ext cx="2250281" cy="234851"/>
          </a:xfrm>
          <a:prstGeom prst="roundRect">
            <a:avLst>
              <a:gd name="adj" fmla="val 21631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01551" y="1869579"/>
            <a:ext cx="0" cy="234851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7276" y="1920329"/>
            <a:ext cx="21204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10:30 タイムアウト値変更 → 効果なし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92026" y="2129730"/>
            <a:ext cx="2250281" cy="234851"/>
          </a:xfrm>
          <a:prstGeom prst="roundRect">
            <a:avLst>
              <a:gd name="adj" fmla="val 21631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01551" y="2129730"/>
            <a:ext cx="0" cy="234851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276" y="2180481"/>
            <a:ext cx="21204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11:00 ドライバー調査 → 関係なし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92026" y="2389882"/>
            <a:ext cx="2250281" cy="234851"/>
          </a:xfrm>
          <a:prstGeom prst="roundRect">
            <a:avLst>
              <a:gd name="adj" fmla="val 21631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01551" y="2389882"/>
            <a:ext cx="0" cy="234851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7276" y="2440632"/>
            <a:ext cx="21204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13:00 コネクションプール設定で解決！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92026" y="2662833"/>
            <a:ext cx="2250281" cy="368201"/>
          </a:xfrm>
          <a:prstGeom prst="roundRect">
            <a:avLst>
              <a:gd name="adj" fmla="val 13797"/>
            </a:avLst>
          </a:prstGeom>
          <a:solidFill>
            <a:srgbClr val="E8FE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68226" y="2713583"/>
            <a:ext cx="21398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秘書: これ、チームに共有しませんか？同じ問題で困る人がいるかもしれません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92026" y="3069134"/>
            <a:ext cx="2250281" cy="234851"/>
          </a:xfrm>
          <a:prstGeom prst="roundRect">
            <a:avLst>
              <a:gd name="adj" fmla="val 21631"/>
            </a:avLst>
          </a:prstGeom>
          <a:solidFill>
            <a:srgbClr val="E8F0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68226" y="3119884"/>
            <a:ext cx="2139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Aさん: そうだね、共有して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005584" y="1041350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335685" y="1041350"/>
            <a:ext cx="2472482" cy="253901"/>
          </a:xfrm>
          <a:prstGeom prst="roundRect">
            <a:avLst>
              <a:gd name="adj" fmla="val 20008"/>
            </a:avLst>
          </a:prstGeom>
          <a:solidFill>
            <a:srgbClr val="6666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437186" y="1092101"/>
            <a:ext cx="23148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匿名化ナレッジ層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335685" y="1295251"/>
            <a:ext cx="2472482" cy="2471589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446711" y="1406277"/>
            <a:ext cx="22954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秘書が自動で匿名化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446711" y="1609427"/>
            <a:ext cx="2250430" cy="234851"/>
          </a:xfrm>
          <a:prstGeom prst="roundRect">
            <a:avLst>
              <a:gd name="adj" fmla="val 2163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3456236" y="1609427"/>
            <a:ext cx="0" cy="234851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41961" y="1660178"/>
            <a:ext cx="21205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Before（個人層）: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446711" y="1869579"/>
            <a:ext cx="2250430" cy="234851"/>
          </a:xfrm>
          <a:prstGeom prst="roundRect">
            <a:avLst>
              <a:gd name="adj" fmla="val 2163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3456236" y="1869579"/>
            <a:ext cx="0" cy="234851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41961" y="1920329"/>
            <a:ext cx="21205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「Aさんが3時間ハマった」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424206" y="2155031"/>
            <a:ext cx="22954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446711" y="2348508"/>
            <a:ext cx="2250430" cy="234851"/>
          </a:xfrm>
          <a:prstGeom prst="roundRect">
            <a:avLst>
              <a:gd name="adj" fmla="val 2163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3456236" y="2348508"/>
            <a:ext cx="0" cy="234851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41961" y="2399258"/>
            <a:ext cx="21205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After（匿名化後）: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446711" y="2608659"/>
            <a:ext cx="2250430" cy="368201"/>
          </a:xfrm>
          <a:prstGeom prst="roundRect">
            <a:avLst>
              <a:gd name="adj" fmla="val 13797"/>
            </a:avLst>
          </a:prstGeom>
          <a:solidFill>
            <a:srgbClr val="F0F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3456236" y="2608659"/>
            <a:ext cx="0" cy="368201"/>
          </a:xfrm>
          <a:prstGeom prst="line">
            <a:avLst/>
          </a:prstGeom>
          <a:noFill/>
          <a:ln w="19050">
            <a:solidFill>
              <a:srgbClr val="0033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41961" y="2659410"/>
            <a:ext cx="21205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「DBタイムアウト時はコネクションプール設定を確認」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446711" y="3002161"/>
            <a:ext cx="2250430" cy="234851"/>
          </a:xfrm>
          <a:prstGeom prst="roundRect">
            <a:avLst>
              <a:gd name="adj" fmla="val 21631"/>
            </a:avLst>
          </a:prstGeom>
          <a:solidFill>
            <a:srgbClr val="F0F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3456236" y="3002161"/>
            <a:ext cx="0" cy="234851"/>
          </a:xfrm>
          <a:prstGeom prst="line">
            <a:avLst/>
          </a:prstGeom>
          <a:noFill/>
          <a:ln w="19050">
            <a:solidFill>
              <a:srgbClr val="00336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41961" y="3052911"/>
            <a:ext cx="21205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「pool.max: 10→20, idleTimeout: 30000 で解決」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3446711" y="3262313"/>
            <a:ext cx="2250430" cy="368201"/>
          </a:xfrm>
          <a:prstGeom prst="roundRect">
            <a:avLst>
              <a:gd name="adj" fmla="val 13797"/>
            </a:avLst>
          </a:prstGeom>
          <a:solidFill>
            <a:srgbClr val="F0F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3456236" y="3262313"/>
            <a:ext cx="0" cy="368201"/>
          </a:xfrm>
          <a:prstGeom prst="line">
            <a:avLst/>
          </a:prstGeom>
          <a:noFill/>
          <a:ln w="19050">
            <a:solidFill>
              <a:srgbClr val="00336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41961" y="3313063"/>
            <a:ext cx="21205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「タイムアウト値変更やドライバー調査は効果なし」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960418" y="1041350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290518" y="1041350"/>
            <a:ext cx="2472482" cy="253901"/>
          </a:xfrm>
          <a:prstGeom prst="roundRect">
            <a:avLst>
              <a:gd name="adj" fmla="val 20008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392019" y="1092101"/>
            <a:ext cx="23148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チーム共有層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290518" y="1295251"/>
            <a:ext cx="2472482" cy="1976884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401544" y="1406277"/>
            <a:ext cx="22954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全員の秘書が自動で同期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401544" y="1609427"/>
            <a:ext cx="2250430" cy="234851"/>
          </a:xfrm>
          <a:prstGeom prst="roundRect">
            <a:avLst>
              <a:gd name="adj" fmla="val 21631"/>
            </a:avLst>
          </a:prstGeom>
          <a:solidFill>
            <a:srgbClr val="F0F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6411069" y="1609427"/>
            <a:ext cx="0" cy="234851"/>
          </a:xfrm>
          <a:prstGeom prst="line">
            <a:avLst/>
          </a:prstGeom>
          <a:noFill/>
          <a:ln w="19050">
            <a:solidFill>
              <a:srgbClr val="00336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96794" y="1660178"/>
            <a:ext cx="21205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Bさんの秘書 ← 同期済み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6401544" y="1869579"/>
            <a:ext cx="2250430" cy="234851"/>
          </a:xfrm>
          <a:prstGeom prst="roundRect">
            <a:avLst>
              <a:gd name="adj" fmla="val 21631"/>
            </a:avLst>
          </a:prstGeom>
          <a:solidFill>
            <a:srgbClr val="F0F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Shape 56"/>
          <p:cNvSpPr/>
          <p:nvPr/>
        </p:nvSpPr>
        <p:spPr>
          <a:xfrm>
            <a:off x="6411069" y="1869579"/>
            <a:ext cx="0" cy="234851"/>
          </a:xfrm>
          <a:prstGeom prst="line">
            <a:avLst/>
          </a:prstGeom>
          <a:noFill/>
          <a:ln w="19050">
            <a:solidFill>
              <a:srgbClr val="00336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96794" y="1920329"/>
            <a:ext cx="21205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Cさんの秘書 ← 同期済み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6401544" y="2129730"/>
            <a:ext cx="2250430" cy="234851"/>
          </a:xfrm>
          <a:prstGeom prst="roundRect">
            <a:avLst>
              <a:gd name="adj" fmla="val 21631"/>
            </a:avLst>
          </a:prstGeom>
          <a:solidFill>
            <a:srgbClr val="F0F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Shape 59"/>
          <p:cNvSpPr/>
          <p:nvPr/>
        </p:nvSpPr>
        <p:spPr>
          <a:xfrm>
            <a:off x="6411069" y="2129730"/>
            <a:ext cx="0" cy="234851"/>
          </a:xfrm>
          <a:prstGeom prst="line">
            <a:avLst/>
          </a:prstGeom>
          <a:noFill/>
          <a:ln w="19050">
            <a:solidFill>
              <a:srgbClr val="00336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96794" y="2180481"/>
            <a:ext cx="21205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Dさんの秘書 ← 同期済み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6379040" y="2415183"/>
            <a:ext cx="22954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401544" y="2621459"/>
            <a:ext cx="2250430" cy="501551"/>
          </a:xfrm>
          <a:prstGeom prst="roundRect">
            <a:avLst>
              <a:gd name="adj" fmla="val 10129"/>
            </a:avLst>
          </a:prstGeom>
          <a:solidFill>
            <a:srgbClr val="E8FE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6477744" y="2672209"/>
            <a:ext cx="213999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Dさんの秘書（翌週）: DBタイムアウトですね。チームの知識によると、コネクションプール設定が原因の可能性が高いです。確認しますか？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381000" y="4489698"/>
            <a:ext cx="8382000" cy="526852"/>
          </a:xfrm>
          <a:prstGeom prst="roundRect">
            <a:avLst>
              <a:gd name="adj" fmla="val 14463"/>
            </a:avLst>
          </a:prstGeom>
          <a:solidFill>
            <a:srgbClr val="FFFFFF"/>
          </a:solidFill>
          <a:ln w="9525">
            <a:solidFill>
              <a:srgbClr val="E0E4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568226" y="4600724"/>
            <a:ext cx="8167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プライバシーのポイント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68226" y="4753124"/>
            <a:ext cx="8167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Aさんの名前や試行錯誤の過程は共有されない。共有されるのは「教訓」だけ。本人が「共有して」と言わない限り、秘書は勝手に共有しない。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8251"/>
          </a:xfrm>
          <a:prstGeom prst="rect">
            <a:avLst/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26950"/>
            <a:ext cx="85496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組織の働き方が変わる具体例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469850"/>
            <a:ext cx="8549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99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会議・進捗確認・新メンバー受入 ー 秘書がいるとこう変わる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17450" y="869752"/>
            <a:ext cx="2734717" cy="3867596"/>
          </a:xfrm>
          <a:prstGeom prst="roundRect">
            <a:avLst>
              <a:gd name="adj" fmla="val 2786"/>
            </a:avLst>
          </a:prstGeom>
          <a:solidFill>
            <a:srgbClr val="FFFFFF"/>
          </a:solidFill>
          <a:ln w="9525">
            <a:solidFill>
              <a:srgbClr val="E0E4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583234" y="980777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652885" y="1015603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03350" y="1222028"/>
            <a:ext cx="25629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会議の議事録と展開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8476" y="1507778"/>
            <a:ext cx="25629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会議中（秘書が自動記録）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428476" y="1650504"/>
            <a:ext cx="2512665" cy="558701"/>
          </a:xfrm>
          <a:prstGeom prst="roundRect">
            <a:avLst>
              <a:gd name="adj" fmla="val 9093"/>
            </a:avLst>
          </a:prstGeom>
          <a:solidFill>
            <a:srgbClr val="F0F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38001" y="1650504"/>
            <a:ext cx="0" cy="558701"/>
          </a:xfrm>
          <a:prstGeom prst="line">
            <a:avLst/>
          </a:prstGeom>
          <a:noFill/>
          <a:ln w="19050">
            <a:solidFill>
              <a:srgbClr val="0033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0927" y="1688604"/>
            <a:ext cx="24141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議事録（自動生成）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510927" y="1815554"/>
            <a:ext cx="2366814" cy="342900"/>
          </a:xfrm>
          <a:prstGeom prst="rect">
            <a:avLst/>
          </a:prstGeom>
          <a:noFill/>
          <a:ln/>
        </p:spPr>
        <p:txBody>
          <a:bodyPr wrap="square" lIns="63500" tIns="0" rIns="0" bIns="0" rtlCol="0" anchor="t"/>
          <a:lstStyle/>
          <a:p>
            <a:pPr algn="l" marL="63500" indent="-63500">
              <a:buSzPct val="100000"/>
              <a:buChar char="•"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API仕様の変更を決定</a:t>
            </a:r>
            <a:endParaRPr lang="en-US" sz="600" dirty="0"/>
          </a:p>
          <a:p>
            <a:pPr algn="l" marL="63500" indent="-63500">
              <a:buSzPct val="100000"/>
              <a:buChar char="•"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担当: Bさん、期限: 4/15</a:t>
            </a:r>
            <a:endParaRPr lang="en-US" sz="600" dirty="0"/>
          </a:p>
          <a:p>
            <a:pPr algn="l" marL="63500" indent="-63500">
              <a:buSzPct val="100000"/>
              <a:buChar char="•"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CさんはUI側の影響を調査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428476" y="2272605"/>
            <a:ext cx="25629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会議後（秘書が自動展開）</a:t>
            </a:r>
            <a:endParaRPr lang="en-US" sz="550" dirty="0"/>
          </a:p>
        </p:txBody>
      </p:sp>
      <p:sp>
        <p:nvSpPr>
          <p:cNvPr id="15" name="Text 13"/>
          <p:cNvSpPr/>
          <p:nvPr/>
        </p:nvSpPr>
        <p:spPr>
          <a:xfrm>
            <a:off x="529977" y="2415332"/>
            <a:ext cx="2411164" cy="323850"/>
          </a:xfrm>
          <a:prstGeom prst="roundRect">
            <a:avLst>
              <a:gd name="adj" fmla="val 15686"/>
            </a:avLst>
          </a:prstGeom>
          <a:solidFill>
            <a:srgbClr val="E8FE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93378" y="2453432"/>
            <a:ext cx="2330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Bさんの秘書: API仕様変更が決まりました。4/15期限でIssueを作成しました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529977" y="2789783"/>
            <a:ext cx="2411164" cy="200025"/>
          </a:xfrm>
          <a:prstGeom prst="roundRect">
            <a:avLst>
              <a:gd name="adj" fmla="val 25397"/>
            </a:avLst>
          </a:prstGeom>
          <a:solidFill>
            <a:srgbClr val="E8FE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93378" y="2827883"/>
            <a:ext cx="23300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Cさんの秘書: UI影響調査のタスクが振られています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529977" y="3040410"/>
            <a:ext cx="2411164" cy="323850"/>
          </a:xfrm>
          <a:prstGeom prst="roundRect">
            <a:avLst>
              <a:gd name="adj" fmla="val 15686"/>
            </a:avLst>
          </a:prstGeom>
          <a:solidFill>
            <a:srgbClr val="E8FE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93378" y="3078510"/>
            <a:ext cx="2330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Eさんの秘書（不参加）: API仕様変更が決まりました。バッチ処理に影響があります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428476" y="3440311"/>
            <a:ext cx="2512665" cy="253901"/>
          </a:xfrm>
          <a:prstGeom prst="roundRect">
            <a:avLst>
              <a:gd name="adj" fmla="val 20008"/>
            </a:avLst>
          </a:prstGeom>
          <a:solidFill>
            <a:srgbClr val="E8FEF0"/>
          </a:solidFill>
          <a:ln w="9525">
            <a:solidFill>
              <a:srgbClr val="0066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7734" y="3500586"/>
            <a:ext cx="24141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6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全員参加不要。関係ある情報だけ届く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204567" y="869752"/>
            <a:ext cx="2734866" cy="3867596"/>
          </a:xfrm>
          <a:prstGeom prst="roundRect">
            <a:avLst>
              <a:gd name="adj" fmla="val 2786"/>
            </a:avLst>
          </a:prstGeom>
          <a:solidFill>
            <a:srgbClr val="FFFFFF"/>
          </a:solidFill>
          <a:ln w="9525">
            <a:solidFill>
              <a:srgbClr val="E0E4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470350" y="980777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540002" y="1015603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90465" y="1222028"/>
            <a:ext cx="25630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進捗確認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15593" y="1507778"/>
            <a:ext cx="256307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リーダー</a:t>
            </a:r>
            <a:endParaRPr lang="en-US" sz="550" dirty="0"/>
          </a:p>
        </p:txBody>
      </p:sp>
      <p:sp>
        <p:nvSpPr>
          <p:cNvPr id="28" name="Text 26"/>
          <p:cNvSpPr/>
          <p:nvPr/>
        </p:nvSpPr>
        <p:spPr>
          <a:xfrm>
            <a:off x="3315593" y="1650504"/>
            <a:ext cx="2411313" cy="200025"/>
          </a:xfrm>
          <a:prstGeom prst="roundRect">
            <a:avLst>
              <a:gd name="adj" fmla="val 25397"/>
            </a:avLst>
          </a:prstGeom>
          <a:solidFill>
            <a:srgbClr val="E8F0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378994" y="1688604"/>
            <a:ext cx="233020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API仕様変更の進捗はどうなってる？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3315593" y="1913930"/>
            <a:ext cx="256307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秘書</a:t>
            </a:r>
            <a:endParaRPr lang="en-US" sz="550" dirty="0"/>
          </a:p>
        </p:txBody>
      </p:sp>
      <p:sp>
        <p:nvSpPr>
          <p:cNvPr id="31" name="Text 29"/>
          <p:cNvSpPr/>
          <p:nvPr/>
        </p:nvSpPr>
        <p:spPr>
          <a:xfrm>
            <a:off x="3417094" y="2056656"/>
            <a:ext cx="2411313" cy="200025"/>
          </a:xfrm>
          <a:prstGeom prst="roundRect">
            <a:avLst>
              <a:gd name="adj" fmla="val 25397"/>
            </a:avLst>
          </a:prstGeom>
          <a:solidFill>
            <a:srgbClr val="E8FE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480495" y="2094756"/>
            <a:ext cx="233020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現在の状況をまとめます: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3315593" y="2307282"/>
            <a:ext cx="2512814" cy="673001"/>
          </a:xfrm>
          <a:prstGeom prst="roundRect">
            <a:avLst>
              <a:gd name="adj" fmla="val 7548"/>
            </a:avLst>
          </a:prstGeom>
          <a:solidFill>
            <a:srgbClr val="F0F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3325118" y="2307282"/>
            <a:ext cx="0" cy="673001"/>
          </a:xfrm>
          <a:prstGeom prst="line">
            <a:avLst/>
          </a:prstGeom>
          <a:noFill/>
          <a:ln w="19050">
            <a:solidFill>
              <a:srgbClr val="0033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98044" y="2345382"/>
            <a:ext cx="24143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API仕様変更（4/15期限）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3398044" y="2472333"/>
            <a:ext cx="2366963" cy="457200"/>
          </a:xfrm>
          <a:prstGeom prst="rect">
            <a:avLst/>
          </a:prstGeom>
          <a:noFill/>
          <a:ln/>
        </p:spPr>
        <p:txBody>
          <a:bodyPr wrap="square" lIns="63500" tIns="0" rIns="0" bIns="0" rtlCol="0" anchor="t"/>
          <a:lstStyle/>
          <a:p>
            <a:pPr algn="l" marL="63500" indent="-63500">
              <a:buSzPct val="100000"/>
              <a:buChar char="•"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Bさん: 設計完了、実装中（PR #51）</a:t>
            </a:r>
            <a:endParaRPr lang="en-US" sz="600" dirty="0"/>
          </a:p>
          <a:p>
            <a:pPr algn="l" marL="63500" indent="-63500">
              <a:buSzPct val="100000"/>
              <a:buChar char="•"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Cさん: UI影響調査完了。変更2件</a:t>
            </a:r>
            <a:endParaRPr lang="en-US" sz="600" dirty="0"/>
          </a:p>
          <a:p>
            <a:pPr algn="l" marL="63500" indent="-63500">
              <a:buSzPct val="100000"/>
              <a:buChar char="•"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Eさん: バッチ処理の修正PR準備中</a:t>
            </a:r>
            <a:endParaRPr lang="en-US" sz="600" dirty="0"/>
          </a:p>
          <a:p>
            <a:pPr algn="l" marL="63500" indent="-63500">
              <a:buSzPct val="100000"/>
              <a:buChar char="•"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リスク: テスト環境のDB移行が未完了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3315593" y="3056334"/>
            <a:ext cx="2512814" cy="253901"/>
          </a:xfrm>
          <a:prstGeom prst="roundRect">
            <a:avLst>
              <a:gd name="adj" fmla="val 20008"/>
            </a:avLst>
          </a:prstGeom>
          <a:solidFill>
            <a:srgbClr val="E8FEF0"/>
          </a:solidFill>
          <a:ln w="9525">
            <a:solidFill>
              <a:srgbClr val="0066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364849" y="3116610"/>
            <a:ext cx="24143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6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誰にも聞かず、秘書に聞くだけで全容把握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091833" y="869752"/>
            <a:ext cx="2734717" cy="3867596"/>
          </a:xfrm>
          <a:prstGeom prst="roundRect">
            <a:avLst>
              <a:gd name="adj" fmla="val 2786"/>
            </a:avLst>
          </a:prstGeom>
          <a:solidFill>
            <a:srgbClr val="FFFFFF"/>
          </a:solidFill>
          <a:ln w="9525">
            <a:solidFill>
              <a:srgbClr val="E0E4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357616" y="980777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427268" y="1015603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177732" y="1222028"/>
            <a:ext cx="25629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新メンバーの受入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202859" y="1507778"/>
            <a:ext cx="25629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新メンバーFさん</a:t>
            </a:r>
            <a:endParaRPr lang="en-US" sz="550" dirty="0"/>
          </a:p>
        </p:txBody>
      </p:sp>
      <p:sp>
        <p:nvSpPr>
          <p:cNvPr id="44" name="Text 42"/>
          <p:cNvSpPr/>
          <p:nvPr/>
        </p:nvSpPr>
        <p:spPr>
          <a:xfrm>
            <a:off x="6202859" y="1650504"/>
            <a:ext cx="2411164" cy="200025"/>
          </a:xfrm>
          <a:prstGeom prst="roundRect">
            <a:avLst>
              <a:gd name="adj" fmla="val 25397"/>
            </a:avLst>
          </a:prstGeom>
          <a:solidFill>
            <a:srgbClr val="E8F0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266259" y="1688604"/>
            <a:ext cx="23300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このプロジェクトの全体像を教えて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6202859" y="1913930"/>
            <a:ext cx="25629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Fさんの秘書</a:t>
            </a:r>
            <a:endParaRPr lang="en-US" sz="550" dirty="0"/>
          </a:p>
        </p:txBody>
      </p:sp>
      <p:sp>
        <p:nvSpPr>
          <p:cNvPr id="47" name="Text 45"/>
          <p:cNvSpPr/>
          <p:nvPr/>
        </p:nvSpPr>
        <p:spPr>
          <a:xfrm>
            <a:off x="6304359" y="2056656"/>
            <a:ext cx="2411164" cy="200025"/>
          </a:xfrm>
          <a:prstGeom prst="roundRect">
            <a:avLst>
              <a:gd name="adj" fmla="val 25397"/>
            </a:avLst>
          </a:prstGeom>
          <a:solidFill>
            <a:srgbClr val="E8FE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367760" y="2094756"/>
            <a:ext cx="23300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プロジェクトの概要をまとめますね: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6202859" y="2307282"/>
            <a:ext cx="2512665" cy="558701"/>
          </a:xfrm>
          <a:prstGeom prst="roundRect">
            <a:avLst>
              <a:gd name="adj" fmla="val 9093"/>
            </a:avLst>
          </a:prstGeom>
          <a:solidFill>
            <a:srgbClr val="F0F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6212384" y="2307282"/>
            <a:ext cx="0" cy="558701"/>
          </a:xfrm>
          <a:prstGeom prst="line">
            <a:avLst/>
          </a:prstGeom>
          <a:noFill/>
          <a:ln w="19050">
            <a:solidFill>
              <a:srgbClr val="00336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85309" y="2345382"/>
            <a:ext cx="24141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プロジェクト概要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6285309" y="2472333"/>
            <a:ext cx="2366814" cy="342900"/>
          </a:xfrm>
          <a:prstGeom prst="rect">
            <a:avLst/>
          </a:prstGeom>
          <a:noFill/>
          <a:ln/>
        </p:spPr>
        <p:txBody>
          <a:bodyPr wrap="square" lIns="63500" tIns="0" rIns="0" bIns="0" rtlCol="0" anchor="t"/>
          <a:lstStyle/>
          <a:p>
            <a:pPr algn="l" marL="63500" indent="-63500">
              <a:buSzPct val="100000"/>
              <a:buChar char="•"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目的: 社内DXポータルの構築</a:t>
            </a:r>
            <a:endParaRPr lang="en-US" sz="600" dirty="0"/>
          </a:p>
          <a:p>
            <a:pPr algn="l" marL="63500" indent="-63500">
              <a:buSzPct val="100000"/>
              <a:buChar char="•"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技術: React + Python + PostgreSQL</a:t>
            </a:r>
            <a:endParaRPr lang="en-US" sz="600" dirty="0"/>
          </a:p>
          <a:p>
            <a:pPr algn="l" marL="63500" indent="-63500">
              <a:buSzPct val="100000"/>
              <a:buChar char="•"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現在: Phase 2（API設計中）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6304359" y="2916585"/>
            <a:ext cx="2411164" cy="200025"/>
          </a:xfrm>
          <a:prstGeom prst="roundRect">
            <a:avLst>
              <a:gd name="adj" fmla="val 25397"/>
            </a:avLst>
          </a:prstGeom>
          <a:solidFill>
            <a:srgbClr val="E8FE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6367760" y="2954685"/>
            <a:ext cx="23300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最近の重要な決定事項: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6202859" y="3167211"/>
            <a:ext cx="2512665" cy="330101"/>
          </a:xfrm>
          <a:prstGeom prst="roundRect">
            <a:avLst>
              <a:gd name="adj" fmla="val 15389"/>
            </a:avLst>
          </a:prstGeom>
          <a:solidFill>
            <a:srgbClr val="F0F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6212384" y="3167211"/>
            <a:ext cx="0" cy="330101"/>
          </a:xfrm>
          <a:prstGeom prst="line">
            <a:avLst/>
          </a:prstGeom>
          <a:noFill/>
          <a:ln w="19050">
            <a:solidFill>
              <a:srgbClr val="00336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85309" y="3217962"/>
            <a:ext cx="2366814" cy="228600"/>
          </a:xfrm>
          <a:prstGeom prst="rect">
            <a:avLst/>
          </a:prstGeom>
          <a:noFill/>
          <a:ln/>
        </p:spPr>
        <p:txBody>
          <a:bodyPr wrap="square" lIns="63500" tIns="0" rIns="0" bIns="0" rtlCol="0" anchor="t"/>
          <a:lstStyle/>
          <a:p>
            <a:pPr algn="l" marL="63500" indent="-63500">
              <a:buSzPct val="100000"/>
              <a:buChar char="•"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4/8 API仕様変更（認証方式をJWTに統一）</a:t>
            </a:r>
            <a:endParaRPr lang="en-US" sz="600" dirty="0"/>
          </a:p>
          <a:p>
            <a:pPr algn="l" marL="63500" indent="-63500">
              <a:buSzPct val="100000"/>
              <a:buChar char="•"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3/25 DBをMySQL→PostgreSQLに移行決定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6202859" y="3573363"/>
            <a:ext cx="2512665" cy="253901"/>
          </a:xfrm>
          <a:prstGeom prst="roundRect">
            <a:avLst>
              <a:gd name="adj" fmla="val 20008"/>
            </a:avLst>
          </a:prstGeom>
          <a:solidFill>
            <a:srgbClr val="E8FEF0"/>
          </a:solidFill>
          <a:ln w="9525">
            <a:solidFill>
              <a:srgbClr val="0066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6252116" y="3633639"/>
            <a:ext cx="24141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6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先輩の時間を奪わず、自分のペースでキャッチアップ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232359" y="4889599"/>
            <a:ext cx="86792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秘書は開発だけでなく、組織の「情報の流れ」そのものを改善する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Collaborative Dev Platform - Examples</dc:title>
  <dc:subject>PptxGenJS Presentation</dc:subject>
  <dc:creator>DX Portal Team</dc:creator>
  <cp:lastModifiedBy>DX Portal Team</cp:lastModifiedBy>
  <cp:revision>1</cp:revision>
  <dcterms:created xsi:type="dcterms:W3CDTF">2026-04-08T07:31:13Z</dcterms:created>
  <dcterms:modified xsi:type="dcterms:W3CDTF">2026-04-08T07:31:13Z</dcterms:modified>
</cp:coreProperties>
</file>