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5550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20551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7777" y="1371749"/>
            <a:ext cx="908447" cy="393502"/>
          </a:xfrm>
          <a:prstGeom prst="roundRect">
            <a:avLst>
              <a:gd name="adj" fmla="val 9682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44727" y="1511350"/>
            <a:ext cx="6676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PLAN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06777" y="1968401"/>
            <a:ext cx="373029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集合知化への道のり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328784" y="2704951"/>
            <a:ext cx="44862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× Gitea で、個人の知恵をチームの力に変える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0557" y="3028801"/>
            <a:ext cx="29428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0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段階的な展開計画と、各フェーズでできること ~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50058" y="3587502"/>
            <a:ext cx="12437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ポータル開発チーム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5550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20551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280815"/>
            <a:ext cx="9144000" cy="0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3901" y="482501"/>
            <a:ext cx="88089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3901" y="755452"/>
            <a:ext cx="8808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個人のノウハウをチームの力に変える3フェーズ計画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41252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030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4071" y="1485602"/>
            <a:ext cx="388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0202" y="1412528"/>
            <a:ext cx="839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現状課題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0202" y="1698278"/>
            <a:ext cx="839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バイブコーディングは各自でやっているが属人化。ノウハウが共有されず、同じ失敗を繰り返している。GitHubがコード置き場になっている。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3901" y="206022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1015" y="213330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0202" y="2060228"/>
            <a:ext cx="839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1（1〜3ヶ月）：4名コア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0202" y="2345978"/>
            <a:ext cx="839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team-standards構築・ワークフロー確立・失敗事例の蓄積開始。積極AIコーディング組4名で試運転。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3901" y="270792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1015" y="278100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202" y="2707928"/>
            <a:ext cx="839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2（4〜5ヶ月）：+3名（AIコーディング層）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60202" y="2993678"/>
            <a:ext cx="839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水平展開。誰かが学んだことが全員の秘書に伝わる「集合知化」が機能し始める。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3901" y="335562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61015" y="342870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0202" y="3355628"/>
            <a:ext cx="839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3（6ヶ月〜）：+5名（非コーダー層）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0202" y="3641378"/>
            <a:ext cx="83944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PPT・Excel生成、議事録整理、アクションアイテム自動化など非コーダー向けユースケースで展開。全13名がClaude Codeを活用。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31887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8793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269802"/>
            <a:ext cx="9144000" cy="0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3901" y="433388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現状認識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3901" y="744438"/>
            <a:ext cx="8808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個人の頭の中にある知恵が、そのまま消えていく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350764"/>
            <a:ext cx="8636198" cy="656927"/>
          </a:xfrm>
          <a:prstGeom prst="roundRect">
            <a:avLst>
              <a:gd name="adj" fmla="val 7733"/>
            </a:avLst>
          </a:prstGeom>
          <a:solidFill>
            <a:srgbClr val="FFF3F3"/>
          </a:solidFill>
          <a:ln w="9525">
            <a:solidFill>
              <a:srgbClr val="C030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5826" y="1423690"/>
            <a:ext cx="8478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典型的なケース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5826" y="1664940"/>
            <a:ext cx="84785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Aさんが「DBタイムアウトはプール設定で解決」と3時間かけて発見 → 記録せず → 3ヶ月後、Bさんが同じ問題で3時間ハマる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3901" y="2058442"/>
            <a:ext cx="8636198" cy="650677"/>
          </a:xfrm>
          <a:prstGeom prst="roundRect">
            <a:avLst>
              <a:gd name="adj" fmla="val 7807"/>
            </a:avLst>
          </a:prstGeom>
          <a:solidFill>
            <a:srgbClr val="F6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7713" y="2058442"/>
            <a:ext cx="0" cy="650677"/>
          </a:xfrm>
          <a:prstGeom prst="line">
            <a:avLst/>
          </a:prstGeom>
          <a:noFill/>
          <a:ln w="47625">
            <a:solidFill>
              <a:srgbClr val="C030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926" y="2248793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9476" y="2109192"/>
            <a:ext cx="8086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同じ失敗を何度も繰り返す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9476" y="2388543"/>
            <a:ext cx="8086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失敗の教訓が個人の頭の中だけ。共有されないまま、別の人がまた同じ時間を使う。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3901" y="2759869"/>
            <a:ext cx="8636198" cy="650677"/>
          </a:xfrm>
          <a:prstGeom prst="roundRect">
            <a:avLst>
              <a:gd name="adj" fmla="val 7807"/>
            </a:avLst>
          </a:prstGeom>
          <a:solidFill>
            <a:srgbClr val="F6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77713" y="2759869"/>
            <a:ext cx="0" cy="650677"/>
          </a:xfrm>
          <a:prstGeom prst="line">
            <a:avLst/>
          </a:prstGeom>
          <a:noFill/>
          <a:ln w="47625">
            <a:solidFill>
              <a:srgbClr val="C0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26" y="2950220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9476" y="2810619"/>
            <a:ext cx="8086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「なぜこう決めたか」が誰も知らない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476" y="3089970"/>
            <a:ext cx="8086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異動・退職で文脈が消える。後から見ても「なぜこうなっているか」が追えない。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3901" y="3461296"/>
            <a:ext cx="8636198" cy="650677"/>
          </a:xfrm>
          <a:prstGeom prst="roundRect">
            <a:avLst>
              <a:gd name="adj" fmla="val 7807"/>
            </a:avLst>
          </a:prstGeom>
          <a:solidFill>
            <a:srgbClr val="F6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77713" y="3461296"/>
            <a:ext cx="0" cy="650677"/>
          </a:xfrm>
          <a:prstGeom prst="line">
            <a:avLst/>
          </a:prstGeom>
          <a:noFill/>
          <a:ln w="47625">
            <a:solidFill>
              <a:srgbClr val="C0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926" y="3651647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9476" y="3512046"/>
            <a:ext cx="8086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良い指示の出し方・失敗パターンが共有されない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9476" y="3791396"/>
            <a:ext cx="8086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AIへの良い指示の出し方を見つけても本人だけの財産。チーム全体のレベルが上がらない。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3901" y="4162723"/>
            <a:ext cx="8636198" cy="650677"/>
          </a:xfrm>
          <a:prstGeom prst="roundRect">
            <a:avLst>
              <a:gd name="adj" fmla="val 7807"/>
            </a:avLst>
          </a:prstGeom>
          <a:solidFill>
            <a:srgbClr val="F6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77713" y="4162723"/>
            <a:ext cx="0" cy="650677"/>
          </a:xfrm>
          <a:prstGeom prst="line">
            <a:avLst/>
          </a:prstGeom>
          <a:noFill/>
          <a:ln w="47625">
            <a:solidFill>
              <a:srgbClr val="C0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926" y="4353074"/>
            <a:ext cx="23317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9476" y="4213473"/>
            <a:ext cx="8086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新メンバーが「先輩に聞く」しかない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9476" y="4492823"/>
            <a:ext cx="80867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背景・経緯が記録されていない。説明するたびにゼロから。先輩も新人も消耗する。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5550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20551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293465"/>
            <a:ext cx="9144000" cy="0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3901" y="457051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なぜ全員で共有するのか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3901" y="768102"/>
            <a:ext cx="8808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個人管理では解決しない。「チームで積み上げる」から価値が生まれる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399729"/>
            <a:ext cx="8636198" cy="530126"/>
          </a:xfrm>
          <a:prstGeom prst="roundRect">
            <a:avLst>
              <a:gd name="adj" fmla="val 9583"/>
            </a:avLst>
          </a:prstGeom>
          <a:solidFill>
            <a:srgbClr val="EB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7713" y="1399729"/>
            <a:ext cx="0" cy="530126"/>
          </a:xfrm>
          <a:prstGeom prst="line">
            <a:avLst/>
          </a:prstGeom>
          <a:noFill/>
          <a:ln w="47625">
            <a:solidFill>
              <a:srgbClr val="4A9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926" y="1583829"/>
            <a:ext cx="84494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個人がメモを取っても、それは</a:t>
            </a:r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個人の資産</a:t>
            </a:r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で終わる。全員が同じ知識ベースを参照するから、</a:t>
            </a:r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1人が学んだことが13人全員の学びになる。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3901" y="2006054"/>
            <a:ext cx="2078087" cy="2044154"/>
          </a:xfrm>
          <a:prstGeom prst="roundRect">
            <a:avLst>
              <a:gd name="adj" fmla="val 3106"/>
            </a:avLst>
          </a:prstGeom>
          <a:solidFill>
            <a:srgbClr val="EB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851" y="2107555"/>
            <a:ext cx="1824186" cy="361652"/>
          </a:xfrm>
          <a:prstGeom prst="roundRect">
            <a:avLst>
              <a:gd name="adj" fmla="val 10535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9702" y="2221706"/>
            <a:ext cx="1679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コーダー 4名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0851" y="267235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8552" y="2653308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誰かの失敗が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自分の失敗にならない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0851" y="307240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8552" y="3053358"/>
            <a:ext cx="14573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過去の設計判断が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いつでも追える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0851" y="347245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8552" y="3453408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レビュー・壁打ちの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品質が揃う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433489" y="2006054"/>
            <a:ext cx="2078236" cy="2044154"/>
          </a:xfrm>
          <a:prstGeom prst="roundRect">
            <a:avLst>
              <a:gd name="adj" fmla="val 310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60439" y="2107555"/>
            <a:ext cx="1824335" cy="361652"/>
          </a:xfrm>
          <a:prstGeom prst="roundRect">
            <a:avLst>
              <a:gd name="adj" fmla="val 10535"/>
            </a:avLst>
          </a:prstGeom>
          <a:solidFill>
            <a:srgbClr val="8A94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49289" y="2221706"/>
            <a:ext cx="1679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AIコーダー 3名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560439" y="267235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38140" y="2653308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追いつくコストが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激減する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60439" y="307240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38140" y="3053358"/>
            <a:ext cx="14306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4名と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同じ水準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でday1から動ける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60439" y="347245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38140" y="3453408"/>
            <a:ext cx="1554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良い指示の出し方を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最初から知れる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13225" y="2006054"/>
            <a:ext cx="2078087" cy="2044154"/>
          </a:xfrm>
          <a:prstGeom prst="roundRect">
            <a:avLst>
              <a:gd name="adj" fmla="val 3106"/>
            </a:avLst>
          </a:prstGeom>
          <a:solidFill>
            <a:srgbClr val="F0F7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40176" y="2107555"/>
            <a:ext cx="1824186" cy="361652"/>
          </a:xfrm>
          <a:prstGeom prst="roundRect">
            <a:avLst>
              <a:gd name="adj" fmla="val 1053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29026" y="2221706"/>
            <a:ext cx="1679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非コーダー 5名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40176" y="267235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7877" y="2653308"/>
            <a:ext cx="16794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「あれどうなった？」を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人に聞かなくていい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40176" y="318670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17877" y="3167658"/>
            <a:ext cx="13601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会議の決定と文脈が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自動で残る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40176" y="358675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17877" y="3567708"/>
            <a:ext cx="16794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PPT・Excel作成が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会話するだけ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で完成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792813" y="2006054"/>
            <a:ext cx="2097286" cy="2044154"/>
          </a:xfrm>
          <a:prstGeom prst="roundRect">
            <a:avLst>
              <a:gd name="adj" fmla="val 3106"/>
            </a:avLst>
          </a:prstGeom>
          <a:solidFill>
            <a:srgbClr val="FFF8E1"/>
          </a:solidFill>
          <a:ln w="9525">
            <a:solidFill>
              <a:srgbClr val="F796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929289" y="2117080"/>
            <a:ext cx="1824335" cy="361652"/>
          </a:xfrm>
          <a:prstGeom prst="roundRect">
            <a:avLst>
              <a:gd name="adj" fmla="val 10535"/>
            </a:avLst>
          </a:prstGeom>
          <a:solidFill>
            <a:srgbClr val="F796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018139" y="2231231"/>
            <a:ext cx="16795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チーム全体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929289" y="268188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79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06989" y="2662833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誰かが抜けても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知恵が残る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929289" y="308193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79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06989" y="3062883"/>
            <a:ext cx="16516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「なぜこうなってるか」に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答えられる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929289" y="348198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796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06989" y="3462933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新メンバーが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即戦力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になれる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5550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20551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318915"/>
            <a:ext cx="9144000" cy="0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3901" y="482501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進め方の全体像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3901" y="793552"/>
            <a:ext cx="8808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3フェーズで段階的に、全13名がClaude Codeを活用する状態へ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425178"/>
            <a:ext cx="2557016" cy="3362920"/>
          </a:xfrm>
          <a:prstGeom prst="roundRect">
            <a:avLst>
              <a:gd name="adj" fmla="val 2980"/>
            </a:avLst>
          </a:prstGeom>
          <a:solidFill>
            <a:srgbClr val="EBF3FC"/>
          </a:solidFill>
          <a:ln w="9525">
            <a:solidFill>
              <a:srgbClr val="4A90E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4927" y="1536204"/>
            <a:ext cx="2334964" cy="361652"/>
          </a:xfrm>
          <a:prstGeom prst="roundRect">
            <a:avLst>
              <a:gd name="adj" fmla="val 10535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427" y="1650355"/>
            <a:ext cx="21746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・  1〜3ヶ月目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4927" y="1986707"/>
            <a:ext cx="23816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4名コアで</a:t>
            </a:r>
            <a:endParaRPr lang="en-US" sz="11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ワークフロー確立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4927" y="2494657"/>
            <a:ext cx="23816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team-standards構築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4927" y="2786658"/>
            <a:ext cx="23816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CLAUDE.md・Skills整備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4927" y="3180159"/>
            <a:ext cx="23816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失敗事例の蓄積開始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4927" y="3573661"/>
            <a:ext cx="23816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Gitea Issue/PRフロー定着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4927" y="3967163"/>
            <a:ext cx="2334964" cy="412552"/>
          </a:xfrm>
          <a:prstGeom prst="roundRect">
            <a:avLst>
              <a:gd name="adj" fmla="val 9235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5108" y="4106763"/>
            <a:ext cx="21746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壁打ち→設計→PR が一気通貫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937867" y="316378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3418" y="1425178"/>
            <a:ext cx="2557165" cy="3362920"/>
          </a:xfrm>
          <a:prstGeom prst="roundRect">
            <a:avLst>
              <a:gd name="adj" fmla="val 2980"/>
            </a:avLst>
          </a:prstGeom>
          <a:solidFill>
            <a:srgbClr val="F0F4F8"/>
          </a:solidFill>
          <a:ln w="9525">
            <a:solidFill>
              <a:srgbClr val="8A94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04443" y="1536204"/>
            <a:ext cx="2335113" cy="361652"/>
          </a:xfrm>
          <a:prstGeom prst="roundRect">
            <a:avLst>
              <a:gd name="adj" fmla="val 10535"/>
            </a:avLst>
          </a:prstGeom>
          <a:solidFill>
            <a:srgbClr val="8A94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05944" y="1650355"/>
            <a:ext cx="2174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・  4〜5ヶ月目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04443" y="1986707"/>
            <a:ext cx="238181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+3名（AIコーダー）</a:t>
            </a:r>
            <a:endParaRPr lang="en-US" sz="11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水平展開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04443" y="2494657"/>
            <a:ext cx="23818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7名が同じフローで開発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04443" y="2786658"/>
            <a:ext cx="23818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誰かの学びが全員に伝わる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04443" y="3180159"/>
            <a:ext cx="23818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並列開発・マージ衝突も秘書が解決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04443" y="3573661"/>
            <a:ext cx="23818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オンボーディングパッケージ完成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04443" y="3967163"/>
            <a:ext cx="2335113" cy="412552"/>
          </a:xfrm>
          <a:prstGeom prst="roundRect">
            <a:avLst>
              <a:gd name="adj" fmla="val 9235"/>
            </a:avLst>
          </a:prstGeom>
          <a:solidFill>
            <a:srgbClr val="8A94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84623" y="4106763"/>
            <a:ext cx="21747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集合知化が機能し始める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977533" y="3163788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33083" y="1425178"/>
            <a:ext cx="2557016" cy="3362920"/>
          </a:xfrm>
          <a:prstGeom prst="roundRect">
            <a:avLst>
              <a:gd name="adj" fmla="val 2980"/>
            </a:avLst>
          </a:prstGeom>
          <a:solidFill>
            <a:srgbClr val="F0F7F0"/>
          </a:solidFill>
          <a:ln w="9525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44109" y="1536204"/>
            <a:ext cx="2334964" cy="361652"/>
          </a:xfrm>
          <a:prstGeom prst="roundRect">
            <a:avLst>
              <a:gd name="adj" fmla="val 1053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45610" y="1650355"/>
            <a:ext cx="21746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 ・  6ヶ月目〜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44109" y="1986707"/>
            <a:ext cx="23816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+5名（非コーダー）</a:t>
            </a:r>
            <a:endParaRPr lang="en-US" sz="1100" dirty="0"/>
          </a:p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全員展開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4109" y="2494657"/>
            <a:ext cx="23816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PPT・Excel生成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44109" y="2786658"/>
            <a:ext cx="23816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会議後アクションアイテム自動化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44109" y="3180159"/>
            <a:ext cx="23816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ナレッジ検索・議事録整理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44109" y="3573661"/>
            <a:ext cx="23816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全13名がClaude Codeを活用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44109" y="3967163"/>
            <a:ext cx="2334964" cy="412552"/>
          </a:xfrm>
          <a:prstGeom prst="roundRect">
            <a:avLst>
              <a:gd name="adj" fmla="val 9235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524290" y="4106763"/>
            <a:ext cx="21746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チーム全員が集合知を活用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28613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07156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139726"/>
            <a:ext cx="9144000" cy="0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3901" y="404813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でできること  ―  4名コア（1〜3ヶ月目）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3901" y="690563"/>
            <a:ext cx="8808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秘書と壁打ちしながら、設計→PR が一気通貫で動く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144488"/>
            <a:ext cx="2117527" cy="3745111"/>
          </a:xfrm>
          <a:prstGeom prst="rect">
            <a:avLst/>
          </a:prstGeom>
          <a:solidFill>
            <a:srgbClr val="EBF3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112764" y="1144488"/>
            <a:ext cx="0" cy="3745111"/>
          </a:xfrm>
          <a:prstGeom prst="line">
            <a:avLst/>
          </a:prstGeom>
          <a:noFill/>
          <a:ln w="9525">
            <a:solidFill>
              <a:srgbClr val="D0E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501" y="1245989"/>
            <a:ext cx="1905000" cy="383977"/>
          </a:xfrm>
          <a:prstGeom prst="roundRect">
            <a:avLst>
              <a:gd name="adj" fmla="val 9922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175" y="1366540"/>
            <a:ext cx="1787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1〜3ヶ月目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1501" y="1706166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4名コア（積極AIコーダー）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501" y="1960066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このフェーズで作るもの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1501" y="2309217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team-standards リポジトリ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1501" y="2658368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CLAUDE.md 骨格（30行〜）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1501" y="3007519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壁打ちログ 20本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1501" y="3356670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失敗事例 5〜10件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1501" y="3680371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使うSkill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501" y="4029521"/>
            <a:ext cx="19431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/ claude-md-management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1501" y="4340572"/>
            <a:ext cx="194310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gitea-mcp / bash-guard Hook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244477" y="1207889"/>
            <a:ext cx="1351806" cy="314027"/>
          </a:xfrm>
          <a:prstGeom prst="roundRect">
            <a:avLst>
              <a:gd name="adj" fmla="val 12133"/>
            </a:avLst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20677" y="1302990"/>
            <a:ext cx="12233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Issue 選定・壁打ち開始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422178" y="1547217"/>
            <a:ext cx="6594872" cy="596801"/>
          </a:xfrm>
          <a:prstGeom prst="roundRect">
            <a:avLst>
              <a:gd name="adj" fmla="val 14896"/>
            </a:avLst>
          </a:prstGeom>
          <a:solidFill>
            <a:srgbClr val="D0E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11028" y="1667768"/>
            <a:ext cx="65455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You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2511028" y="1867793"/>
            <a:ext cx="6545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#15「申請フォームの改修」について壁打ちしたい。全体設計から相談。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44477" y="2144018"/>
            <a:ext cx="6772573" cy="853976"/>
          </a:xfrm>
          <a:prstGeom prst="roundRect">
            <a:avLst>
              <a:gd name="adj" fmla="val 10410"/>
            </a:avLst>
          </a:prstGeom>
          <a:solidFill>
            <a:srgbClr val="F6F8FB"/>
          </a:solidFill>
          <a:ln w="9525">
            <a:solidFill>
              <a:srgbClr val="E6E9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42852" y="2274094"/>
            <a:ext cx="67073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Claude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342852" y="2474119"/>
            <a:ext cx="670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と CLAUDE.md を確認しました。入力項目 10→6 削減、期限 5/31 ですね。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342852" y="2712244"/>
            <a:ext cx="670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確認したいこと：①削減する項目は決まってますか？　②既存データの移行は必要？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244477" y="3036094"/>
            <a:ext cx="2236291" cy="314027"/>
          </a:xfrm>
          <a:prstGeom prst="roundRect">
            <a:avLst>
              <a:gd name="adj" fmla="val 12133"/>
            </a:avLst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20677" y="3131195"/>
            <a:ext cx="21255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設計案を2択で提示・過去の失敗事例も自動参照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422178" y="3375422"/>
            <a:ext cx="6594872" cy="596801"/>
          </a:xfrm>
          <a:prstGeom prst="roundRect">
            <a:avLst>
              <a:gd name="adj" fmla="val 14896"/>
            </a:avLst>
          </a:prstGeom>
          <a:solidFill>
            <a:srgbClr val="D0E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511028" y="3495973"/>
            <a:ext cx="65455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You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511028" y="3695998"/>
            <a:ext cx="6545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①未定（ヒアリング中）、②移行必要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244477" y="3972223"/>
            <a:ext cx="6772573" cy="853976"/>
          </a:xfrm>
          <a:prstGeom prst="roundRect">
            <a:avLst>
              <a:gd name="adj" fmla="val 10410"/>
            </a:avLst>
          </a:prstGeom>
          <a:solidFill>
            <a:srgbClr val="F6F8FB"/>
          </a:solidFill>
          <a:ln w="9525">
            <a:solidFill>
              <a:srgbClr val="E6E9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342852" y="4102298"/>
            <a:ext cx="67073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Claude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342852" y="4302323"/>
            <a:ext cx="670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案A：段階的に削減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（リスク小・中途半端な期間あり）、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案B：新画面で切替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（クリーン移行）。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342852" y="4540448"/>
            <a:ext cx="670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過去の失敗事例に「段階的改修は2回作業になる」とあるため、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案B を推奨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します。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5550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20551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166664"/>
            <a:ext cx="9144000" cy="0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3901" y="4317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でできること  ―  +3名（AIコーディング層）4〜5ヶ月目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3901" y="717500"/>
            <a:ext cx="8808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誰かが学んだことが、全員の秘書の知識になる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171426"/>
            <a:ext cx="2117527" cy="3718173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112764" y="1171426"/>
            <a:ext cx="0" cy="3718173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501" y="1272927"/>
            <a:ext cx="1905000" cy="383977"/>
          </a:xfrm>
          <a:prstGeom prst="roundRect">
            <a:avLst>
              <a:gd name="adj" fmla="val 9922"/>
            </a:avLst>
          </a:prstGeom>
          <a:solidFill>
            <a:srgbClr val="8A94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175" y="1393478"/>
            <a:ext cx="1787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·  4〜5ヶ月目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1501" y="1733104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+3名（AIコーダー）計7名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501" y="1987004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との違い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1501" y="2336155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7名が同じ CLAUDE.md を参照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1501" y="2685306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Aさんの失敗がBさんに伝わる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1501" y="3034457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並列開発が当たり前に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1501" y="3383607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衝突の8割は秘書が解決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1501" y="3707309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終了時点で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501" y="4056459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100〜200行 / 壁打ちログ 20本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44477" y="1234827"/>
            <a:ext cx="6772573" cy="615851"/>
          </a:xfrm>
          <a:prstGeom prst="roundRect">
            <a:avLst>
              <a:gd name="adj" fmla="val 6187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263527" y="1234827"/>
            <a:ext cx="0" cy="615851"/>
          </a:xfrm>
          <a:prstGeom prst="line">
            <a:avLst/>
          </a:prstGeom>
          <a:noFill/>
          <a:ln w="38100">
            <a:solidFill>
              <a:srgbClr val="F796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84078" y="1355378"/>
            <a:ext cx="66621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3ヶ月前、AさんがCLAUDE.mdに書いた記録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384078" y="1574453"/>
            <a:ext cx="66621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「DBタイムアウトはコネクションプール設定が原因。pool_size=10, max_overflow=20 に変更で解決。ドライバ・タイムアウト値は無関係。」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244477" y="1888778"/>
            <a:ext cx="1718370" cy="314027"/>
          </a:xfrm>
          <a:prstGeom prst="roundRect">
            <a:avLst>
              <a:gd name="adj" fmla="val 12133"/>
            </a:avLst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20677" y="1983879"/>
            <a:ext cx="15972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3ヶ月後、Bさんが同じ問題に遭遇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422178" y="2228106"/>
            <a:ext cx="6594872" cy="615851"/>
          </a:xfrm>
          <a:prstGeom prst="roundRect">
            <a:avLst>
              <a:gd name="adj" fmla="val 14435"/>
            </a:avLst>
          </a:prstGeom>
          <a:solidFill>
            <a:srgbClr val="D0E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511028" y="2348657"/>
            <a:ext cx="65455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Bさん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511028" y="2567732"/>
            <a:ext cx="65455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DBタイムアウトエラーが出て困ってます。ドライバを調べているんですが原因が分からなくて。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244477" y="2843957"/>
            <a:ext cx="6772573" cy="853976"/>
          </a:xfrm>
          <a:prstGeom prst="roundRect">
            <a:avLst>
              <a:gd name="adj" fmla="val 10410"/>
            </a:avLst>
          </a:prstGeom>
          <a:solidFill>
            <a:srgbClr val="F6F8FB"/>
          </a:solidFill>
          <a:ln w="9525">
            <a:solidFill>
              <a:srgbClr val="E6E9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342852" y="2974032"/>
            <a:ext cx="67073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Claude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342852" y="3174057"/>
            <a:ext cx="670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CLAUDE.mdに同じ事例があります。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原因はドライバではなくコネクションプール設定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です。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342852" y="3412182"/>
            <a:ext cx="67073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対処法：</a:t>
            </a:r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pool_size=10, max_overflow=20 に変更してください。Aさんが3ヶ月前に遭遇し解決した問題です。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5550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20551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166664"/>
            <a:ext cx="9144000" cy="0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3901" y="4317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でできること①  ―  +5名（非コーダー層）6ヶ月目〜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3901" y="717500"/>
            <a:ext cx="8808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会議が終わると、アクションアイテムが自動でまとまって届く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171426"/>
            <a:ext cx="2117527" cy="3718173"/>
          </a:xfrm>
          <a:prstGeom prst="rect">
            <a:avLst/>
          </a:prstGeom>
          <a:solidFill>
            <a:srgbClr val="F0F7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112764" y="1171426"/>
            <a:ext cx="0" cy="3718173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501" y="1272927"/>
            <a:ext cx="1905000" cy="383977"/>
          </a:xfrm>
          <a:prstGeom prst="roundRect">
            <a:avLst>
              <a:gd name="adj" fmla="val 9922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175" y="1393478"/>
            <a:ext cx="1787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3①  ·  6ヶ月目〜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1501" y="1733104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会議の自動整理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501" y="2012454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企画・PM・マネージャー向け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1501" y="2336155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こんな人に刺さる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1501" y="2685306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議事録を書く時間がない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1501" y="3034457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決めたことが流れる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1501" y="3383607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誰が何をするか曖昧になる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1501" y="3707309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仕組み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501" y="4056459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→ 自動サマリー → Gitea Issue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44477" y="1234827"/>
            <a:ext cx="6772573" cy="380702"/>
          </a:xfrm>
          <a:prstGeom prst="roundRect">
            <a:avLst>
              <a:gd name="adj" fmla="val 10008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42852" y="1358503"/>
            <a:ext cx="67073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会議終了後、自動で起動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244477" y="1653629"/>
            <a:ext cx="6772573" cy="2916585"/>
          </a:xfrm>
          <a:prstGeom prst="roundRect">
            <a:avLst>
              <a:gd name="adj" fmla="val 3048"/>
            </a:avLst>
          </a:prstGeom>
          <a:solidFill>
            <a:srgbClr val="F6F8FB"/>
          </a:solidFill>
          <a:ln w="9525">
            <a:solidFill>
              <a:srgbClr val="E6E9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55503" y="1726555"/>
            <a:ext cx="66815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Claude  ―  本日の会議サマリー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2365028" y="1888480"/>
            <a:ext cx="0" cy="844302"/>
          </a:xfrm>
          <a:prstGeom prst="line">
            <a:avLst/>
          </a:prstGeom>
          <a:noFill/>
          <a:ln w="19050">
            <a:solidFill>
              <a:srgbClr val="4A90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3403" y="2002631"/>
            <a:ext cx="64808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【決定事項】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463403" y="2231231"/>
            <a:ext cx="64808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申請フォームはBプランで進める（担当：Aさん）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463403" y="2469356"/>
            <a:ext cx="64808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次回リリース日を 5/31 に確定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365028" y="2758083"/>
            <a:ext cx="0" cy="1082427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63403" y="2872234"/>
            <a:ext cx="64808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【アクションアイテム】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463403" y="3100834"/>
            <a:ext cx="64808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Aさん：要件書を 5/20 までに作成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63403" y="3338959"/>
            <a:ext cx="64808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Bさん：ステークホルダーへの連絡（本日中）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63403" y="3577084"/>
            <a:ext cx="64808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Cさん：テスト環境の準備（5/25 まで）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365028" y="3865811"/>
            <a:ext cx="0" cy="606177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3403" y="3979962"/>
            <a:ext cx="64808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【次回会議】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463403" y="4208562"/>
            <a:ext cx="64808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5/27（月）10:00〜 同メンバーで進捗確認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5550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20551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166664"/>
            <a:ext cx="9144000" cy="0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3901" y="431750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でできること②  ―  +5名（非コーダー層）6ヶ月目〜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3901" y="717500"/>
            <a:ext cx="8808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会議メモを渡すだけで、報告用スライドができあがる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171426"/>
            <a:ext cx="2117527" cy="3718173"/>
          </a:xfrm>
          <a:prstGeom prst="rect">
            <a:avLst/>
          </a:prstGeom>
          <a:solidFill>
            <a:srgbClr val="F0F7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112764" y="1171426"/>
            <a:ext cx="0" cy="3718173"/>
          </a:xfrm>
          <a:prstGeom prst="line">
            <a:avLst/>
          </a:prstGeom>
          <a:noFill/>
          <a:ln w="9525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501" y="1272927"/>
            <a:ext cx="1905000" cy="383977"/>
          </a:xfrm>
          <a:prstGeom prst="roundRect">
            <a:avLst>
              <a:gd name="adj" fmla="val 9922"/>
            </a:avLst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175" y="1393478"/>
            <a:ext cx="1787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3②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1501" y="1733104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資料作成の自動化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1501" y="2012454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全員・特に非コーダー向け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1501" y="2348954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できること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1501" y="2698105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会議メモ → PPT生成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1501" y="3047256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データ → グラフ付きExcel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1501" y="3396407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 既存PPTにスライド追加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1501" y="3732907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使うSkill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501" y="4082058"/>
            <a:ext cx="19431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スキル / xlsx スキル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269927" y="1234827"/>
            <a:ext cx="3310086" cy="339328"/>
          </a:xfrm>
          <a:prstGeom prst="roundRect">
            <a:avLst>
              <a:gd name="adj" fmla="val 11228"/>
            </a:avLst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46127" y="1342579"/>
            <a:ext cx="3220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 PPTを依頼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269927" y="1650355"/>
            <a:ext cx="3310086" cy="819001"/>
          </a:xfrm>
          <a:prstGeom prst="roundRect">
            <a:avLst>
              <a:gd name="adj" fmla="val 9304"/>
            </a:avLst>
          </a:prstGeom>
          <a:solidFill>
            <a:srgbClr val="D0E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58777" y="1770906"/>
            <a:ext cx="31950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You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358777" y="1970931"/>
            <a:ext cx="3195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今日の会議メモを渡すので、経営報告用のPowerPointにまとめて。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358777" y="2209056"/>
            <a:ext cx="31950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（メモをペースト...）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269927" y="2507456"/>
            <a:ext cx="3310086" cy="1806476"/>
          </a:xfrm>
          <a:prstGeom prst="roundRect">
            <a:avLst>
              <a:gd name="adj" fmla="val 4218"/>
            </a:avLst>
          </a:prstGeom>
          <a:solidFill>
            <a:srgbClr val="F6F8FB"/>
          </a:solidFill>
          <a:ln w="9525">
            <a:solidFill>
              <a:srgbClr val="E6E9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68302" y="2637532"/>
            <a:ext cx="31756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Claude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368302" y="2837557"/>
            <a:ext cx="3175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以下の構成で作成します。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368302" y="3075682"/>
            <a:ext cx="3175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進捗サマリー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368302" y="3313807"/>
            <a:ext cx="3175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完了した施策（3件）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368302" y="3551932"/>
            <a:ext cx="3175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来月の計画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368302" y="3790057"/>
            <a:ext cx="3175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課題と対応方針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368302" y="4028182"/>
            <a:ext cx="3175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このまま作成しますか？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681514" y="1234827"/>
            <a:ext cx="3310086" cy="339328"/>
          </a:xfrm>
          <a:prstGeom prst="roundRect">
            <a:avLst>
              <a:gd name="adj" fmla="val 11228"/>
            </a:avLst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757714" y="1342579"/>
            <a:ext cx="3220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 ファイル完成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5681514" y="1650355"/>
            <a:ext cx="3310086" cy="596801"/>
          </a:xfrm>
          <a:prstGeom prst="roundRect">
            <a:avLst>
              <a:gd name="adj" fmla="val 12768"/>
            </a:avLst>
          </a:prstGeom>
          <a:solidFill>
            <a:srgbClr val="D0E1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70364" y="1770906"/>
            <a:ext cx="31950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You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5770364" y="1970931"/>
            <a:ext cx="31950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お願いします。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681514" y="2285256"/>
            <a:ext cx="3310086" cy="1294954"/>
          </a:xfrm>
          <a:prstGeom prst="roundRect">
            <a:avLst>
              <a:gd name="adj" fmla="val 5884"/>
            </a:avLst>
          </a:prstGeom>
          <a:solidFill>
            <a:srgbClr val="F6F8FB"/>
          </a:solidFill>
          <a:ln w="9525">
            <a:solidFill>
              <a:srgbClr val="E6E9E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79889" y="2415332"/>
            <a:ext cx="31756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Claude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779889" y="2615357"/>
            <a:ext cx="31756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完成しました。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79889" y="2878782"/>
            <a:ext cx="1234083" cy="393502"/>
          </a:xfrm>
          <a:prstGeom prst="roundRect">
            <a:avLst>
              <a:gd name="adj" fmla="val 9682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865614" y="3008858"/>
            <a:ext cx="10838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report_2026-04.pptx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779889" y="3310384"/>
            <a:ext cx="31756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「このスライドを〇〇に変えて」で修正も対応します。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55550"/>
          </a:xfrm>
          <a:prstGeom prst="rect">
            <a:avLst/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3901" y="120551"/>
            <a:ext cx="18072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 PORTAL TEAM  |  ROADMAP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1293465"/>
            <a:ext cx="9144000" cy="0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3901" y="457051"/>
            <a:ext cx="8808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まず来週やること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53901" y="768102"/>
            <a:ext cx="8808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合意できたら、来週から動き始める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3901" y="1425178"/>
            <a:ext cx="1586508" cy="3337471"/>
          </a:xfrm>
          <a:prstGeom prst="roundRect">
            <a:avLst>
              <a:gd name="adj" fmla="val 4803"/>
            </a:avLst>
          </a:prstGeom>
          <a:solidFill>
            <a:srgbClr val="F6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851" y="1552129"/>
            <a:ext cx="1332607" cy="641003"/>
          </a:xfrm>
          <a:prstGeom prst="roundRect">
            <a:avLst>
              <a:gd name="adj" fmla="val 5944"/>
            </a:avLst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1056" y="1704380"/>
            <a:ext cx="11521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1-2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1056" y="1920180"/>
            <a:ext cx="1152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D0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0851" y="2447032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3846" y="2421582"/>
            <a:ext cx="12032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team-standardsリポジトリをGiteaに作成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0851" y="3005584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3846" y="2980134"/>
            <a:ext cx="12032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CLAUDE.md初版を4名で書く（30行の骨格）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0851" y="3564136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3846" y="3538686"/>
            <a:ext cx="12032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各自Claude Codeのセットアップ確認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0851" y="4122688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3846" y="4097238"/>
            <a:ext cx="11330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Gitea MCP + Token 発行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41909" y="1425178"/>
            <a:ext cx="1586657" cy="3337471"/>
          </a:xfrm>
          <a:prstGeom prst="roundRect">
            <a:avLst>
              <a:gd name="adj" fmla="val 4803"/>
            </a:avLst>
          </a:prstGeom>
          <a:solidFill>
            <a:srgbClr val="F6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68860" y="1552129"/>
            <a:ext cx="1332756" cy="641003"/>
          </a:xfrm>
          <a:prstGeom prst="roundRect">
            <a:avLst>
              <a:gd name="adj" fmla="val 5944"/>
            </a:avLst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159063" y="1704380"/>
            <a:ext cx="1152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3-4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59063" y="1920180"/>
            <a:ext cx="1152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D0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試運転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068860" y="2447032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21855" y="2421582"/>
            <a:ext cx="12033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小さなIssueで全フローを試す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68860" y="3005584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21855" y="2980134"/>
            <a:ext cx="12033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壁打ち → 4項目テンプレ → PR の一連を体験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68860" y="3564136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21855" y="3538686"/>
            <a:ext cx="12033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つまずき記録（後でCLAUDE.mdに入れる）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30067" y="1425178"/>
            <a:ext cx="1586657" cy="3337471"/>
          </a:xfrm>
          <a:prstGeom prst="roundRect">
            <a:avLst>
              <a:gd name="adj" fmla="val 4803"/>
            </a:avLst>
          </a:prstGeom>
          <a:solidFill>
            <a:srgbClr val="F6F8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757017" y="1552129"/>
            <a:ext cx="1332756" cy="641003"/>
          </a:xfrm>
          <a:prstGeom prst="roundRect">
            <a:avLst>
              <a:gd name="adj" fmla="val 5944"/>
            </a:avLst>
          </a:prstGeom>
          <a:solidFill>
            <a:srgbClr val="1A2B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47220" y="1704380"/>
            <a:ext cx="11523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47220" y="1920180"/>
            <a:ext cx="1152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D0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振り返り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57017" y="2447032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10013" y="2421582"/>
            <a:ext cx="8977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4名で15分振り返り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57017" y="2894558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910013" y="2869109"/>
            <a:ext cx="10357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良い点・悪い点を整理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57017" y="3342084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10013" y="3316635"/>
            <a:ext cx="12033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CLAUDE.mdを早速更新（PR出す）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757017" y="3900636"/>
            <a:ext cx="783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10013" y="3875187"/>
            <a:ext cx="12033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週1の15分振り返り定例を仮設定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99187" y="1425178"/>
            <a:ext cx="0" cy="3337471"/>
          </a:xfrm>
          <a:prstGeom prst="line">
            <a:avLst/>
          </a:prstGeom>
          <a:noFill/>
          <a:ln w="9525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81650" y="1539478"/>
            <a:ext cx="33746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A2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みんなに聞きたいこと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81650" y="183787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650665" y="1872853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86301" y="1945779"/>
            <a:ext cx="1321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この方向性、ピンと来る？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81650" y="229180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650665" y="232677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886301" y="2399705"/>
            <a:ext cx="13821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パイロット4名、誰が入る？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581650" y="274573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650665" y="278070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886301" y="2853630"/>
            <a:ext cx="11008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不安・懸念は？率直に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581650" y="319965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4A90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650665" y="323463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86301" y="3307556"/>
            <a:ext cx="13210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50"/>
              </a:spcBef>
              <a:spcAft>
                <a:spcPts val="85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もっと良い進め方がある？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833545" y="4959400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A9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DX Portal 集合知化ロードマップ</dc:title>
  <dc:subject>PptxGenJS Presentation</dc:subject>
  <dc:creator>DX Portal Team</dc:creator>
  <cp:lastModifiedBy>DX Portal Team</cp:lastModifiedBy>
  <cp:revision>1</cp:revision>
  <dcterms:created xsi:type="dcterms:W3CDTF">2026-04-22T05:46:31Z</dcterms:created>
  <dcterms:modified xsi:type="dcterms:W3CDTF">2026-04-22T05:46:31Z</dcterms:modified>
</cp:coreProperties>
</file>