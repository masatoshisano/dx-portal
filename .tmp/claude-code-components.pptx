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00000"/>
            <a:ext cx="8229600" cy="3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4A90E2"/>
                </a:solidFill>
                <a:latin typeface="Meiryo UI"/>
              </a:rPr>
              <a:t>DX PORTAL TEAM  |  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0000"/>
            <a:ext cx="8229600" cy="6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3200" b="1">
                <a:solidFill>
                  <a:srgbClr val="1A2B4C"/>
                </a:solidFill>
                <a:latin typeface="Meiryo UI"/>
              </a:rPr>
              <a:t>集合知化の道具立て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5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eiryo UI"/>
              </a:rPr>
              <a:t>Claude Code の5つの構成要素 ― CLAUDE.md / Skills / Subagents / Hooks /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50000"/>
            <a:ext cx="8229600" cy="4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100" b="0">
                <a:solidFill>
                  <a:srgbClr val="8A94A6"/>
                </a:solidFill>
                <a:latin typeface="Meiryo UI"/>
              </a:rPr>
              <a:t>~ 何を・何のために・どう使うか ~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600000"/>
            <a:ext cx="1500000" cy="0"/>
          </a:xfrm>
          <a:prstGeom prst="line">
            <a:avLst/>
          </a:prstGeom>
          <a:ln w="2540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650000"/>
            <a:ext cx="822960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Meiryo UI"/>
              </a:rPr>
              <a:t>集合知化ワークフローのテクニカルリファレンス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5つの構成要素はそれぞれ役割が異なる ― 組み合わせて集合知化を実現する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1605920" cy="7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20000"/>
            <a:ext cx="1605920" cy="3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200" y="1300000"/>
            <a:ext cx="1405920" cy="3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200" b="1">
                <a:solidFill>
                  <a:srgbClr val="1A2B4C"/>
                </a:solidFill>
                <a:latin typeface="Meiryo UI"/>
              </a:rPr>
              <a:t>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200" y="1650000"/>
            <a:ext cx="140592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役割: 常識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200" y="1950000"/>
            <a:ext cx="1405920" cy="11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常に読まれる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基本ルール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7200" y="3150000"/>
            <a:ext cx="1305920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7200" y="3250000"/>
            <a:ext cx="1405920" cy="1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規約・背景知識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200行以内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PRで育てる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13120" y="1150000"/>
            <a:ext cx="1605920" cy="7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3120" y="1220000"/>
            <a:ext cx="1605920" cy="3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3120" y="1300000"/>
            <a:ext cx="1405920" cy="3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200" b="1">
                <a:solidFill>
                  <a:srgbClr val="4A90E2"/>
                </a:solidFill>
                <a:latin typeface="Meiryo UI"/>
              </a:rPr>
              <a:t>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3120" y="1650000"/>
            <a:ext cx="140592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役割: 手順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3120" y="1950000"/>
            <a:ext cx="1405920" cy="11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呼び出し式の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作業手順書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63120" y="3150000"/>
            <a:ext cx="1305920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13120" y="3250000"/>
            <a:ext cx="1405920" cy="1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/implement-feature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長い手順はここ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2回以上やるなら化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69040" y="1150000"/>
            <a:ext cx="1605920" cy="7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9040" y="1220000"/>
            <a:ext cx="1605920" cy="3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69040" y="1300000"/>
            <a:ext cx="1405920" cy="3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200" b="1">
                <a:solidFill>
                  <a:srgbClr val="673AB7"/>
                </a:solidFill>
                <a:latin typeface="Meiryo UI"/>
              </a:rPr>
              <a:t>Subagents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9040" y="1650000"/>
            <a:ext cx="140592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役割: 専門家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9040" y="1950000"/>
            <a:ext cx="1405920" cy="11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特定領域の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専門秘書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19040" y="3150000"/>
            <a:ext cx="1305920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69040" y="3250000"/>
            <a:ext cx="1405920" cy="1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security-auditor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独立 context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ツール制限可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24960" y="1150000"/>
            <a:ext cx="1605920" cy="7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24960" y="1220000"/>
            <a:ext cx="1605920" cy="3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24960" y="1300000"/>
            <a:ext cx="1405920" cy="3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200" b="1">
                <a:solidFill>
                  <a:srgbClr val="D67E1E"/>
                </a:solidFill>
                <a:latin typeface="Meiryo UI"/>
              </a:rPr>
              <a:t>Hooks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4960" y="1650000"/>
            <a:ext cx="140592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役割: 自動化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24960" y="1950000"/>
            <a:ext cx="1405920" cy="11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イベントで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自動実行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74960" y="3150000"/>
            <a:ext cx="1305920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524960" y="3250000"/>
            <a:ext cx="1405920" cy="1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lint/format自動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危険コマンド遮断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21 イベント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0880" y="1150000"/>
            <a:ext cx="1605920" cy="7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80880" y="1220000"/>
            <a:ext cx="1605920" cy="3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80880" y="1300000"/>
            <a:ext cx="1405920" cy="3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Meiryo UI"/>
              </a:rPr>
              <a:t>MCP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0880" y="1650000"/>
            <a:ext cx="140592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役割: 外部連携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0880" y="1950000"/>
            <a:ext cx="1405920" cy="11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外部ツールを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秘書の道具に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230880" y="3150000"/>
            <a:ext cx="1305920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80880" y="3250000"/>
            <a:ext cx="1405920" cy="1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Gitea/DB/Playwright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⚠️ 脆弱性注意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閉域 OK 優先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5要素の関係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5要素の関係：CLAUDE.md が『脳』、他4つはそこから派生する専門機能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172000" y="1250000"/>
            <a:ext cx="2800000" cy="7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72000" y="1330000"/>
            <a:ext cx="2800000" cy="3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CLAUDE.md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000" y="1650000"/>
            <a:ext cx="280000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ctr"/>
            <a:r>
              <a:rPr sz="1000" b="0">
                <a:solidFill>
                  <a:srgbClr val="D0E1F5"/>
                </a:solidFill>
                <a:latin typeface="Meiryo UI"/>
              </a:rPr>
              <a:t>チームの常識・背景知識</a:t>
            </a:r>
          </a:p>
        </p:txBody>
      </p:sp>
      <p:sp>
        <p:nvSpPr>
          <p:cNvPr id="8" name="Rectangle 7"/>
          <p:cNvSpPr/>
          <p:nvPr/>
        </p:nvSpPr>
        <p:spPr>
          <a:xfrm>
            <a:off x="757200" y="2550000"/>
            <a:ext cx="2000000" cy="12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7200" y="2550000"/>
            <a:ext cx="2000000" cy="6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200" y="2680000"/>
            <a:ext cx="1800000" cy="3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300" b="1">
                <a:solidFill>
                  <a:srgbClr val="4A90E2"/>
                </a:solidFill>
                <a:latin typeface="Meiryo UI"/>
              </a:rPr>
              <a:t>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00" y="2990000"/>
            <a:ext cx="18000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「常に読む」には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長すぎる手順を切り出し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00" y="3500000"/>
            <a:ext cx="1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CLAUDE.md → 詳細は Skills 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86800" y="2550000"/>
            <a:ext cx="2000000" cy="12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6800" y="2550000"/>
            <a:ext cx="2000000" cy="6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6800" y="2680000"/>
            <a:ext cx="1800000" cy="3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300" b="1">
                <a:solidFill>
                  <a:srgbClr val="673AB7"/>
                </a:solidFill>
                <a:latin typeface="Meiryo UI"/>
              </a:rPr>
              <a:t>Subagents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800" y="2990000"/>
            <a:ext cx="18000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専門分野だけに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特化した秘書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800" y="3500000"/>
            <a:ext cx="1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ツール制限つきで独立動作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7200" y="3950000"/>
            <a:ext cx="2000000" cy="12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67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7200" y="3950000"/>
            <a:ext cx="2000000" cy="6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00" y="4080000"/>
            <a:ext cx="1800000" cy="3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300" b="1">
                <a:solidFill>
                  <a:srgbClr val="D67E1E"/>
                </a:solidFill>
                <a:latin typeface="Meiryo UI"/>
              </a:rPr>
              <a:t>Hooks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00" y="4390000"/>
            <a:ext cx="18000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ルール違反を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自動で検知・阻止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00" y="4900000"/>
            <a:ext cx="1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CLAUDE.md は約束、Hooks は法律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86800" y="3950000"/>
            <a:ext cx="2000000" cy="12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86800" y="3950000"/>
            <a:ext cx="2000000" cy="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6800" y="4080000"/>
            <a:ext cx="1800000" cy="3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eiryo UI"/>
              </a:rPr>
              <a:t>MCP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6800" y="4390000"/>
            <a:ext cx="18000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秘書の手を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外部ツールまで伸ばす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800" y="4900000"/>
            <a:ext cx="1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Gitea・DB・Playwright 等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757200" y="1600000"/>
            <a:ext cx="2814800" cy="155000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1600000"/>
            <a:ext cx="2814800" cy="155000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757200" y="1600000"/>
            <a:ext cx="2814800" cy="295000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1600000"/>
            <a:ext cx="2814800" cy="295000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4400000"/>
            <a:ext cx="822960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ctr"/>
            <a:r>
              <a:rPr sz="1100" b="1">
                <a:solidFill>
                  <a:srgbClr val="1A2B4C"/>
                </a:solidFill>
                <a:latin typeface="Meiryo UI"/>
              </a:rPr>
              <a:t>つまり CLAUDE.md を中心に、Skills で広げ、Subagents で深め、Hooks で固め、MCP で外とつなぐ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構成要素 1 /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CLAUDE.md：秘書が常に読む『書かれた常識』― 200行以内で育てる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40148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381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CLAUDE.md とは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200" y="1530000"/>
            <a:ext cx="3814800" cy="28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チームの秘書（Claude Code）が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  セッション開始時に自動で読み込むファイル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ここに書いた内容は全員の秘書の知識に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Git でバージョン管理、PR で育てる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200 行以内が目安（肥大化で効力低下）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── 書くこと ──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規約・背景知識・開発の流れ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過去の失敗あるある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よく使うコマンド・パス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── 書かないこと ──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8A94A6"/>
                </a:solidFill>
                <a:latin typeface="Meiryo UI"/>
              </a:rPr>
              <a:t>● 自明なこと（一般的ベストプラクティス）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8A94A6"/>
                </a:solidFill>
                <a:latin typeface="Meiryo UI"/>
              </a:rPr>
              <a:t>● 長い手順 → Skills に切り出す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8A94A6"/>
                </a:solidFill>
                <a:latin typeface="Meiryo UI"/>
              </a:rPr>
              <a:t>● 個人のメモ → ~/.claude/CLAUDE.md へ</a:t>
            </a:r>
          </a:p>
        </p:txBody>
      </p:sp>
      <p:sp>
        <p:nvSpPr>
          <p:cNvPr id="8" name="Rectangle 7"/>
          <p:cNvSpPr/>
          <p:nvPr/>
        </p:nvSpPr>
        <p:spPr>
          <a:xfrm>
            <a:off x="4672000" y="1150000"/>
            <a:ext cx="4014800" cy="2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2000" y="1200000"/>
            <a:ext cx="381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初版サンプル（約30行の骨格）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2000" y="1530000"/>
            <a:ext cx="4014800" cy="31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2000" y="1610000"/>
            <a:ext cx="3814800" cy="29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# team-standards CLAUDE.md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## チーム文脈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- チーム: DX ポータル開発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- 技術: React + TS + Python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## 開発の流れ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1. 15 分以上は Issue を立てる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2. 壁打ち → 4 項目テンプレで Issue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3. Draft PR → セルフレビュー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4. 人間レビュー → マージ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5. 学びがあれば追記 PR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## 秘書への基本指示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- 過去の失敗事例を先に検索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- 迷ったら選択肢を提示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- テストは実装前に書く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- any / unknown は使わない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## コーディング規約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&lt;!-- 気づいたら追記。最初は空 --&gt;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## 過去の失敗あるある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Consolas"/>
              </a:rPr>
              <a:t>&lt;!-- ハマったらその場で追記 --&gt;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構成要素 1 / CLAUDE.MD の育て方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CLAUDE.md は当番制で育て、迷ったら置き場所の判断フローで判定する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8229600" cy="32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10000"/>
            <a:ext cx="82296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ctr"/>
            <a:r>
              <a:rPr sz="1100" b="1">
                <a:solidFill>
                  <a:srgbClr val="1A2B4C"/>
                </a:solidFill>
                <a:latin typeface="Meiryo UI"/>
              </a:rPr>
              <a:t>「気づいた人が書く」だけでは続かない。仕組みと判断基準の両方が必要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0000"/>
            <a:ext cx="40148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200" y="1620000"/>
            <a:ext cx="381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育てる3つの仕組み  HOW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50000"/>
            <a:ext cx="4014800" cy="7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50000"/>
            <a:ext cx="320000" cy="76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50000"/>
            <a:ext cx="320000" cy="760000"/>
          </a:xfrm>
          <a:prstGeom prst="rect">
            <a:avLst/>
          </a:prstGeom>
          <a:noFill/>
        </p:spPr>
        <p:txBody>
          <a:bodyPr wrap="square" lIns="30000" rIns="30000" tIns="20000" bIns="20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200" y="2030000"/>
            <a:ext cx="34648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eiryo UI"/>
              </a:rPr>
              <a:t>週1の振り返り定例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200" y="2270000"/>
            <a:ext cx="34648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15分／週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00" y="2460000"/>
            <a:ext cx="3464800" cy="2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ハマりどころ → 当番が PR 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50000"/>
            <a:ext cx="4014800" cy="7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50000"/>
            <a:ext cx="320000" cy="76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50000"/>
            <a:ext cx="320000" cy="760000"/>
          </a:xfrm>
          <a:prstGeom prst="rect">
            <a:avLst/>
          </a:prstGeom>
          <a:noFill/>
        </p:spPr>
        <p:txBody>
          <a:bodyPr wrap="square" lIns="30000" rIns="30000" tIns="20000" bIns="20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200" y="2830000"/>
            <a:ext cx="34648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100" b="1">
                <a:solidFill>
                  <a:srgbClr val="4A90E2"/>
                </a:solidFill>
                <a:latin typeface="Meiryo UI"/>
              </a:rPr>
              <a:t>その場で小さな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200" y="3070000"/>
            <a:ext cx="34648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随時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00" y="3260000"/>
            <a:ext cx="3464800" cy="2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気づいた人が3行追記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50000"/>
            <a:ext cx="4014800" cy="7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7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550000"/>
            <a:ext cx="320000" cy="76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550000"/>
            <a:ext cx="320000" cy="760000"/>
          </a:xfrm>
          <a:prstGeom prst="rect">
            <a:avLst/>
          </a:prstGeom>
          <a:noFill/>
        </p:spPr>
        <p:txBody>
          <a:bodyPr wrap="square" lIns="30000" rIns="30000" tIns="20000" bIns="20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200" y="3630000"/>
            <a:ext cx="34648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100" b="1">
                <a:solidFill>
                  <a:srgbClr val="D67E1E"/>
                </a:solidFill>
                <a:latin typeface="Meiryo UI"/>
              </a:rPr>
              <a:t>月1の刈り込み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200" y="3870000"/>
            <a:ext cx="34648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月1回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200" y="4060000"/>
            <a:ext cx="3464800" cy="2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古いルール削除で肥大化防止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2000" y="1570000"/>
            <a:ext cx="4014800" cy="2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2000" y="1620000"/>
            <a:ext cx="381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迷ったら？  置き場所の判断  WHAT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72000" y="1950000"/>
            <a:ext cx="4014800" cy="2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2000" y="2000000"/>
            <a:ext cx="24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性質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2000" y="2000000"/>
            <a:ext cx="13648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行き先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72000" y="2230000"/>
            <a:ext cx="40148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2000" y="2290000"/>
            <a:ext cx="24000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自分の作業スタイル・好み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2000" y="2270000"/>
            <a:ext cx="136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~/.claude/CLAUDE.md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2000" y="2430000"/>
            <a:ext cx="136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個人メモ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2000" y="2610000"/>
            <a:ext cx="4014800" cy="3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2000" y="2670000"/>
            <a:ext cx="24000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このプロジェクト固有の話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2000" y="2650000"/>
            <a:ext cx="136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4A90E2"/>
                </a:solidFill>
                <a:latin typeface="Meiryo UI"/>
              </a:rPr>
              <a:t>プロジェクト CLAUDE.md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2000" y="2810000"/>
            <a:ext cx="136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プロジェクト層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2000" y="2990000"/>
            <a:ext cx="40148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72000" y="3050000"/>
            <a:ext cx="24000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複数プロジェクトに効く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2000" y="3030000"/>
            <a:ext cx="136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team-standards CLAUDE.md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2000" y="3190000"/>
            <a:ext cx="136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共通層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72000" y="3370000"/>
            <a:ext cx="4014800" cy="3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72000" y="3430000"/>
            <a:ext cx="24000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2回以上やる手順(10行超)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2000" y="3410000"/>
            <a:ext cx="136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team-standards/skills/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2000" y="3570000"/>
            <a:ext cx="136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Skill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5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構成要素 2 /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Skills：呼び出し式の手順書 ― 2 回以上やる作業は Skill 化する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4014800" cy="2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381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Skills とは  用途と使い分け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200" y="1530000"/>
            <a:ext cx="3814800" cy="30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呼び出したときだけ読み込まれる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  （CLAUDE.md と違って常駐しない）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長い手順・チェックリスト・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  ワークフローを格納する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/implement-feature 等で呼び出し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── 使い分けの原則 ──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CLAUDE.md: 常識・ルール（常駐）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Skills: 手順・チェックリスト（呼出）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── 作る目安 ──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2 回以上やる作業 → Skill 化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10 行超の手順 → Skill 化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CLAUDE.md が肥大化 → Skill 切出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4672000" y="1150000"/>
            <a:ext cx="40148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2000" y="1200000"/>
            <a:ext cx="381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必須インストール  公式＋コミュニティ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2000" y="1530000"/>
            <a:ext cx="4014800" cy="3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2000" y="1560000"/>
            <a:ext cx="20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superpowers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2000" y="1560000"/>
            <a:ext cx="7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公式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2000" y="1770000"/>
            <a:ext cx="3314800" cy="1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統合ワークフロー集（壁打ち/TDD/並列）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6800" y="1560000"/>
            <a:ext cx="45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800" b="1">
                <a:solidFill>
                  <a:srgbClr val="C03030"/>
                </a:solidFill>
                <a:latin typeface="Meiryo UI"/>
              </a:rPr>
              <a:t>★必須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2000" y="1940000"/>
            <a:ext cx="20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claude-md-management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2000" y="1940000"/>
            <a:ext cx="7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公式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2000" y="2150000"/>
            <a:ext cx="3314800" cy="1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CLAUDE.md 品質監査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6800" y="1940000"/>
            <a:ext cx="45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800" b="1">
                <a:solidFill>
                  <a:srgbClr val="C03030"/>
                </a:solidFill>
                <a:latin typeface="Meiryo UI"/>
              </a:rPr>
              <a:t>★必須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72000" y="2290000"/>
            <a:ext cx="4014800" cy="3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2000" y="2320000"/>
            <a:ext cx="20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code-review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2000" y="2320000"/>
            <a:ext cx="7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公式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2000" y="2530000"/>
            <a:ext cx="3314800" cy="1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5並列エージェント PR レビュー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6800" y="2320000"/>
            <a:ext cx="45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800" b="1">
                <a:solidFill>
                  <a:srgbClr val="C03030"/>
                </a:solidFill>
                <a:latin typeface="Meiryo UI"/>
              </a:rPr>
              <a:t>★必須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2000" y="2700000"/>
            <a:ext cx="20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feature-dev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2000" y="2700000"/>
            <a:ext cx="7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公式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2000" y="2910000"/>
            <a:ext cx="3314800" cy="1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7 段階機能開発フロー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6800" y="2700000"/>
            <a:ext cx="45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800" b="1">
                <a:solidFill>
                  <a:srgbClr val="4A90E2"/>
                </a:solidFill>
                <a:latin typeface="Meiryo UI"/>
              </a:rPr>
              <a:t>推奨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72000" y="3050000"/>
            <a:ext cx="4014800" cy="3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2000" y="3080000"/>
            <a:ext cx="20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pr-review-toolkit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2000" y="3080000"/>
            <a:ext cx="7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公式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2000" y="3290000"/>
            <a:ext cx="3314800" cy="1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6 種類の専門レビュー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6800" y="3080000"/>
            <a:ext cx="45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800" b="1">
                <a:solidFill>
                  <a:srgbClr val="4A90E2"/>
                </a:solidFill>
                <a:latin typeface="Meiryo UI"/>
              </a:rPr>
              <a:t>推奨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2000" y="3460000"/>
            <a:ext cx="20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commit-commands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2000" y="3460000"/>
            <a:ext cx="7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公式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2000" y="3670000"/>
            <a:ext cx="3314800" cy="1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/commit, /commit-push-pr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6800" y="3460000"/>
            <a:ext cx="45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800" b="1">
                <a:solidFill>
                  <a:srgbClr val="4A90E2"/>
                </a:solidFill>
                <a:latin typeface="Meiryo UI"/>
              </a:rPr>
              <a:t>推奨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72000" y="3810000"/>
            <a:ext cx="4014800" cy="3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72000" y="3840000"/>
            <a:ext cx="20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obra/superpowers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2000" y="3840000"/>
            <a:ext cx="7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コミュニティ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2000" y="4050000"/>
            <a:ext cx="3314800" cy="1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144k stars 決定版 Skill 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6800" y="3840000"/>
            <a:ext cx="45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800" b="1">
                <a:solidFill>
                  <a:srgbClr val="C03030"/>
                </a:solidFill>
                <a:latin typeface="Meiryo UI"/>
              </a:rPr>
              <a:t>★必須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6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構成要素 3 / SUBAGENTS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Subagents：特定分野に特化した専門秘書 ― VoltAgent から6つコピーするだけ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4014800" cy="28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381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Subagents とは  役割と使い方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200" y="1530000"/>
            <a:ext cx="3814800" cy="30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特定役割に特化した『分身』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  （security 専門、設計 専門、等）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独立したコンテキストウィンドウ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ツール制限を設定できる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  （例: security は Write 禁止）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@agent-name で呼び出し or 自動委譲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モデルも個別に選べる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  Haiku: 探索（-80%コスト）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  Sonnet: 品質重視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  Opus: 複雑推論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── 並列実行 ──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superpowers:dispatching-parallel-agents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で複数同時起動可能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4672000" y="1150000"/>
            <a:ext cx="40148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2000" y="1200000"/>
            <a:ext cx="381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VoltAgent からコピーする6つ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2000" y="1530000"/>
            <a:ext cx="4014800" cy="4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72000" y="1530000"/>
            <a:ext cx="40000" cy="44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2000" y="1590000"/>
            <a:ext cx="38148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code-reviewer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2000" y="1810000"/>
            <a:ext cx="38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一般的コード品質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2000" y="1970000"/>
            <a:ext cx="4014800" cy="4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72000" y="1970000"/>
            <a:ext cx="40000" cy="44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2000" y="2030000"/>
            <a:ext cx="38148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architect-reviewer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2000" y="2250000"/>
            <a:ext cx="38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設計の妥当性・拡張性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72000" y="2410000"/>
            <a:ext cx="4014800" cy="4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72000" y="2410000"/>
            <a:ext cx="40000" cy="44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92000" y="2470000"/>
            <a:ext cx="38148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security-auditor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2000" y="2690000"/>
            <a:ext cx="38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脆弱性・認証漏れ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72000" y="2850000"/>
            <a:ext cx="4014800" cy="4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72000" y="2850000"/>
            <a:ext cx="40000" cy="44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92000" y="2910000"/>
            <a:ext cx="38148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test-coverage-checker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2000" y="3130000"/>
            <a:ext cx="38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テスト不足検出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72000" y="3290000"/>
            <a:ext cx="4014800" cy="4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72000" y="3290000"/>
            <a:ext cx="40000" cy="44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92000" y="3350000"/>
            <a:ext cx="38148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debugger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2000" y="3570000"/>
            <a:ext cx="38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根本原因分析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72000" y="3730000"/>
            <a:ext cx="4014800" cy="4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72000" y="3730000"/>
            <a:ext cx="40000" cy="44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2000" y="3790000"/>
            <a:ext cx="38148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dependency-manager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92000" y="4010000"/>
            <a:ext cx="38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依存関係監査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7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構成要素 3 / SUBAGENTS の設定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Subagent の設定例：ツール制限とモデル選択で『安全な専門家』を作る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8229600" cy="40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7200" y="1210000"/>
            <a:ext cx="7629600" cy="3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Subagent は frontmatter で『何ができるか・できないか』を明示する。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A2B4C"/>
                </a:solidFill>
                <a:latin typeface="Meiryo UI"/>
              </a:rPr>
              <a:t>セキュリティ系は Write 禁止、テスト系は Bash 限定 ― など役割別に制限する。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50000"/>
            <a:ext cx="4014800" cy="25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200" y="1690000"/>
            <a:ext cx="38148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eiryo UI"/>
              </a:rPr>
              <a:t>例1: security-auditor.md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30000"/>
            <a:ext cx="4014800" cy="182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200" y="2010000"/>
            <a:ext cx="3814800" cy="16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---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name: security-auditor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description: 脆弱性・認証漏れ専門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tools: Read, Grep, WebSearch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disallowedTools: Write, Bash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model: sonnet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---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あなたはセキュリティ監査の専門家。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以下の観点でコードをレビュー：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- 認証・認可の漏れ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- SQL/Command Injection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- 機密情報の露出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- OWASP Top 10 への該当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指摘には CVSS スコア目安を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付与する。修正は提案のみ、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実装はメインエージェントに任せる。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72000" y="1650000"/>
            <a:ext cx="4014800" cy="25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2000" y="1690000"/>
            <a:ext cx="38148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eiryo UI"/>
              </a:rPr>
              <a:t>例2: code-reviewer.md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72000" y="1930000"/>
            <a:ext cx="4014800" cy="182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2000" y="2010000"/>
            <a:ext cx="3814800" cy="16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---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name: code-reviewer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description: 一般的なコード品質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tools: Read, Grep, Glob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model: haiku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---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あなたはコードレビュアー。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CLAUDE.md に準拠しているかを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最優先にチェック。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- 命名規約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- テストの有無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- エラーハンドリング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- 可読性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Haiku モデルで軽量に回す。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深い指摘は他の subagent に委譲。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50000"/>
            <a:ext cx="8229600" cy="7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200" y="3910000"/>
            <a:ext cx="7829600" cy="6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セキュリティ系: Write 禁止 — レビューだけして、修正は人間／メインに委ねる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一次レビュー: Haiku で軽量に — 80% コスト削減、速い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深いレビュー: Sonnet で品質重視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配置: team-standards/agents/ に commit — チーム全員に配布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構成要素 4 /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Hooks：特定のイベントで自動実行 ― CLAUDE.md を『法律』に変える仕組み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4014800" cy="28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381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Hooks とは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200" y="1530000"/>
            <a:ext cx="3814800" cy="30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21 種類の Event で自動実行される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  スクリプト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CLAUDE.md は『約束』、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B4C"/>
                </a:solidFill>
                <a:latin typeface="Meiryo UI"/>
              </a:rPr>
              <a:t>  Hooks は『法律』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  → 違反を機械的に検知・阻止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── 4つのハンドラータイプ ──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1. command  Shell スクリプト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2. http     外部 API へ POST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3. prompt   LLM で単一ターン評価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4. agent    フル subagent 統合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C03030"/>
                </a:solidFill>
                <a:latin typeface="Meiryo UI"/>
              </a:rPr>
              <a:t>── ⚠️ 必ず Node.js で書く ──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Bash だと Windows/WSL で壊れる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→ .mjs でクロスプラットフォーム</a:t>
            </a:r>
          </a:p>
        </p:txBody>
      </p:sp>
      <p:sp>
        <p:nvSpPr>
          <p:cNvPr id="8" name="Rectangle 7"/>
          <p:cNvSpPr/>
          <p:nvPr/>
        </p:nvSpPr>
        <p:spPr>
          <a:xfrm>
            <a:off x="4672000" y="1150000"/>
            <a:ext cx="40148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2000" y="1200000"/>
            <a:ext cx="381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主要 Event Type と用途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2000" y="1530000"/>
            <a:ext cx="4014800" cy="45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2000" y="1590000"/>
            <a:ext cx="24000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D67E1E"/>
                </a:solidFill>
                <a:latin typeface="Meiryo UI"/>
              </a:rPr>
              <a:t>SessionStart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2000" y="1820000"/>
            <a:ext cx="38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team-standards 最新化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2000" y="2040000"/>
            <a:ext cx="24000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D67E1E"/>
                </a:solidFill>
                <a:latin typeface="Meiryo UI"/>
              </a:rPr>
              <a:t>UserPromptSubmit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2000" y="2270000"/>
            <a:ext cx="38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CLAUDE.md 違反検出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72000" y="2430000"/>
            <a:ext cx="4014800" cy="45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2000" y="2490000"/>
            <a:ext cx="24000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D67E1E"/>
                </a:solidFill>
                <a:latin typeface="Meiryo UI"/>
              </a:rPr>
              <a:t>PreToolUse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2000" y="2720000"/>
            <a:ext cx="38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rm -rf 等の危険コマンド遮断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2000" y="2940000"/>
            <a:ext cx="24000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D67E1E"/>
                </a:solidFill>
                <a:latin typeface="Meiryo UI"/>
              </a:rPr>
              <a:t>PostToolUse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2000" y="3170000"/>
            <a:ext cx="38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auto-format, lint 実行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72000" y="3330000"/>
            <a:ext cx="4014800" cy="45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2000" y="3390000"/>
            <a:ext cx="24000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D67E1E"/>
                </a:solidFill>
                <a:latin typeface="Meiryo UI"/>
              </a:rP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2000" y="3620000"/>
            <a:ext cx="38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PR 作成前の最終チェック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2000" y="3840000"/>
            <a:ext cx="24000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D67E1E"/>
                </a:solidFill>
                <a:latin typeface="Meiryo UI"/>
              </a:rPr>
              <a:t>SessionEnd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2000" y="4070000"/>
            <a:ext cx="38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壁打ちログの自動保存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9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構成要素 4 / HOOKS の実装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Day 1 に入れる3つの Hook：壁打ちログ保存・自動lint・危険コマンド遮断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2643200" cy="32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244320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1. save-transcript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0000"/>
            <a:ext cx="2643200" cy="20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200" y="1490000"/>
            <a:ext cx="24432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1A2B4C"/>
                </a:solidFill>
                <a:latin typeface="Meiryo UI"/>
              </a:rPr>
              <a:t>Event: SessionEnd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200" y="1710000"/>
            <a:ext cx="2443200" cy="4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壁打ちログを .claude/logs/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transcripts/ に自動保存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50000"/>
            <a:ext cx="2643200" cy="25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200" y="2230000"/>
            <a:ext cx="2443200" cy="23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"SessionEnd": [{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"hooks": [{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  "type": "command",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  "command": "node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    .claude/hooks/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    save-transcript.mjs"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}]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}]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→ transcript_path を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読んで markdown で保存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0400" y="1150000"/>
            <a:ext cx="2643200" cy="32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0400" y="1200000"/>
            <a:ext cx="244320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2. lint-on-edit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50400" y="1480000"/>
            <a:ext cx="2643200" cy="20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0400" y="1490000"/>
            <a:ext cx="24432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Event: PostToolUse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0400" y="1710000"/>
            <a:ext cx="2443200" cy="4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Write/Edit 後に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prettier/eslint 自動実行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50400" y="2150000"/>
            <a:ext cx="2643200" cy="25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0400" y="2230000"/>
            <a:ext cx="2443200" cy="23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"PostToolUse": [{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"matcher": "Write|Edit",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"hooks": [{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  "type": "command",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  "command":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    "npx prettier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     --write ...",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  "async": true,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  "timeout": 60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}]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}]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3600" y="1150000"/>
            <a:ext cx="2643200" cy="32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3600" y="1200000"/>
            <a:ext cx="244320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3. bash-guard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43600" y="1480000"/>
            <a:ext cx="2643200" cy="20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3600" y="1490000"/>
            <a:ext cx="24432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C03030"/>
                </a:solidFill>
                <a:latin typeface="Meiryo UI"/>
              </a:rPr>
              <a:t>Event: PreToolUse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3600" y="1710000"/>
            <a:ext cx="2443200" cy="4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rm -rf 等の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破壊的コマンドをブロック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43600" y="2150000"/>
            <a:ext cx="2643200" cy="25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3600" y="2230000"/>
            <a:ext cx="2443200" cy="23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"PreToolUse": [{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"matcher": "Bash",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"if": "Bash(rm -rf *)",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"hooks": [{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  "type": "command",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  "command": "node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    .claude/hooks/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    bash-guard.mjs"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  }]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}]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→ exit 2 でブロック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50000"/>
            <a:ext cx="8229600" cy="30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200" y="4800000"/>
            <a:ext cx="78296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Meiryo UI"/>
              </a:rPr>
              <a:t>本体スクリプトは team-standards/hooks/ に置く。設定は .claude/settings.json で git commit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構成要素 4.5 / PERMISSIONS.DENY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settings.json の禁止事項：CLAUDE.md は約束、settings.json は鍵、Hooks は番人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4014800" cy="28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381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3つの防御層と使い分け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30000"/>
            <a:ext cx="40148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30000"/>
            <a:ext cx="40000" cy="45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200" y="1560000"/>
            <a:ext cx="12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CLAUDE.md = 約束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200" y="1760000"/>
            <a:ext cx="38148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秘書への「お願い」（守らないことがある）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0000"/>
            <a:ext cx="40148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10000"/>
            <a:ext cx="40000" cy="45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200" y="2040000"/>
            <a:ext cx="12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C03030"/>
                </a:solidFill>
                <a:latin typeface="Meiryo UI"/>
              </a:rPr>
              <a:t>settings.json = 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200" y="2240000"/>
            <a:ext cx="38148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ツール・コマンドの禁止（物理的にできない）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90000"/>
            <a:ext cx="4014800" cy="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490000"/>
            <a:ext cx="40000" cy="45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200" y="2520000"/>
            <a:ext cx="12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D67E1E"/>
                </a:solidFill>
                <a:latin typeface="Meiryo UI"/>
              </a:rPr>
              <a:t>Hooks = 番人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200" y="2720000"/>
            <a:ext cx="38148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イベント時の自動検証（exit 2 でブロック）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20000"/>
            <a:ext cx="4014800" cy="35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200" y="3070000"/>
            <a:ext cx="371480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1">
                <a:solidFill>
                  <a:srgbClr val="C03030"/>
                </a:solidFill>
                <a:latin typeface="Meiryo UI"/>
              </a:rPr>
              <a:t>「絶対ダメ」→ settings.json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1">
                <a:solidFill>
                  <a:srgbClr val="D67E1E"/>
                </a:solidFill>
                <a:latin typeface="Meiryo UI"/>
              </a:rPr>
              <a:t>「状況による」→ Hooks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1">
                <a:solidFill>
                  <a:srgbClr val="1A2B4C"/>
                </a:solidFill>
                <a:latin typeface="Meiryo UI"/>
              </a:rPr>
              <a:t>「心がけ」→ CLAUDE.md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72000" y="1150000"/>
            <a:ext cx="40148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2000" y="1200000"/>
            <a:ext cx="381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チームで入れるべき禁止事項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72000" y="1530000"/>
            <a:ext cx="4014800" cy="3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2000" y="1580000"/>
            <a:ext cx="22000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C03030"/>
                </a:solidFill>
                <a:latin typeface="Consolas"/>
              </a:rPr>
              <a:t>rm -rf 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2000" y="1740000"/>
            <a:ext cx="3814800" cy="1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ファイル全消失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2000" y="1960000"/>
            <a:ext cx="22000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C03030"/>
                </a:solidFill>
                <a:latin typeface="Consolas"/>
              </a:rPr>
              <a:t>git push --force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2000" y="2120000"/>
            <a:ext cx="3814800" cy="1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リモート履歴上書き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72000" y="2290000"/>
            <a:ext cx="4014800" cy="3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2000" y="2340000"/>
            <a:ext cx="22000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C03030"/>
                </a:solidFill>
                <a:latin typeface="Consolas"/>
              </a:rPr>
              <a:t>git reset --hard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2000" y="2500000"/>
            <a:ext cx="3814800" cy="1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未コミット変更消失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2000" y="2720000"/>
            <a:ext cx="22000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C03030"/>
                </a:solidFill>
                <a:latin typeface="Consolas"/>
              </a:rPr>
              <a:t>git checkout -- 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2000" y="2880000"/>
            <a:ext cx="3814800" cy="1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作業中の変更消失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72000" y="3050000"/>
            <a:ext cx="4014800" cy="3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72000" y="3100000"/>
            <a:ext cx="22000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C03030"/>
                </a:solidFill>
                <a:latin typeface="Consolas"/>
              </a:rPr>
              <a:t>git clean -fd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2000" y="3260000"/>
            <a:ext cx="3814800" cy="1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未追跡ファイル消失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2000" y="3480000"/>
            <a:ext cx="22000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C03030"/>
                </a:solidFill>
                <a:latin typeface="Consolas"/>
              </a:rPr>
              <a:t>DROP / DELETE FROM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2000" y="3640000"/>
            <a:ext cx="3814800" cy="1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DB 破壊的操作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72000" y="3810000"/>
            <a:ext cx="4014800" cy="3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72000" y="3860000"/>
            <a:ext cx="22000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C03030"/>
                </a:solidFill>
                <a:latin typeface="Consolas"/>
              </a:rPr>
              <a:t>chmod 777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2000" y="4020000"/>
            <a:ext cx="3814800" cy="1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セキュリティ無効化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72000" y="4240000"/>
            <a:ext cx="22000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C03030"/>
                </a:solidFill>
                <a:latin typeface="Consolas"/>
              </a:rPr>
              <a:t>curl | bash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2000" y="4400000"/>
            <a:ext cx="3814800" cy="1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外部スクリプト盲目実行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11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構成要素 5 /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MCP：外部ツール連携の仕組み ― 秘書が Gitea や DB に直接触れるようになる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4014800" cy="2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381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MCP とは  Model Context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200" y="1530000"/>
            <a:ext cx="3814800" cy="30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秘書（Claude Code）が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  外部ツールと話すための共通規格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これで秘書が『手元のコード以外』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  を読み書きできるようになる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── 使い道の例 ──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Gitea の Issue / PR 操作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PostgreSQL に直接クエリ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ファイルシステム拡張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Playwright でブラウザ自動化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社内 Wiki / Slack 連携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── 設定方法 ──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.mcp.json （プロジェクトスコープ）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または claude mcp add コマンド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C03030"/>
                </a:solidFill>
                <a:latin typeface="Meiryo UI"/>
              </a:rPr>
              <a:t>トークンは .env で管理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C03030"/>
                </a:solidFill>
                <a:latin typeface="Meiryo UI"/>
              </a:rPr>
              <a:t>(絶対に commit しない)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72000" y="1150000"/>
            <a:ext cx="40148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2000" y="1200000"/>
            <a:ext cx="38148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閉域環境 OK な MCP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2000" y="1530000"/>
            <a:ext cx="4014800" cy="46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2000" y="1570000"/>
            <a:ext cx="22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gitea/gitea-mcp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000" y="1570000"/>
            <a:ext cx="9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Gitea 公式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2000" y="1780000"/>
            <a:ext cx="33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Issue/PR/コード操作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6800" y="1570000"/>
            <a:ext cx="45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800" b="1">
                <a:solidFill>
                  <a:srgbClr val="C03030"/>
                </a:solidFill>
                <a:latin typeface="Meiryo UI"/>
              </a:rPr>
              <a:t>★必須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2000" y="2030000"/>
            <a:ext cx="22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server-postgres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000" y="2030000"/>
            <a:ext cx="9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公式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2000" y="2240000"/>
            <a:ext cx="33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読み取り専用 DB アクセス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6800" y="2030000"/>
            <a:ext cx="45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800" b="1">
                <a:solidFill>
                  <a:srgbClr val="8A94A6"/>
                </a:solidFill>
                <a:latin typeface="Meiryo UI"/>
              </a:rPr>
              <a:t>任意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72000" y="2450000"/>
            <a:ext cx="4014800" cy="46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2000" y="2490000"/>
            <a:ext cx="22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server-filesystem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000" y="2490000"/>
            <a:ext cx="9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公式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2000" y="2700000"/>
            <a:ext cx="33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ファイル操作の拡張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6800" y="2490000"/>
            <a:ext cx="45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800" b="1">
                <a:solidFill>
                  <a:srgbClr val="8A94A6"/>
                </a:solidFill>
                <a:latin typeface="Meiryo UI"/>
              </a:rPr>
              <a:t>任意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2000" y="2950000"/>
            <a:ext cx="22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server-git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000" y="2950000"/>
            <a:ext cx="9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公式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2000" y="3160000"/>
            <a:ext cx="33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Git 操作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6800" y="2950000"/>
            <a:ext cx="45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800" b="1">
                <a:solidFill>
                  <a:srgbClr val="8A94A6"/>
                </a:solidFill>
                <a:latin typeface="Meiryo UI"/>
              </a:rPr>
              <a:t>任意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72000" y="3370000"/>
            <a:ext cx="4014800" cy="46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2000" y="3410000"/>
            <a:ext cx="22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server-puppeteer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000" y="3410000"/>
            <a:ext cx="9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公式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2000" y="3620000"/>
            <a:ext cx="33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Playwright/E2E テスト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6800" y="3410000"/>
            <a:ext cx="45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800" b="1">
                <a:solidFill>
                  <a:srgbClr val="8A94A6"/>
                </a:solidFill>
                <a:latin typeface="Meiryo UI"/>
              </a:rPr>
              <a:t>任意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2000" y="3870000"/>
            <a:ext cx="22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server-time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000" y="3870000"/>
            <a:ext cx="90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公式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2000" y="4080000"/>
            <a:ext cx="3314800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時刻・タイムゾーン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6800" y="3870000"/>
            <a:ext cx="4500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800" b="1">
                <a:solidFill>
                  <a:srgbClr val="8A94A6"/>
                </a:solidFill>
                <a:latin typeface="Meiryo UI"/>
              </a:rPr>
              <a:t>任意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構成要素 5 / MCP セキュリティ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⚠️ MCP には重大な脆弱性が多数 ― 公式以外は導入前にチェック必須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8229600" cy="450000"/>
          </a:xfrm>
          <a:prstGeom prst="rect">
            <a:avLst/>
          </a:prstGeom>
          <a:solidFill>
            <a:srgbClr val="FEF3F3"/>
          </a:solidFill>
          <a:ln w="1905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7200" y="1210000"/>
            <a:ext cx="78296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200" b="1">
                <a:solidFill>
                  <a:srgbClr val="C03030"/>
                </a:solidFill>
                <a:latin typeface="Meiryo UI"/>
              </a:rPr>
              <a:t>⚠  2025-2026 年に発見された人気 MCP の CVE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00" y="1430000"/>
            <a:ext cx="7829600" cy="1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500k+ ダウンロード済みの MCP でも深刻な脆弱性が判明している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0000"/>
            <a:ext cx="8229600" cy="32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7200" y="1780000"/>
            <a:ext cx="22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eiryo UI"/>
              </a:rPr>
              <a:t>MCP 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200" y="1780000"/>
            <a:ext cx="20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eiryo UI"/>
              </a:rPr>
              <a:t>脆弱性タイプ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7200" y="1780000"/>
            <a:ext cx="36296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eiryo UI"/>
              </a:rPr>
              <a:t>影響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20000"/>
            <a:ext cx="82296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7200" y="2080000"/>
            <a:ext cx="22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mcp-remote (npm)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200" y="2080000"/>
            <a:ext cx="20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C03030"/>
                </a:solidFill>
                <a:latin typeface="Meiryo UI"/>
              </a:rPr>
              <a:t>CVE-2025-6514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7200" y="2080000"/>
            <a:ext cx="36296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558k ダウンロード済み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40000"/>
            <a:ext cx="8229600" cy="32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200" y="2400000"/>
            <a:ext cx="22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mcp-server-git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7200" y="2400000"/>
            <a:ext cx="20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C03030"/>
                </a:solidFill>
                <a:latin typeface="Meiryo UI"/>
              </a:rPr>
              <a:t>CVE-2025-68145-6 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7200" y="2400000"/>
            <a:ext cx="36296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リモートコード実行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60000"/>
            <a:ext cx="82296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200" y="2720000"/>
            <a:ext cx="22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SQLite 参考実装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200" y="2720000"/>
            <a:ext cx="20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C03030"/>
                </a:solidFill>
                <a:latin typeface="Meiryo UI"/>
              </a:rPr>
              <a:t>SQL Injection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7200" y="2720000"/>
            <a:ext cx="36296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5000+ fork 被害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80000"/>
            <a:ext cx="8229600" cy="32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7200" y="3040000"/>
            <a:ext cx="22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Microsoft MarkItDown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7200" y="3040000"/>
            <a:ext cx="20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C03030"/>
                </a:solidFill>
                <a:latin typeface="Meiryo UI"/>
              </a:rPr>
              <a:t>SSRF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7200" y="3040000"/>
            <a:ext cx="36296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EC2 メタデータ露出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300000"/>
            <a:ext cx="82296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200" y="3360000"/>
            <a:ext cx="22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gemini-mcp-tool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200" y="3360000"/>
            <a:ext cx="20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C03030"/>
                </a:solidFill>
                <a:latin typeface="Meiryo UI"/>
              </a:rPr>
              <a:t>Shell Injection CVSS 9.8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7200" y="3360000"/>
            <a:ext cx="36296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未パッチ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40000"/>
            <a:ext cx="8229600" cy="55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7200" y="3990000"/>
            <a:ext cx="7829600" cy="2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eiryo UI"/>
              </a:rPr>
              <a:t>導入前チェック（全項目必須）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200" y="4220000"/>
            <a:ext cx="782960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□ 配布元  □ CVE確認  □ 権限範囲  □ トークン管理  □ 監査ログ  □ コードレビュー  □ テスト運用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00000"/>
            <a:ext cx="77296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Source: OWASP MCP Top 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13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統合 / ディレクトリ構造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team-standards リポジトリ構造：5要素すべてを1箇所に集約する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00000"/>
            <a:ext cx="441628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200" y="1150000"/>
            <a:ext cx="421628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team-standards/  ディレクトリツリー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0000"/>
            <a:ext cx="4416280" cy="34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200" y="1560000"/>
            <a:ext cx="4216280" cy="324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team-standards/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├── README.md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├── CLAUDE.md                    ← 常に読まれる規約 (200行以内)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├── skills/                       ← 呼び出し式の手順書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├── implement-feature.md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├── post-to-gitea-issue.md   (自作)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├── review-my-changes.md     (拡張)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└── brainstorm-log-to-4items.md (自作)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├── agents/                       ← 専門秘書 (VoltAgent コピー)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├── code-reviewer.md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├── architect-reviewer.md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├── security-auditor.md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├── test-coverage-checker.md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├── debugger.md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└── dependency-manager.md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├── hooks/                        ← 自動化 (.mjs / Node.js)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├── save-transcript.mjs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├── lint-on-edit.mjs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├── bash-guard.mjs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└── team-standards-pull.mjs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├── mcp/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└── .mcp.json                 ← MCP 接続設定テンプレ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├── .claude/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   └── settings.json             ← Hook 有効化 (git commit)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├── .env.example                  ← トークンのテンプレ (空値)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└── .gitignore                    ← .env, secrets 除外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3480" y="1100000"/>
            <a:ext cx="3613320" cy="2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3480" y="1150000"/>
            <a:ext cx="3413320" cy="22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構成要素との対応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3480" y="1480000"/>
            <a:ext cx="3613320" cy="59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73480" y="1480000"/>
            <a:ext cx="50000" cy="59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3480" y="1560000"/>
            <a:ext cx="336332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eiryo UI"/>
              </a:rPr>
              <a:t>CLAUDE.md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3480" y="1780000"/>
            <a:ext cx="336332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CLAUDE.md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3480" y="2100000"/>
            <a:ext cx="3613320" cy="59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3480" y="2100000"/>
            <a:ext cx="50000" cy="59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3480" y="2180000"/>
            <a:ext cx="336332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100" b="1">
                <a:solidFill>
                  <a:srgbClr val="4A90E2"/>
                </a:solidFill>
                <a:latin typeface="Meiryo UI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3480" y="2400000"/>
            <a:ext cx="336332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skills/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3480" y="2720000"/>
            <a:ext cx="3613320" cy="59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3480" y="2720000"/>
            <a:ext cx="50000" cy="59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23480" y="2800000"/>
            <a:ext cx="336332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100" b="1">
                <a:solidFill>
                  <a:srgbClr val="673AB7"/>
                </a:solidFill>
                <a:latin typeface="Meiryo UI"/>
              </a:rPr>
              <a:t>Subagents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3480" y="3020000"/>
            <a:ext cx="336332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agents/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3480" y="3340000"/>
            <a:ext cx="3613320" cy="59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73480" y="3340000"/>
            <a:ext cx="50000" cy="59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23480" y="3420000"/>
            <a:ext cx="336332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100" b="1">
                <a:solidFill>
                  <a:srgbClr val="D67E1E"/>
                </a:solidFill>
                <a:latin typeface="Meiryo UI"/>
              </a:rPr>
              <a:t>Hooks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3480" y="3640000"/>
            <a:ext cx="336332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hooks/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+ .claude/settings.json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3480" y="3960000"/>
            <a:ext cx="3613320" cy="59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3480" y="3960000"/>
            <a:ext cx="50000" cy="59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23480" y="4040000"/>
            <a:ext cx="336332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eiryo UI"/>
              </a:rPr>
              <a:t>MCP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3480" y="4260000"/>
            <a:ext cx="3363320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mcp/.mcp.json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+ .env (個人)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導入計画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導入順序：Day 1 で基盤 → Week 1 で強化 → Month 1 で仕上げ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2676533" cy="6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247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C8D7E6"/>
                </a:solidFill>
                <a:latin typeface="Meiryo U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200" y="1380000"/>
            <a:ext cx="2476533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 UI"/>
              </a:rPr>
              <a:t>基盤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200" y="1600000"/>
            <a:ext cx="2476533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C8D7E6"/>
                </a:solidFill>
                <a:latin typeface="Meiryo UI"/>
              </a:rPr>
              <a:t>Day 1  ·  2時間以内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50000"/>
            <a:ext cx="2676533" cy="2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200" y="1810000"/>
            <a:ext cx="3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200" y="181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Gitea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200" y="203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gitea-mcp +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00" y="2470000"/>
            <a:ext cx="3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00" y="247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公式プラグイン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200" y="269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claude-md-management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200" y="3130000"/>
            <a:ext cx="3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200" y="313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team-standards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200" y="335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CLAUDE.md 初版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200" y="357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(30 行の骨格)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200" y="4010000"/>
            <a:ext cx="3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200" y="401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最小 Hooks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200" y="423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bash-guard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33733" y="1150000"/>
            <a:ext cx="2676533" cy="60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3733" y="1200000"/>
            <a:ext cx="247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C8D7E6"/>
                </a:solidFill>
                <a:latin typeface="Meiryo UI"/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3733" y="1380000"/>
            <a:ext cx="2476533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 UI"/>
              </a:rPr>
              <a:t>強化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3733" y="1600000"/>
            <a:ext cx="2476533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C8D7E6"/>
                </a:solidFill>
                <a:latin typeface="Meiryo UI"/>
              </a:rPr>
              <a:t>Week 1  ·  数日〜1週間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33733" y="1750000"/>
            <a:ext cx="2676533" cy="2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3733" y="1810000"/>
            <a:ext cx="3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4A90E2"/>
                </a:solidFill>
                <a:latin typeface="Meiryo UI"/>
              </a:rPr>
              <a:t>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3733" y="181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Subagents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3733" y="203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コピー &amp; ツール制限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3733" y="2470000"/>
            <a:ext cx="3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4A90E2"/>
                </a:solidFill>
                <a:latin typeface="Meiryo UI"/>
              </a:rPr>
              <a:t>6.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3733" y="247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追加プラグイン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3733" y="269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feature-dev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3733" y="3130000"/>
            <a:ext cx="3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4A90E2"/>
                </a:solidFill>
                <a:latin typeface="Meiryo UI"/>
              </a:rPr>
              <a:t>7.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3733" y="313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lint-on-edit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3733" y="335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PostToolUse で自動化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3733" y="3790000"/>
            <a:ext cx="3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4A90E2"/>
                </a:solidFill>
                <a:latin typeface="Meiryo UI"/>
              </a:rPr>
              <a:t>8.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3733" y="379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/post-to-gitea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3733" y="401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2-4 時間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10266" y="1150000"/>
            <a:ext cx="2676533" cy="60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10266" y="1200000"/>
            <a:ext cx="247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C8D7E6"/>
                </a:solidFill>
                <a:latin typeface="Meiryo UI"/>
              </a:rPr>
              <a:t>PHASE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10266" y="1380000"/>
            <a:ext cx="2476533" cy="2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 UI"/>
              </a:rPr>
              <a:t>仕上げ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10266" y="1600000"/>
            <a:ext cx="2476533" cy="18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C8D7E6"/>
                </a:solidFill>
                <a:latin typeface="Meiryo UI"/>
              </a:rPr>
              <a:t>Month 1  ·  余裕があれば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10266" y="1750000"/>
            <a:ext cx="2676533" cy="2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0266" y="1810000"/>
            <a:ext cx="3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9.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0266" y="181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セルフレビュー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0266" y="203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+ CLAUDE.md 準拠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0266" y="2470000"/>
            <a:ext cx="3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10.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90266" y="247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月1刈り込み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0266" y="269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Pruning Hook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0266" y="3130000"/>
            <a:ext cx="3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11.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90266" y="313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追加 MCP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90266" y="335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(セキュリティ確認後)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0266" y="3790000"/>
            <a:ext cx="3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12.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90266" y="379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CI連携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90266" y="4010000"/>
            <a:ext cx="2216533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(任意・Phase 3末)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15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まとめ：5要素を理解し、順番に導入すれば集合知化の基盤が完成する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1500000" cy="4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0000"/>
            <a:ext cx="1500000" cy="350000"/>
          </a:xfrm>
          <a:prstGeom prst="rect">
            <a:avLst/>
          </a:prstGeom>
          <a:noFill/>
        </p:spPr>
        <p:txBody>
          <a:bodyPr wrap="square" lIns="30000" rIns="30000" tIns="2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CLAUDE.md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2007200" y="1150000"/>
            <a:ext cx="6679600" cy="4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7200" y="1250000"/>
            <a:ext cx="6429600" cy="300000"/>
          </a:xfrm>
          <a:prstGeom prst="rect">
            <a:avLst/>
          </a:prstGeom>
          <a:noFill/>
        </p:spPr>
        <p:txBody>
          <a:bodyPr wrap="square" lIns="30000" rIns="30000" tIns="20000" bIns="200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 UI"/>
              </a:rPr>
              <a:t>チームの『書かれた常識』。200行以内で育て、迷ったら置き場所の判断フローで判定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50000"/>
            <a:ext cx="1500000" cy="4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30000"/>
            <a:ext cx="1500000" cy="350000"/>
          </a:xfrm>
          <a:prstGeom prst="rect">
            <a:avLst/>
          </a:prstGeom>
          <a:noFill/>
        </p:spPr>
        <p:txBody>
          <a:bodyPr wrap="square" lIns="30000" rIns="30000" tIns="2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Skills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7200" y="1750000"/>
            <a:ext cx="6679600" cy="4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7200" y="1850000"/>
            <a:ext cx="6429600" cy="300000"/>
          </a:xfrm>
          <a:prstGeom prst="rect">
            <a:avLst/>
          </a:prstGeom>
          <a:noFill/>
        </p:spPr>
        <p:txBody>
          <a:bodyPr wrap="square" lIns="30000" rIns="30000" tIns="20000" bIns="200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 UI"/>
              </a:rPr>
              <a:t>呼び出し式の手順書。公式 superpowers と claude-md-management で80%カバー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50000"/>
            <a:ext cx="1500000" cy="48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30000"/>
            <a:ext cx="1500000" cy="350000"/>
          </a:xfrm>
          <a:prstGeom prst="rect">
            <a:avLst/>
          </a:prstGeom>
          <a:noFill/>
        </p:spPr>
        <p:txBody>
          <a:bodyPr wrap="square" lIns="30000" rIns="30000" tIns="2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Subagents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07200" y="2350000"/>
            <a:ext cx="6679600" cy="4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7200" y="2450000"/>
            <a:ext cx="6429600" cy="300000"/>
          </a:xfrm>
          <a:prstGeom prst="rect">
            <a:avLst/>
          </a:prstGeom>
          <a:noFill/>
        </p:spPr>
        <p:txBody>
          <a:bodyPr wrap="square" lIns="30000" rIns="30000" tIns="20000" bIns="200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 UI"/>
              </a:rPr>
              <a:t>VoltAgent から6つコピーするだけ。security は Write 禁止などツール制限必須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50000"/>
            <a:ext cx="1500000" cy="48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30000"/>
            <a:ext cx="1500000" cy="350000"/>
          </a:xfrm>
          <a:prstGeom prst="rect">
            <a:avLst/>
          </a:prstGeom>
          <a:noFill/>
        </p:spPr>
        <p:txBody>
          <a:bodyPr wrap="square" lIns="30000" rIns="30000" tIns="2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Hooks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07200" y="2950000"/>
            <a:ext cx="6679600" cy="4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7200" y="3050000"/>
            <a:ext cx="6429600" cy="300000"/>
          </a:xfrm>
          <a:prstGeom prst="rect">
            <a:avLst/>
          </a:prstGeom>
          <a:noFill/>
        </p:spPr>
        <p:txBody>
          <a:bodyPr wrap="square" lIns="30000" rIns="30000" tIns="20000" bIns="200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 UI"/>
              </a:rPr>
              <a:t>CLAUDE.md を『法律』にする仕組み。Day 1 は save-transcript と bash-guard の2つで十分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50000"/>
            <a:ext cx="1500000" cy="4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30000"/>
            <a:ext cx="1500000" cy="350000"/>
          </a:xfrm>
          <a:prstGeom prst="rect">
            <a:avLst/>
          </a:prstGeom>
          <a:noFill/>
        </p:spPr>
        <p:txBody>
          <a:bodyPr wrap="square" lIns="30000" rIns="30000" tIns="2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MCP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07200" y="3550000"/>
            <a:ext cx="6679600" cy="4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7200" y="3650000"/>
            <a:ext cx="6429600" cy="300000"/>
          </a:xfrm>
          <a:prstGeom prst="rect">
            <a:avLst/>
          </a:prstGeom>
          <a:noFill/>
        </p:spPr>
        <p:txBody>
          <a:bodyPr wrap="square" lIns="30000" rIns="30000" tIns="20000" bIns="200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 UI"/>
              </a:rPr>
              <a:t>外部連携の要。公式優先、閉域 OK を選ぶ。導入前にセキュリティチェックリスト必須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50000"/>
            <a:ext cx="8229600" cy="35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300000"/>
            <a:ext cx="8229600" cy="26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自作はほぼ不要。既存を組み合わせて、小さく始めて育てる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00000"/>
            <a:ext cx="8229600" cy="3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ctr"/>
            <a:r>
              <a:rPr sz="900" b="1">
                <a:solidFill>
                  <a:srgbClr val="4A90E2"/>
                </a:solidFill>
                <a:latin typeface="Meiryo UI"/>
              </a:rPr>
              <a:t>DX PORTAL TEAM  |  TECHNICAL REFERENCE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072000" y="2200000"/>
            <a:ext cx="1000000" cy="0"/>
          </a:xfrm>
          <a:prstGeom prst="line">
            <a:avLst/>
          </a:prstGeom>
          <a:ln w="2540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0000"/>
            <a:ext cx="8229600" cy="6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ctr"/>
            <a:r>
              <a:rPr sz="2800" b="1">
                <a:solidFill>
                  <a:srgbClr val="1A2B4C"/>
                </a:solidFill>
                <a:latin typeface="Meiryo UI"/>
              </a:rPr>
              <a:t>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50000"/>
            <a:ext cx="8229600" cy="400000"/>
          </a:xfrm>
          <a:prstGeom prst="rect">
            <a:avLst/>
          </a:prstGeom>
          <a:noFill/>
        </p:spPr>
        <p:txBody>
          <a:bodyPr wrap="square" lIns="30000" rIns="30000" tIns="20000" bIns="20000" anchor="t">
            <a:spAutoFit/>
          </a:bodyPr>
          <a:lstStyle/>
          <a:p>
            <a:pPr algn="ctr"/>
            <a:r>
              <a:rPr sz="1200" b="0">
                <a:solidFill>
                  <a:srgbClr val="8A94A6"/>
                </a:solidFill>
                <a:latin typeface="Meiryo UI"/>
              </a:rPr>
              <a:t>詳細は skills-inventory.md を参照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